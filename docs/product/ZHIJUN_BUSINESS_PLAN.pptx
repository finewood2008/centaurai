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知君由个人本体和个人分身组成。先讲价值，再讲未来：一个人 → 一群人 → 一代人。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今天的 AI 懂任务，不懂人。大模型第一次让长期理解一个人成为可能。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两部分都是核心：本体帮你认识自己，分身让你确认过的经验被授权的人用到。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右侧对话为示意，不是真实用户对话。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用得越久，本体越准；本体越准，分身越有价值；分身越有价值，本人越愿意持续积累。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数据归属作为价值来讲：持有、带走、延续。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「通用 AI 助手」「数字分身产品」两栏是概括，对外使用前请核对。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未来沿一条线展开：一个人被理解、一群人相互连接、一代人的经验延续。终点是经验经济。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同伴之间相互授权分身。AI 私董会的落点是真人见面。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组织记忆的口径：本体永远归个人，企业使用的是个人愿意发布给分身的那部分。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个人上下文入口是远景，不是近期计划。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0F0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68680" y="777240"/>
            <a:ext cx="64008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200" b="0">
                <a:solidFill>
                  <a:srgbClr val="E3A35A"/>
                </a:solidFill>
                <a:latin typeface="PingFang SC"/>
                <a:ea typeface="PingFang SC"/>
                <a:cs typeface="PingFang SC"/>
              </a:rPr>
              <a:t>半人马人工智能 · 商业计划书 · 2026 年 10 月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1234440"/>
            <a:ext cx="6400800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600" b="1">
                <a:solidFill>
                  <a:srgbClr val="F2ECE1"/>
                </a:solidFill>
                <a:latin typeface="Songti SC"/>
                <a:ea typeface="Songti SC"/>
                <a:cs typeface="Songti SC"/>
              </a:rPr>
              <a:t>知君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" y="2606040"/>
            <a:ext cx="64008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2200" b="0">
                <a:solidFill>
                  <a:srgbClr val="BDB4A6"/>
                </a:solidFill>
                <a:latin typeface="Avenir Next"/>
                <a:ea typeface="Avenir Next"/>
                <a:cs typeface="Avenir Next"/>
              </a:rPr>
              <a:t>contextofme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3063240"/>
            <a:ext cx="64008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2400" b="0">
                <a:solidFill>
                  <a:srgbClr val="F4CD96"/>
                </a:solidFill>
                <a:latin typeface="Songti SC"/>
                <a:ea typeface="Songti SC"/>
                <a:cs typeface="Songti SC"/>
              </a:rPr>
              <a:t>个人本体 + 个人分身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3886200"/>
            <a:ext cx="6035040" cy="1645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800"/>
              </a:spcAft>
            </a:pPr>
            <a:r>
              <a:rPr sz="1700" b="0">
                <a:solidFill>
                  <a:srgbClr val="BDB4A6"/>
                </a:solidFill>
                <a:latin typeface="PingFang SC"/>
                <a:ea typeface="PingFang SC"/>
                <a:cs typeface="PingFang SC"/>
              </a:rPr>
              <a:t>一个人一生积累的判断和经验，</a:t>
            </a:r>
          </a:p>
          <a:p>
            <a:pPr algn="l">
              <a:lnSpc>
                <a:spcPct val="130000"/>
              </a:lnSpc>
              <a:spcAft>
                <a:spcPts val="800"/>
              </a:spcAft>
            </a:pPr>
            <a:r>
              <a:rPr sz="1700" b="0">
                <a:solidFill>
                  <a:srgbClr val="BDB4A6"/>
                </a:solidFill>
                <a:latin typeface="PingFang SC"/>
                <a:ea typeface="PingFang SC"/>
                <a:cs typeface="PingFang SC"/>
              </a:rPr>
              <a:t>是最有价值、也最容易流失的资产。</a:t>
            </a:r>
          </a:p>
          <a:p>
            <a:pPr algn="l">
              <a:lnSpc>
                <a:spcPct val="130000"/>
              </a:lnSpc>
              <a:spcAft>
                <a:spcPts val="800"/>
              </a:spcAft>
            </a:pPr>
            <a:r>
              <a:rPr sz="1700" b="0">
                <a:solidFill>
                  <a:srgbClr val="F4CD96"/>
                </a:solidFill>
                <a:latin typeface="PingFang SC"/>
                <a:ea typeface="PingFang SC"/>
                <a:cs typeface="PingFang SC"/>
              </a:rPr>
              <a:t>知君帮你认识自己，也让你的经验被更多人用到。</a:t>
            </a:r>
          </a:p>
        </p:txBody>
      </p:sp>
      <p:sp>
        <p:nvSpPr>
          <p:cNvPr id="7" name="Oval 6"/>
          <p:cNvSpPr/>
          <p:nvPr/>
        </p:nvSpPr>
        <p:spPr>
          <a:xfrm>
            <a:off x="7644383" y="1731873"/>
            <a:ext cx="3364991" cy="3364991"/>
          </a:xfrm>
          <a:prstGeom prst="ellipse">
            <a:avLst/>
          </a:prstGeom>
          <a:solidFill>
            <a:srgbClr val="E3A35A">
              <a:alpha val="1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Oval 7"/>
          <p:cNvSpPr/>
          <p:nvPr/>
        </p:nvSpPr>
        <p:spPr>
          <a:xfrm>
            <a:off x="8317382" y="2404872"/>
            <a:ext cx="2018995" cy="2018995"/>
          </a:xfrm>
          <a:prstGeom prst="ellipse">
            <a:avLst/>
          </a:prstGeom>
          <a:solidFill>
            <a:srgbClr val="F4CD96">
              <a:alpha val="1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Freeform 8"/>
          <p:cNvSpPr/>
          <p:nvPr/>
        </p:nvSpPr>
        <p:spPr>
          <a:xfrm>
            <a:off x="8149132" y="2068372"/>
            <a:ext cx="2355495" cy="1345997"/>
          </a:xfrm>
          <a:custGeom>
            <a:avLst/>
            <a:gdLst/>
            <a:ahLst/>
            <a:cxnLst/>
            <a:rect l="l" t="t" r="r" b="b"/>
            <a:pathLst>
              <a:path w="2355495" h="1345997">
                <a:moveTo>
                  <a:pt x="1177748" y="0"/>
                </a:moveTo>
                <a:lnTo>
                  <a:pt x="2355495" y="672999"/>
                </a:lnTo>
                <a:lnTo>
                  <a:pt x="1177748" y="1345997"/>
                </a:lnTo>
                <a:lnTo>
                  <a:pt x="0" y="672999"/>
                </a:lnTo>
                <a:close/>
              </a:path>
            </a:pathLst>
          </a:custGeom>
          <a:solidFill>
            <a:srgbClr val="F4CD96">
              <a:alpha val="12000"/>
            </a:srgbClr>
          </a:solidFill>
          <a:ln w="22225">
            <a:solidFill>
              <a:srgbClr val="E3A3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Freeform 9"/>
          <p:cNvSpPr/>
          <p:nvPr/>
        </p:nvSpPr>
        <p:spPr>
          <a:xfrm>
            <a:off x="8149132" y="2741371"/>
            <a:ext cx="1177748" cy="2018995"/>
          </a:xfrm>
          <a:custGeom>
            <a:avLst/>
            <a:gdLst/>
            <a:ahLst/>
            <a:cxnLst/>
            <a:rect l="l" t="t" r="r" b="b"/>
            <a:pathLst>
              <a:path w="1177748" h="2018995">
                <a:moveTo>
                  <a:pt x="0" y="0"/>
                </a:moveTo>
                <a:lnTo>
                  <a:pt x="1177748" y="672998"/>
                </a:lnTo>
                <a:lnTo>
                  <a:pt x="1177748" y="2018995"/>
                </a:lnTo>
                <a:lnTo>
                  <a:pt x="0" y="1345997"/>
                </a:lnTo>
                <a:close/>
              </a:path>
            </a:pathLst>
          </a:custGeom>
          <a:solidFill>
            <a:srgbClr val="E3A35A">
              <a:alpha val="6000"/>
            </a:srgbClr>
          </a:solidFill>
          <a:ln w="22225">
            <a:solidFill>
              <a:srgbClr val="E3A3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Freeform 10"/>
          <p:cNvSpPr/>
          <p:nvPr/>
        </p:nvSpPr>
        <p:spPr>
          <a:xfrm>
            <a:off x="9326880" y="2741371"/>
            <a:ext cx="1177747" cy="2018995"/>
          </a:xfrm>
          <a:custGeom>
            <a:avLst/>
            <a:gdLst/>
            <a:ahLst/>
            <a:cxnLst/>
            <a:rect l="l" t="t" r="r" b="b"/>
            <a:pathLst>
              <a:path w="1177747" h="2018995">
                <a:moveTo>
                  <a:pt x="1177747" y="0"/>
                </a:moveTo>
                <a:lnTo>
                  <a:pt x="0" y="672998"/>
                </a:lnTo>
                <a:lnTo>
                  <a:pt x="0" y="2018995"/>
                </a:lnTo>
                <a:lnTo>
                  <a:pt x="1177747" y="1345997"/>
                </a:lnTo>
                <a:close/>
              </a:path>
            </a:pathLst>
          </a:custGeom>
          <a:solidFill>
            <a:srgbClr val="E3A35A">
              <a:alpha val="15000"/>
            </a:srgbClr>
          </a:solidFill>
          <a:ln w="22225">
            <a:solidFill>
              <a:srgbClr val="E3A3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7360919" y="1234439"/>
            <a:ext cx="91440" cy="91440"/>
          </a:xfrm>
          <a:prstGeom prst="ellipse">
            <a:avLst/>
          </a:prstGeom>
          <a:solidFill>
            <a:srgbClr val="F4CD96">
              <a:alpha val="7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Oval 12"/>
          <p:cNvSpPr/>
          <p:nvPr/>
        </p:nvSpPr>
        <p:spPr>
          <a:xfrm>
            <a:off x="11119104" y="1426464"/>
            <a:ext cx="73152" cy="73152"/>
          </a:xfrm>
          <a:prstGeom prst="ellipse">
            <a:avLst/>
          </a:prstGeom>
          <a:solidFill>
            <a:srgbClr val="F4CD96">
              <a:alpha val="7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Oval 13"/>
          <p:cNvSpPr/>
          <p:nvPr/>
        </p:nvSpPr>
        <p:spPr>
          <a:xfrm>
            <a:off x="7077456" y="4151376"/>
            <a:ext cx="109728" cy="109728"/>
          </a:xfrm>
          <a:prstGeom prst="ellipse">
            <a:avLst/>
          </a:prstGeom>
          <a:solidFill>
            <a:srgbClr val="F4CD96">
              <a:alpha val="7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Oval 14"/>
          <p:cNvSpPr/>
          <p:nvPr/>
        </p:nvSpPr>
        <p:spPr>
          <a:xfrm>
            <a:off x="11301984" y="3803904"/>
            <a:ext cx="73152" cy="73152"/>
          </a:xfrm>
          <a:prstGeom prst="ellipse">
            <a:avLst/>
          </a:prstGeom>
          <a:solidFill>
            <a:srgbClr val="F4CD96">
              <a:alpha val="7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Oval 15"/>
          <p:cNvSpPr/>
          <p:nvPr/>
        </p:nvSpPr>
        <p:spPr>
          <a:xfrm>
            <a:off x="8193024" y="877824"/>
            <a:ext cx="73152" cy="73152"/>
          </a:xfrm>
          <a:prstGeom prst="ellipse">
            <a:avLst/>
          </a:prstGeom>
          <a:solidFill>
            <a:srgbClr val="F4CD96">
              <a:alpha val="7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Oval 16"/>
          <p:cNvSpPr/>
          <p:nvPr/>
        </p:nvSpPr>
        <p:spPr>
          <a:xfrm>
            <a:off x="10561319" y="5623560"/>
            <a:ext cx="91440" cy="91440"/>
          </a:xfrm>
          <a:prstGeom prst="ellipse">
            <a:avLst/>
          </a:prstGeom>
          <a:solidFill>
            <a:srgbClr val="F4CD96">
              <a:alpha val="7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</p:spTree>
  </p:cSld>
  <p:clrMapOvr>
    <a:masterClrMapping/>
  </p:clrMapOvr>
  <p:transition spd="med">
    <p:fade/>
  </p:transition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0F0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68680" y="502920"/>
            <a:ext cx="10454335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200" b="0">
                <a:solidFill>
                  <a:srgbClr val="E3A35A"/>
                </a:solidFill>
                <a:latin typeface="PingFang SC"/>
                <a:ea typeface="PingFang SC"/>
                <a:cs typeface="PingFang SC"/>
              </a:rPr>
              <a:t>机会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822960"/>
            <a:ext cx="10454335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3200" b="1">
                <a:solidFill>
                  <a:srgbClr val="F2ECE1"/>
                </a:solidFill>
                <a:latin typeface="Songti SC"/>
                <a:ea typeface="Songti SC"/>
                <a:cs typeface="Songti SC"/>
              </a:rPr>
              <a:t>AI 正在改变每个人做事的方式，</a:t>
            </a:r>
          </a:p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3200" b="1">
                <a:solidFill>
                  <a:srgbClr val="F2ECE1"/>
                </a:solidFill>
                <a:latin typeface="Songti SC"/>
                <a:ea typeface="Songti SC"/>
                <a:cs typeface="Songti SC"/>
              </a:rPr>
              <a:t>但还没有一个 AI 真正认识你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" y="2148840"/>
            <a:ext cx="10454335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5000"/>
              </a:lnSpc>
              <a:spcAft>
                <a:spcPts val="0"/>
              </a:spcAft>
            </a:pPr>
            <a:r>
              <a:rPr sz="1600" b="0">
                <a:solidFill>
                  <a:srgbClr val="BDB4A6"/>
                </a:solidFill>
                <a:latin typeface="PingFang SC"/>
                <a:ea typeface="PingFang SC"/>
                <a:cs typeface="PingFang SC"/>
              </a:rPr>
              <a:t>今天的 AI 懂任务，不懂人。一个人最有价值的东西——在意什么、怎么做决定、后来对不对——仍然只在他自己的脑子里：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68680" y="3063240"/>
            <a:ext cx="3337560" cy="1600200"/>
          </a:xfrm>
          <a:prstGeom prst="roundRect">
            <a:avLst>
              <a:gd name="adj" fmla="val 8000"/>
            </a:avLst>
          </a:prstGeom>
          <a:solidFill>
            <a:srgbClr val="1C1915"/>
          </a:solidFill>
          <a:ln w="12700">
            <a:solidFill>
              <a:srgbClr val="302B2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1188719" y="3337560"/>
            <a:ext cx="26974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900" b="1">
                <a:solidFill>
                  <a:srgbClr val="F2ECE1"/>
                </a:solidFill>
                <a:latin typeface="Songti SC"/>
                <a:ea typeface="Songti SC"/>
                <a:cs typeface="Songti SC"/>
              </a:rPr>
              <a:t>没有被好好保存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88719" y="3867911"/>
            <a:ext cx="2697480" cy="6126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  <a:spcAft>
                <a:spcPts val="0"/>
              </a:spcAft>
            </a:pPr>
            <a:r>
              <a:rPr sz="1400" b="0">
                <a:solidFill>
                  <a:srgbClr val="BDB4A6"/>
                </a:solidFill>
                <a:latin typeface="PingFang SC"/>
                <a:ea typeface="PingFang SC"/>
                <a:cs typeface="PingFang SC"/>
              </a:rPr>
              <a:t>换一个工具、过几年，就散了。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430268" y="3063240"/>
            <a:ext cx="3337560" cy="1600200"/>
          </a:xfrm>
          <a:prstGeom prst="roundRect">
            <a:avLst>
              <a:gd name="adj" fmla="val 8000"/>
            </a:avLst>
          </a:prstGeom>
          <a:solidFill>
            <a:srgbClr val="1C1915"/>
          </a:solidFill>
          <a:ln w="12700">
            <a:solidFill>
              <a:srgbClr val="302B2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4750307" y="3337560"/>
            <a:ext cx="26974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900" b="1">
                <a:solidFill>
                  <a:srgbClr val="F2ECE1"/>
                </a:solidFill>
                <a:latin typeface="Songti SC"/>
                <a:ea typeface="Songti SC"/>
                <a:cs typeface="Songti SC"/>
              </a:rPr>
              <a:t>没有被好好使用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50307" y="3867911"/>
            <a:ext cx="2697480" cy="6126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  <a:spcAft>
                <a:spcPts val="0"/>
              </a:spcAft>
            </a:pPr>
            <a:r>
              <a:rPr sz="1400" b="0">
                <a:solidFill>
                  <a:srgbClr val="BDB4A6"/>
                </a:solidFill>
                <a:latin typeface="PingFang SC"/>
                <a:ea typeface="PingFang SC"/>
                <a:cs typeface="PingFang SC"/>
              </a:rPr>
              <a:t>要拿主意时，身边没有能说真话的人。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991856" y="3063240"/>
            <a:ext cx="3337560" cy="1600200"/>
          </a:xfrm>
          <a:prstGeom prst="roundRect">
            <a:avLst>
              <a:gd name="adj" fmla="val 8000"/>
            </a:avLst>
          </a:prstGeom>
          <a:solidFill>
            <a:srgbClr val="1C1915"/>
          </a:solidFill>
          <a:ln w="12700">
            <a:solidFill>
              <a:srgbClr val="302B2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8311896" y="3337560"/>
            <a:ext cx="26974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900" b="1">
                <a:solidFill>
                  <a:srgbClr val="F2ECE1"/>
                </a:solidFill>
                <a:latin typeface="Songti SC"/>
                <a:ea typeface="Songti SC"/>
                <a:cs typeface="Songti SC"/>
              </a:rPr>
              <a:t>没有被好好分享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11896" y="3867911"/>
            <a:ext cx="2697480" cy="6126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  <a:spcAft>
                <a:spcPts val="0"/>
              </a:spcAft>
            </a:pPr>
            <a:r>
              <a:rPr sz="1400" b="0">
                <a:solidFill>
                  <a:srgbClr val="BDB4A6"/>
                </a:solidFill>
                <a:latin typeface="PingFang SC"/>
                <a:ea typeface="PingFang SC"/>
                <a:cs typeface="PingFang SC"/>
              </a:rPr>
              <a:t>经验只能靠本人一次次亲自讲。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68680" y="5065776"/>
            <a:ext cx="36576" cy="658368"/>
          </a:xfrm>
          <a:prstGeom prst="rect">
            <a:avLst/>
          </a:prstGeom>
          <a:solidFill>
            <a:srgbClr val="E3A3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1069848" y="5029200"/>
            <a:ext cx="10253167" cy="7315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1400" b="0">
                <a:solidFill>
                  <a:srgbClr val="BDB4A6"/>
                </a:solidFill>
                <a:latin typeface="PingFang SC"/>
                <a:ea typeface="PingFang SC"/>
                <a:cs typeface="PingFang SC"/>
              </a:rPr>
              <a:t>大模型第一次让「长期理解一个人」成为可能。知君把一个人的判断与经验，变成他自己持有、持续生长、可以分享的资产。</a:t>
            </a:r>
          </a:p>
        </p:txBody>
      </p:sp>
    </p:spTree>
  </p:cSld>
  <p:clrMapOvr>
    <a:masterClrMapping/>
  </p:clrMapOvr>
  <p:transition spd="med">
    <p:fade/>
  </p:transition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0F0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68680" y="502920"/>
            <a:ext cx="10454335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200" b="0">
                <a:solidFill>
                  <a:srgbClr val="E3A35A"/>
                </a:solidFill>
                <a:latin typeface="PingFang SC"/>
                <a:ea typeface="PingFang SC"/>
                <a:cs typeface="PingFang SC"/>
              </a:rPr>
              <a:t>用户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868680"/>
            <a:ext cx="5486400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3800" b="1">
                <a:solidFill>
                  <a:srgbClr val="F2ECE1"/>
                </a:solidFill>
                <a:latin typeface="Songti SC"/>
                <a:ea typeface="Songti SC"/>
                <a:cs typeface="Songti SC"/>
              </a:rPr>
              <a:t>孤独来自位置，</a:t>
            </a:r>
          </a:p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3800" b="1">
                <a:solidFill>
                  <a:srgbClr val="F2ECE1"/>
                </a:solidFill>
                <a:latin typeface="Songti SC"/>
                <a:ea typeface="Songti SC"/>
                <a:cs typeface="Songti SC"/>
              </a:rPr>
              <a:t>不是性格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" y="2560320"/>
            <a:ext cx="539496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5000"/>
              </a:lnSpc>
              <a:spcAft>
                <a:spcPts val="0"/>
              </a:spcAft>
            </a:pPr>
            <a:r>
              <a:rPr sz="1700" b="0">
                <a:solidFill>
                  <a:srgbClr val="BDB4A6"/>
                </a:solidFill>
                <a:latin typeface="PingFang SC"/>
                <a:ea typeface="PingFang SC"/>
                <a:cs typeface="PingFang SC"/>
              </a:rPr>
              <a:t>首批用户：</a:t>
            </a:r>
            <a:r>
              <a:rPr sz="1700" b="0">
                <a:solidFill>
                  <a:srgbClr val="E3A35A"/>
                </a:solidFill>
                <a:latin typeface="PingFang SC"/>
                <a:ea typeface="PingFang SC"/>
                <a:cs typeface="PingFang SC"/>
              </a:rPr>
              <a:t>企业经营者、高管、独立顾问</a:t>
            </a:r>
            <a:r>
              <a:rPr sz="1700" b="0">
                <a:solidFill>
                  <a:srgbClr val="BDB4A6"/>
                </a:solidFill>
                <a:latin typeface="PingFang SC"/>
                <a:ea typeface="PingFang SC"/>
                <a:cs typeface="PingFang SC"/>
              </a:rPr>
              <a:t>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3200400"/>
            <a:ext cx="539496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5000"/>
              </a:lnSpc>
              <a:spcAft>
                <a:spcPts val="0"/>
              </a:spcAft>
            </a:pPr>
            <a:r>
              <a:rPr sz="1500" b="0">
                <a:solidFill>
                  <a:srgbClr val="BDB4A6"/>
                </a:solidFill>
                <a:latin typeface="PingFang SC"/>
                <a:ea typeface="PingFang SC"/>
                <a:cs typeface="PingFang SC"/>
              </a:rPr>
              <a:t>他们的决定影响很多人，却要独自拿主意；</a:t>
            </a:r>
          </a:p>
          <a:p>
            <a:pPr algn="l">
              <a:lnSpc>
                <a:spcPct val="155000"/>
              </a:lnSpc>
              <a:spcAft>
                <a:spcPts val="0"/>
              </a:spcAft>
            </a:pPr>
            <a:r>
              <a:rPr sz="1500" b="0">
                <a:solidFill>
                  <a:srgbClr val="BDB4A6"/>
                </a:solidFill>
                <a:latin typeface="PingFang SC"/>
                <a:ea typeface="PingFang SC"/>
                <a:cs typeface="PingFang SC"/>
              </a:rPr>
              <a:t>他们积累了大量经验，却只能靠有限的时间</a:t>
            </a:r>
          </a:p>
          <a:p>
            <a:pPr algn="l">
              <a:lnSpc>
                <a:spcPct val="155000"/>
              </a:lnSpc>
              <a:spcAft>
                <a:spcPts val="0"/>
              </a:spcAft>
            </a:pPr>
            <a:r>
              <a:rPr sz="1500" b="0">
                <a:solidFill>
                  <a:srgbClr val="BDB4A6"/>
                </a:solidFill>
                <a:latin typeface="PingFang SC"/>
                <a:ea typeface="PingFang SC"/>
                <a:cs typeface="PingFang SC"/>
              </a:rPr>
              <a:t>一点点传递。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4572000"/>
            <a:ext cx="539496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5000"/>
              </a:lnSpc>
              <a:spcAft>
                <a:spcPts val="0"/>
              </a:spcAft>
            </a:pPr>
            <a:r>
              <a:rPr sz="1600" b="0">
                <a:solidFill>
                  <a:srgbClr val="F2ECE1"/>
                </a:solidFill>
                <a:latin typeface="PingFang SC"/>
                <a:ea typeface="PingFang SC"/>
                <a:cs typeface="PingFang SC"/>
              </a:rPr>
              <a:t>他们需要</a:t>
            </a:r>
            <a:r>
              <a:rPr sz="1600" b="0">
                <a:solidFill>
                  <a:srgbClr val="E3A35A"/>
                </a:solidFill>
                <a:latin typeface="PingFang SC"/>
                <a:ea typeface="PingFang SC"/>
                <a:cs typeface="PingFang SC"/>
              </a:rPr>
              <a:t>一个真正懂自己的知己</a:t>
            </a:r>
            <a:r>
              <a:rPr sz="1600" b="0">
                <a:solidFill>
                  <a:srgbClr val="F2ECE1"/>
                </a:solidFill>
                <a:latin typeface="PingFang SC"/>
                <a:ea typeface="PingFang SC"/>
                <a:cs typeface="PingFang SC"/>
              </a:rPr>
              <a:t>，</a:t>
            </a:r>
          </a:p>
          <a:p>
            <a:pPr algn="l">
              <a:lnSpc>
                <a:spcPct val="155000"/>
              </a:lnSpc>
              <a:spcAft>
                <a:spcPts val="0"/>
              </a:spcAft>
            </a:pPr>
            <a:r>
              <a:rPr sz="1600" b="0">
                <a:solidFill>
                  <a:srgbClr val="F2ECE1"/>
                </a:solidFill>
                <a:latin typeface="PingFang SC"/>
                <a:ea typeface="PingFang SC"/>
                <a:cs typeface="PingFang SC"/>
              </a:rPr>
              <a:t>和</a:t>
            </a:r>
            <a:r>
              <a:rPr sz="1600" b="0">
                <a:solidFill>
                  <a:srgbClr val="82BBAD"/>
                </a:solidFill>
                <a:latin typeface="PingFang SC"/>
                <a:ea typeface="PingFang SC"/>
                <a:cs typeface="PingFang SC"/>
              </a:rPr>
              <a:t>一个能替自己分享经验的分身</a:t>
            </a:r>
            <a:r>
              <a:rPr sz="1600" b="0">
                <a:solidFill>
                  <a:srgbClr val="F2ECE1"/>
                </a:solidFill>
                <a:latin typeface="PingFang SC"/>
                <a:ea typeface="PingFang SC"/>
                <a:cs typeface="PingFang SC"/>
              </a:rPr>
              <a:t>。</a:t>
            </a:r>
          </a:p>
        </p:txBody>
      </p:sp>
      <p:cxnSp>
        <p:nvCxnSpPr>
          <p:cNvPr id="7" name="Connector 6"/>
          <p:cNvCxnSpPr/>
          <p:nvPr/>
        </p:nvCxnSpPr>
        <p:spPr>
          <a:xfrm flipV="1">
            <a:off x="9052560" y="1645920"/>
            <a:ext cx="0" cy="1965960"/>
          </a:xfrm>
          <a:prstGeom prst="line">
            <a:avLst/>
          </a:prstGeom>
          <a:ln w="15875">
            <a:solidFill>
              <a:srgbClr val="7F77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9052560" y="3611880"/>
            <a:ext cx="1965960" cy="0"/>
          </a:xfrm>
          <a:prstGeom prst="line">
            <a:avLst/>
          </a:prstGeom>
          <a:ln w="15875">
            <a:solidFill>
              <a:srgbClr val="7F77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9052560" y="3611880"/>
            <a:ext cx="0" cy="1965960"/>
          </a:xfrm>
          <a:prstGeom prst="line">
            <a:avLst/>
          </a:prstGeom>
          <a:ln w="15875">
            <a:solidFill>
              <a:srgbClr val="7F77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7086600" y="3611880"/>
            <a:ext cx="1965960" cy="0"/>
          </a:xfrm>
          <a:prstGeom prst="line">
            <a:avLst/>
          </a:prstGeom>
          <a:ln w="15875">
            <a:solidFill>
              <a:srgbClr val="7F77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9144000" y="2423160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00" b="0">
                <a:solidFill>
                  <a:srgbClr val="D98C7C"/>
                </a:solidFill>
                <a:latin typeface="PingFang SC"/>
                <a:ea typeface="PingFang SC"/>
                <a:cs typeface="PingFang SC"/>
              </a:rPr>
              <a:t>利害关系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829800" y="3264408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00" b="0">
                <a:solidFill>
                  <a:srgbClr val="D98C7C"/>
                </a:solidFill>
                <a:latin typeface="PingFang SC"/>
                <a:ea typeface="PingFang SC"/>
                <a:cs typeface="PingFang SC"/>
              </a:rPr>
              <a:t>利害关系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0" y="4526280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00" b="0">
                <a:solidFill>
                  <a:srgbClr val="D98C7C"/>
                </a:solidFill>
                <a:latin typeface="PingFang SC"/>
                <a:ea typeface="PingFang SC"/>
                <a:cs typeface="PingFang SC"/>
              </a:rPr>
              <a:t>利害关系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543800" y="3264408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00" b="0">
                <a:solidFill>
                  <a:srgbClr val="D98C7C"/>
                </a:solidFill>
                <a:latin typeface="PingFang SC"/>
                <a:ea typeface="PingFang SC"/>
                <a:cs typeface="PingFang SC"/>
              </a:rPr>
              <a:t>利害关系</a:t>
            </a:r>
          </a:p>
        </p:txBody>
      </p:sp>
      <p:sp>
        <p:nvSpPr>
          <p:cNvPr id="15" name="Oval 14"/>
          <p:cNvSpPr/>
          <p:nvPr/>
        </p:nvSpPr>
        <p:spPr>
          <a:xfrm>
            <a:off x="8485632" y="3044952"/>
            <a:ext cx="1133856" cy="1133856"/>
          </a:xfrm>
          <a:prstGeom prst="ellipse">
            <a:avLst/>
          </a:prstGeom>
          <a:solidFill>
            <a:srgbClr val="2C251B"/>
          </a:solidFill>
          <a:ln w="19050">
            <a:solidFill>
              <a:srgbClr val="E3A3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8503920" y="3337560"/>
            <a:ext cx="109728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30000"/>
              </a:lnSpc>
              <a:spcAft>
                <a:spcPts val="0"/>
              </a:spcAft>
            </a:pPr>
            <a:r>
              <a:rPr sz="2400" b="0">
                <a:solidFill>
                  <a:srgbClr val="F4CD96"/>
                </a:solidFill>
                <a:latin typeface="PingFang SC"/>
                <a:ea typeface="PingFang SC"/>
                <a:cs typeface="PingFang SC"/>
              </a:rPr>
              <a:t>你</a:t>
            </a:r>
          </a:p>
        </p:txBody>
      </p:sp>
      <p:sp>
        <p:nvSpPr>
          <p:cNvPr id="17" name="Oval 16"/>
          <p:cNvSpPr/>
          <p:nvPr/>
        </p:nvSpPr>
        <p:spPr>
          <a:xfrm>
            <a:off x="8613648" y="1207008"/>
            <a:ext cx="877824" cy="877824"/>
          </a:xfrm>
          <a:prstGeom prst="ellipse">
            <a:avLst/>
          </a:prstGeom>
          <a:solidFill>
            <a:srgbClr val="1C1915"/>
          </a:solidFill>
          <a:ln w="12700">
            <a:solidFill>
              <a:srgbClr val="302B2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595360" y="1417320"/>
            <a:ext cx="9144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30000"/>
              </a:lnSpc>
              <a:spcAft>
                <a:spcPts val="0"/>
              </a:spcAft>
            </a:pPr>
            <a:r>
              <a:rPr sz="1500" b="0">
                <a:solidFill>
                  <a:srgbClr val="BDB4A6"/>
                </a:solidFill>
                <a:latin typeface="PingFang SC"/>
                <a:ea typeface="PingFang SC"/>
                <a:cs typeface="PingFang SC"/>
              </a:rPr>
              <a:t>员工</a:t>
            </a:r>
          </a:p>
        </p:txBody>
      </p:sp>
      <p:sp>
        <p:nvSpPr>
          <p:cNvPr id="19" name="Oval 18"/>
          <p:cNvSpPr/>
          <p:nvPr/>
        </p:nvSpPr>
        <p:spPr>
          <a:xfrm>
            <a:off x="10579608" y="3172968"/>
            <a:ext cx="877824" cy="877824"/>
          </a:xfrm>
          <a:prstGeom prst="ellipse">
            <a:avLst/>
          </a:prstGeom>
          <a:solidFill>
            <a:srgbClr val="1C1915"/>
          </a:solidFill>
          <a:ln w="12700">
            <a:solidFill>
              <a:srgbClr val="302B2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10561320" y="3383280"/>
            <a:ext cx="9144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30000"/>
              </a:lnSpc>
              <a:spcAft>
                <a:spcPts val="0"/>
              </a:spcAft>
            </a:pPr>
            <a:r>
              <a:rPr sz="1500" b="0">
                <a:solidFill>
                  <a:srgbClr val="BDB4A6"/>
                </a:solidFill>
                <a:latin typeface="PingFang SC"/>
                <a:ea typeface="PingFang SC"/>
                <a:cs typeface="PingFang SC"/>
              </a:rPr>
              <a:t>合伙人</a:t>
            </a:r>
          </a:p>
        </p:txBody>
      </p:sp>
      <p:sp>
        <p:nvSpPr>
          <p:cNvPr id="21" name="Oval 20"/>
          <p:cNvSpPr/>
          <p:nvPr/>
        </p:nvSpPr>
        <p:spPr>
          <a:xfrm>
            <a:off x="8613648" y="5138927"/>
            <a:ext cx="877824" cy="877824"/>
          </a:xfrm>
          <a:prstGeom prst="ellipse">
            <a:avLst/>
          </a:prstGeom>
          <a:solidFill>
            <a:srgbClr val="1C1915"/>
          </a:solidFill>
          <a:ln w="12700">
            <a:solidFill>
              <a:srgbClr val="302B2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595360" y="5349240"/>
            <a:ext cx="9144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30000"/>
              </a:lnSpc>
              <a:spcAft>
                <a:spcPts val="0"/>
              </a:spcAft>
            </a:pPr>
            <a:r>
              <a:rPr sz="1500" b="0">
                <a:solidFill>
                  <a:srgbClr val="BDB4A6"/>
                </a:solidFill>
                <a:latin typeface="PingFang SC"/>
                <a:ea typeface="PingFang SC"/>
                <a:cs typeface="PingFang SC"/>
              </a:rPr>
              <a:t>家人</a:t>
            </a:r>
          </a:p>
        </p:txBody>
      </p:sp>
      <p:sp>
        <p:nvSpPr>
          <p:cNvPr id="23" name="Oval 22"/>
          <p:cNvSpPr/>
          <p:nvPr/>
        </p:nvSpPr>
        <p:spPr>
          <a:xfrm>
            <a:off x="6647688" y="3172968"/>
            <a:ext cx="877824" cy="877824"/>
          </a:xfrm>
          <a:prstGeom prst="ellipse">
            <a:avLst/>
          </a:prstGeom>
          <a:solidFill>
            <a:srgbClr val="1C1915"/>
          </a:solidFill>
          <a:ln w="12700">
            <a:solidFill>
              <a:srgbClr val="302B2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TextBox 23"/>
          <p:cNvSpPr txBox="1"/>
          <p:nvPr/>
        </p:nvSpPr>
        <p:spPr>
          <a:xfrm>
            <a:off x="6629400" y="3383280"/>
            <a:ext cx="9144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30000"/>
              </a:lnSpc>
              <a:spcAft>
                <a:spcPts val="0"/>
              </a:spcAft>
            </a:pPr>
            <a:r>
              <a:rPr sz="1500" b="0">
                <a:solidFill>
                  <a:srgbClr val="BDB4A6"/>
                </a:solidFill>
                <a:latin typeface="PingFang SC"/>
                <a:ea typeface="PingFang SC"/>
                <a:cs typeface="PingFang SC"/>
              </a:rPr>
              <a:t>客户</a:t>
            </a:r>
          </a:p>
        </p:txBody>
      </p:sp>
    </p:spTree>
  </p:cSld>
  <p:clrMapOvr>
    <a:masterClrMapping/>
  </p:clrMapOvr>
  <p:transition spd="med">
    <p:fade/>
  </p:transition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0F0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68680" y="502920"/>
            <a:ext cx="10454335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200" b="0">
                <a:solidFill>
                  <a:srgbClr val="E3A35A"/>
                </a:solidFill>
                <a:latin typeface="PingFang SC"/>
                <a:ea typeface="PingFang SC"/>
                <a:cs typeface="PingFang SC"/>
              </a:rPr>
              <a:t>知君是什么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822960"/>
            <a:ext cx="10454335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3600" b="1">
                <a:solidFill>
                  <a:srgbClr val="F2ECE1"/>
                </a:solidFill>
                <a:latin typeface="Songti SC"/>
                <a:ea typeface="Songti SC"/>
                <a:cs typeface="Songti SC"/>
              </a:rPr>
              <a:t>本体是你，分身是你允许别人看到的你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" y="1600200"/>
            <a:ext cx="10454335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5000"/>
              </a:lnSpc>
              <a:spcAft>
                <a:spcPts val="0"/>
              </a:spcAft>
            </a:pPr>
            <a:r>
              <a:rPr sz="1700" b="0">
                <a:solidFill>
                  <a:srgbClr val="BDB4A6"/>
                </a:solidFill>
                <a:latin typeface="PingFang SC"/>
                <a:ea typeface="PingFang SC"/>
                <a:cs typeface="PingFang SC"/>
              </a:rPr>
              <a:t>知君（contextofme，「关于我的上下文」）是一只私人记忆盒子，由两部分组成，都是核心。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68680" y="2514600"/>
            <a:ext cx="4572000" cy="3429000"/>
          </a:xfrm>
          <a:prstGeom prst="roundRect">
            <a:avLst>
              <a:gd name="adj" fmla="val 8000"/>
            </a:avLst>
          </a:prstGeom>
          <a:solidFill>
            <a:srgbClr val="2C251B"/>
          </a:solidFill>
          <a:ln w="12700">
            <a:solidFill>
              <a:srgbClr val="E3A3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1234440" y="2743200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00" b="0">
                <a:solidFill>
                  <a:srgbClr val="7F776B"/>
                </a:solidFill>
                <a:latin typeface="PingFang SC"/>
                <a:ea typeface="PingFang SC"/>
                <a:cs typeface="PingFang SC"/>
              </a:rPr>
              <a:t>个人本体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34440" y="3063240"/>
            <a:ext cx="393192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4000" b="1">
                <a:solidFill>
                  <a:srgbClr val="E3A35A"/>
                </a:solidFill>
                <a:latin typeface="Songti SC"/>
                <a:ea typeface="Songti SC"/>
                <a:cs typeface="Songti SC"/>
              </a:rPr>
              <a:t>认识自己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4023360"/>
            <a:ext cx="3840480" cy="1737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65000"/>
              </a:lnSpc>
              <a:spcAft>
                <a:spcPts val="0"/>
              </a:spcAft>
            </a:pPr>
            <a:r>
              <a:rPr sz="1400" b="0">
                <a:solidFill>
                  <a:srgbClr val="BDB4A6"/>
                </a:solidFill>
                <a:latin typeface="PingFang SC"/>
                <a:ea typeface="PingFang SC"/>
                <a:cs typeface="PingFang SC"/>
              </a:rPr>
              <a:t>通过长期对话，知君越来越了解你：在意什么、怎么做决定、后来对不对。要拿主意时陪你商量，结果回来时陪你复盘。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748272" y="2514600"/>
            <a:ext cx="4572000" cy="3429000"/>
          </a:xfrm>
          <a:prstGeom prst="roundRect">
            <a:avLst>
              <a:gd name="adj" fmla="val 8000"/>
            </a:avLst>
          </a:prstGeom>
          <a:solidFill>
            <a:srgbClr val="232825"/>
          </a:solidFill>
          <a:ln w="12700">
            <a:solidFill>
              <a:srgbClr val="82BBA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7114032" y="2743200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00" b="0">
                <a:solidFill>
                  <a:srgbClr val="7F776B"/>
                </a:solidFill>
                <a:latin typeface="PingFang SC"/>
                <a:ea typeface="PingFang SC"/>
                <a:cs typeface="PingFang SC"/>
              </a:rPr>
              <a:t>个人分身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114032" y="3063240"/>
            <a:ext cx="393192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4000" b="1">
                <a:solidFill>
                  <a:srgbClr val="82BBAD"/>
                </a:solidFill>
                <a:latin typeface="Songti SC"/>
                <a:ea typeface="Songti SC"/>
                <a:cs typeface="Songti SC"/>
              </a:rPr>
              <a:t>分享经验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114032" y="4023360"/>
            <a:ext cx="3840480" cy="1737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65000"/>
              </a:lnSpc>
              <a:spcAft>
                <a:spcPts val="0"/>
              </a:spcAft>
            </a:pPr>
            <a:r>
              <a:rPr sz="1400" b="0">
                <a:solidFill>
                  <a:srgbClr val="BDB4A6"/>
                </a:solidFill>
                <a:latin typeface="PingFang SC"/>
                <a:ea typeface="PingFang SC"/>
                <a:cs typeface="PingFang SC"/>
              </a:rPr>
              <a:t>你把确认过的经验交给分身，授权的客户、学员和合作方随时可以来问，复杂的问题再由你亲自接续。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5559552" y="4114800"/>
            <a:ext cx="1069848" cy="0"/>
          </a:xfrm>
          <a:prstGeom prst="line">
            <a:avLst/>
          </a:prstGeom>
          <a:ln w="22225">
            <a:solidFill>
              <a:srgbClr val="E3A35A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5394960" y="4297680"/>
            <a:ext cx="14173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0000"/>
              </a:lnSpc>
              <a:spcAft>
                <a:spcPts val="0"/>
              </a:spcAft>
            </a:pPr>
            <a:r>
              <a:rPr sz="1200" b="0">
                <a:solidFill>
                  <a:srgbClr val="BDB4A6"/>
                </a:solidFill>
                <a:latin typeface="PingFang SC"/>
                <a:ea typeface="PingFang SC"/>
                <a:cs typeface="PingFang SC"/>
              </a:rPr>
              <a:t>你确认的经验</a:t>
            </a:r>
          </a:p>
        </p:txBody>
      </p:sp>
    </p:spTree>
  </p:cSld>
  <p:clrMapOvr>
    <a:masterClrMapping/>
  </p:clrMapOvr>
  <p:transition spd="med">
    <p:fade/>
  </p:transition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0F0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68680" y="502920"/>
            <a:ext cx="10454335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200" b="0">
                <a:solidFill>
                  <a:srgbClr val="E3A35A"/>
                </a:solidFill>
                <a:latin typeface="PingFang SC"/>
                <a:ea typeface="PingFang SC"/>
                <a:cs typeface="PingFang SC"/>
              </a:rPr>
              <a:t>个人本体的价值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822960"/>
            <a:ext cx="10454335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3600" b="1">
                <a:solidFill>
                  <a:srgbClr val="F2ECE1"/>
                </a:solidFill>
                <a:latin typeface="Songti SC"/>
                <a:ea typeface="Songti SC"/>
                <a:cs typeface="Songti SC"/>
              </a:rPr>
              <a:t>一个真正懂你的知己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" y="1828800"/>
            <a:ext cx="13716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2000" b="1">
                <a:solidFill>
                  <a:srgbClr val="E3A35A"/>
                </a:solidFill>
                <a:latin typeface="Songti SC"/>
                <a:ea typeface="Songti SC"/>
                <a:cs typeface="Songti SC"/>
              </a:rPr>
              <a:t>情绪价值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377439" y="1856231"/>
            <a:ext cx="429768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60000"/>
              </a:lnSpc>
              <a:spcAft>
                <a:spcPts val="0"/>
              </a:spcAft>
            </a:pPr>
            <a:r>
              <a:rPr sz="1400" b="0">
                <a:solidFill>
                  <a:srgbClr val="BDB4A6"/>
                </a:solidFill>
                <a:latin typeface="PingFang SC"/>
                <a:ea typeface="PingFang SC"/>
                <a:cs typeface="PingFang SC"/>
              </a:rPr>
              <a:t>一个没有利害关系的知己。身边任何人都做不到这一点：可以说真话，可以袒露心声。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868680" y="2898648"/>
            <a:ext cx="5806440" cy="0"/>
          </a:xfrm>
          <a:prstGeom prst="line">
            <a:avLst/>
          </a:prstGeom>
          <a:ln w="9525">
            <a:solidFill>
              <a:srgbClr val="302B2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868680" y="3063240"/>
            <a:ext cx="13716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2000" b="1">
                <a:solidFill>
                  <a:srgbClr val="E3A35A"/>
                </a:solidFill>
                <a:latin typeface="Songti SC"/>
                <a:ea typeface="Songti SC"/>
                <a:cs typeface="Songti SC"/>
              </a:rPr>
              <a:t>判断价值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377439" y="3090672"/>
            <a:ext cx="429768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60000"/>
              </a:lnSpc>
              <a:spcAft>
                <a:spcPts val="0"/>
              </a:spcAft>
            </a:pPr>
            <a:r>
              <a:rPr sz="1400" b="0">
                <a:solidFill>
                  <a:srgbClr val="BDB4A6"/>
                </a:solidFill>
                <a:latin typeface="PingFang SC"/>
                <a:ea typeface="PingFang SC"/>
                <a:cs typeface="PingFang SC"/>
              </a:rPr>
              <a:t>拿主意时调用你自己的原则和经历；几周后回来问「现在回看怎么样」。同样的错不再犯第二次。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868680" y="4133087"/>
            <a:ext cx="5806440" cy="0"/>
          </a:xfrm>
          <a:prstGeom prst="line">
            <a:avLst/>
          </a:prstGeom>
          <a:ln w="9525">
            <a:solidFill>
              <a:srgbClr val="302B2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868680" y="4297680"/>
            <a:ext cx="13716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2000" b="1">
                <a:solidFill>
                  <a:srgbClr val="E3A35A"/>
                </a:solidFill>
                <a:latin typeface="Songti SC"/>
                <a:ea typeface="Songti SC"/>
                <a:cs typeface="Songti SC"/>
              </a:rPr>
              <a:t>复利价值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377439" y="4325112"/>
            <a:ext cx="429768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60000"/>
              </a:lnSpc>
              <a:spcAft>
                <a:spcPts val="0"/>
              </a:spcAft>
            </a:pPr>
            <a:r>
              <a:rPr sz="1400" b="0">
                <a:solidFill>
                  <a:srgbClr val="BDB4A6"/>
                </a:solidFill>
                <a:latin typeface="PingFang SC"/>
                <a:ea typeface="PingFang SC"/>
                <a:cs typeface="PingFang SC"/>
              </a:rPr>
              <a:t>每一次对话都让理解更准确。这份积累只属于你，用得越久越有价值。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868680" y="5367528"/>
            <a:ext cx="5806440" cy="0"/>
          </a:xfrm>
          <a:prstGeom prst="line">
            <a:avLst/>
          </a:prstGeom>
          <a:ln w="9525">
            <a:solidFill>
              <a:srgbClr val="302B2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7086600" y="1051560"/>
            <a:ext cx="4251960" cy="5120640"/>
          </a:xfrm>
          <a:prstGeom prst="roundRect">
            <a:avLst>
              <a:gd name="adj" fmla="val 6000"/>
            </a:avLst>
          </a:prstGeom>
          <a:solidFill>
            <a:srgbClr val="141210"/>
          </a:solidFill>
          <a:ln w="12700">
            <a:solidFill>
              <a:srgbClr val="302B2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7086600" y="1234440"/>
            <a:ext cx="4251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0000"/>
              </a:lnSpc>
              <a:spcAft>
                <a:spcPts val="0"/>
              </a:spcAft>
            </a:pPr>
            <a:r>
              <a:rPr sz="1100" b="0">
                <a:solidFill>
                  <a:srgbClr val="7F776B"/>
                </a:solidFill>
                <a:latin typeface="PingFang SC"/>
                <a:ea typeface="PingFang SC"/>
                <a:cs typeface="PingFang SC"/>
              </a:rPr>
              <a:t>今天 · 示意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360920" y="1737360"/>
            <a:ext cx="2926080" cy="1234440"/>
          </a:xfrm>
          <a:prstGeom prst="roundRect">
            <a:avLst>
              <a:gd name="adj" fmla="val 15000"/>
            </a:avLst>
          </a:prstGeom>
          <a:solidFill>
            <a:srgbClr val="1C1915"/>
          </a:solidFill>
          <a:ln w="12700">
            <a:solidFill>
              <a:srgbClr val="302B2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7543800" y="1847088"/>
            <a:ext cx="2560320" cy="1051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1300" b="0">
                <a:solidFill>
                  <a:srgbClr val="F2ECE1"/>
                </a:solidFill>
                <a:latin typeface="Songti SC"/>
                <a:ea typeface="Songti SC"/>
                <a:cs typeface="Songti SC"/>
              </a:rPr>
              <a:t>上个月你决定先不扩招。当时你最担心的是现金流——现在回看，这个顾虑还在吗？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138160" y="3154680"/>
            <a:ext cx="2926080" cy="685800"/>
          </a:xfrm>
          <a:prstGeom prst="roundRect">
            <a:avLst>
              <a:gd name="adj" fmla="val 15000"/>
            </a:avLst>
          </a:prstGeom>
          <a:solidFill>
            <a:srgbClr val="3A2F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321040" y="3264408"/>
            <a:ext cx="256032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1300" b="0">
                <a:solidFill>
                  <a:srgbClr val="F2ECE1"/>
                </a:solidFill>
                <a:latin typeface="PingFang SC"/>
                <a:ea typeface="PingFang SC"/>
                <a:cs typeface="PingFang SC"/>
              </a:rPr>
              <a:t>还在。但另一件事更让我睡不着。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360920" y="4023360"/>
            <a:ext cx="2926080" cy="960120"/>
          </a:xfrm>
          <a:prstGeom prst="roundRect">
            <a:avLst>
              <a:gd name="adj" fmla="val 15000"/>
            </a:avLst>
          </a:prstGeom>
          <a:solidFill>
            <a:srgbClr val="1C1915"/>
          </a:solidFill>
          <a:ln w="12700">
            <a:solidFill>
              <a:srgbClr val="302B2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7543800" y="4133088"/>
            <a:ext cx="2560320" cy="7772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1300" b="0">
                <a:solidFill>
                  <a:srgbClr val="F2ECE1"/>
                </a:solidFill>
                <a:latin typeface="Songti SC"/>
                <a:ea typeface="Songti SC"/>
                <a:cs typeface="Songti SC"/>
              </a:rPr>
              <a:t>愿意说说是哪件事吗？不急，想到哪儿说到哪儿。</a:t>
            </a:r>
          </a:p>
        </p:txBody>
      </p:sp>
    </p:spTree>
  </p:cSld>
  <p:clrMapOvr>
    <a:masterClrMapping/>
  </p:clrMapOvr>
  <p:transition spd="med">
    <p:fade/>
  </p:transition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0F0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68680" y="502920"/>
            <a:ext cx="10454335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200" b="0">
                <a:solidFill>
                  <a:srgbClr val="82BBAD"/>
                </a:solidFill>
                <a:latin typeface="PingFang SC"/>
                <a:ea typeface="PingFang SC"/>
                <a:cs typeface="PingFang SC"/>
              </a:rPr>
              <a:t>个人分身的价值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822960"/>
            <a:ext cx="10454335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3600" b="1">
                <a:solidFill>
                  <a:srgbClr val="F2ECE1"/>
                </a:solidFill>
                <a:latin typeface="Songti SC"/>
                <a:ea typeface="Songti SC"/>
                <a:cs typeface="Songti SC"/>
              </a:rPr>
              <a:t>让经验被更多人用到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68680" y="1828800"/>
            <a:ext cx="2468880" cy="2743200"/>
          </a:xfrm>
          <a:prstGeom prst="roundRect">
            <a:avLst>
              <a:gd name="adj" fmla="val 8000"/>
            </a:avLst>
          </a:prstGeom>
          <a:solidFill>
            <a:srgbClr val="1C1915"/>
          </a:solidFill>
          <a:ln w="12700">
            <a:solidFill>
              <a:srgbClr val="302B2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1124712" y="2057400"/>
            <a:ext cx="201168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700" b="1">
                <a:solidFill>
                  <a:srgbClr val="82BBAD"/>
                </a:solidFill>
                <a:latin typeface="Songti SC"/>
                <a:ea typeface="Songti SC"/>
                <a:cs typeface="Songti SC"/>
              </a:rPr>
              <a:t>经验被放大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4712" y="2606040"/>
            <a:ext cx="1993392" cy="1920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60000"/>
              </a:lnSpc>
              <a:spcAft>
                <a:spcPts val="0"/>
              </a:spcAft>
            </a:pPr>
            <a:r>
              <a:rPr sz="1250" b="0">
                <a:solidFill>
                  <a:srgbClr val="BDB4A6"/>
                </a:solidFill>
                <a:latin typeface="PingFang SC"/>
                <a:ea typeface="PingFang SC"/>
                <a:cs typeface="PingFang SC"/>
              </a:rPr>
              <a:t>一个人一天只有那么多时间，分身可以同时回答很多人的问题。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529584" y="1828800"/>
            <a:ext cx="2468880" cy="2743200"/>
          </a:xfrm>
          <a:prstGeom prst="roundRect">
            <a:avLst>
              <a:gd name="adj" fmla="val 8000"/>
            </a:avLst>
          </a:prstGeom>
          <a:solidFill>
            <a:srgbClr val="1C1915"/>
          </a:solidFill>
          <a:ln w="12700">
            <a:solidFill>
              <a:srgbClr val="302B2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3785616" y="2057400"/>
            <a:ext cx="201168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700" b="1">
                <a:solidFill>
                  <a:srgbClr val="82BBAD"/>
                </a:solidFill>
                <a:latin typeface="Songti SC"/>
                <a:ea typeface="Songti SC"/>
                <a:cs typeface="Songti SC"/>
              </a:rPr>
              <a:t>时间被释放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785616" y="2606040"/>
            <a:ext cx="1993392" cy="1920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60000"/>
              </a:lnSpc>
              <a:spcAft>
                <a:spcPts val="0"/>
              </a:spcAft>
            </a:pPr>
            <a:r>
              <a:rPr sz="1250" b="0">
                <a:solidFill>
                  <a:srgbClr val="BDB4A6"/>
                </a:solidFill>
                <a:latin typeface="PingFang SC"/>
                <a:ea typeface="PingFang SC"/>
                <a:cs typeface="PingFang SC"/>
              </a:rPr>
              <a:t>反复出现的问题交给分身，本人把时间留给真正需要自己判断的事。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90488" y="1828800"/>
            <a:ext cx="2468880" cy="2743200"/>
          </a:xfrm>
          <a:prstGeom prst="roundRect">
            <a:avLst>
              <a:gd name="adj" fmla="val 8000"/>
            </a:avLst>
          </a:prstGeom>
          <a:solidFill>
            <a:srgbClr val="1C1915"/>
          </a:solidFill>
          <a:ln w="12700">
            <a:solidFill>
              <a:srgbClr val="302B2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446520" y="2057400"/>
            <a:ext cx="201168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700" b="1">
                <a:solidFill>
                  <a:srgbClr val="82BBAD"/>
                </a:solidFill>
                <a:latin typeface="Songti SC"/>
                <a:ea typeface="Songti SC"/>
                <a:cs typeface="Songti SC"/>
              </a:rPr>
              <a:t>经验变成收入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46520" y="2606040"/>
            <a:ext cx="1993392" cy="1920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60000"/>
              </a:lnSpc>
              <a:spcAft>
                <a:spcPts val="0"/>
              </a:spcAft>
            </a:pPr>
            <a:r>
              <a:rPr sz="1250" b="0">
                <a:solidFill>
                  <a:srgbClr val="BDB4A6"/>
                </a:solidFill>
                <a:latin typeface="PingFang SC"/>
                <a:ea typeface="PingFang SC"/>
                <a:cs typeface="PingFang SC"/>
              </a:rPr>
              <a:t>分身回答第一层问题，复杂的由本人接续。从知识到收费咨询，有了一条自然的通道。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851392" y="1828800"/>
            <a:ext cx="2468880" cy="2743200"/>
          </a:xfrm>
          <a:prstGeom prst="roundRect">
            <a:avLst>
              <a:gd name="adj" fmla="val 8000"/>
            </a:avLst>
          </a:prstGeom>
          <a:solidFill>
            <a:srgbClr val="1C1915"/>
          </a:solidFill>
          <a:ln w="12700">
            <a:solidFill>
              <a:srgbClr val="302B2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107424" y="2057400"/>
            <a:ext cx="201168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700" b="1">
                <a:solidFill>
                  <a:srgbClr val="82BBAD"/>
                </a:solidFill>
                <a:latin typeface="Songti SC"/>
                <a:ea typeface="Songti SC"/>
                <a:cs typeface="Songti SC"/>
              </a:rPr>
              <a:t>判断是分身的灵魂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07424" y="2606040"/>
            <a:ext cx="1993392" cy="1920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60000"/>
              </a:lnSpc>
              <a:spcAft>
                <a:spcPts val="0"/>
              </a:spcAft>
            </a:pPr>
            <a:r>
              <a:rPr sz="1250" b="0">
                <a:solidFill>
                  <a:srgbClr val="BDB4A6"/>
                </a:solidFill>
                <a:latin typeface="PingFang SC"/>
                <a:ea typeface="PingFang SC"/>
                <a:cs typeface="PingFang SC"/>
              </a:rPr>
              <a:t>别的分身只读得到你公开发表的内容；知君的分身来自你亲自确认的判断，回答的是「你会怎么想」。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68680" y="5029200"/>
            <a:ext cx="1199388" cy="438912"/>
          </a:xfrm>
          <a:prstGeom prst="roundRect">
            <a:avLst>
              <a:gd name="adj" fmla="val 30000"/>
            </a:avLst>
          </a:prstGeom>
          <a:solidFill>
            <a:srgbClr val="232825"/>
          </a:solidFill>
          <a:ln w="9525">
            <a:solidFill>
              <a:srgbClr val="82BBA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868680" y="5029200"/>
            <a:ext cx="1199388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30000"/>
              </a:lnSpc>
              <a:spcAft>
                <a:spcPts val="0"/>
              </a:spcAft>
            </a:pPr>
            <a:r>
              <a:rPr sz="1400" b="0">
                <a:solidFill>
                  <a:srgbClr val="82BBAD"/>
                </a:solidFill>
                <a:latin typeface="PingFang SC"/>
                <a:ea typeface="PingFang SC"/>
                <a:cs typeface="PingFang SC"/>
              </a:rPr>
              <a:t>来访者提问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122932" y="5029200"/>
            <a:ext cx="274320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500" b="0">
                <a:solidFill>
                  <a:srgbClr val="7F776B"/>
                </a:solidFill>
                <a:latin typeface="PingFang SC"/>
                <a:ea typeface="PingFang SC"/>
                <a:cs typeface="PingFang SC"/>
              </a:rPr>
              <a:t>→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2433828" y="5029200"/>
            <a:ext cx="1562100" cy="438912"/>
          </a:xfrm>
          <a:prstGeom prst="roundRect">
            <a:avLst>
              <a:gd name="adj" fmla="val 30000"/>
            </a:avLst>
          </a:prstGeom>
          <a:solidFill>
            <a:srgbClr val="232825"/>
          </a:solidFill>
          <a:ln w="9525">
            <a:solidFill>
              <a:srgbClr val="82BBA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2433828" y="5029200"/>
            <a:ext cx="1562100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30000"/>
              </a:lnSpc>
              <a:spcAft>
                <a:spcPts val="0"/>
              </a:spcAft>
            </a:pPr>
            <a:r>
              <a:rPr sz="1400" b="0">
                <a:solidFill>
                  <a:srgbClr val="82BBAD"/>
                </a:solidFill>
                <a:latin typeface="PingFang SC"/>
                <a:ea typeface="PingFang SC"/>
                <a:cs typeface="PingFang SC"/>
              </a:rPr>
              <a:t>分身回答第一层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050791" y="5029200"/>
            <a:ext cx="274320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500" b="0">
                <a:solidFill>
                  <a:srgbClr val="7F776B"/>
                </a:solidFill>
                <a:latin typeface="PingFang SC"/>
                <a:ea typeface="PingFang SC"/>
                <a:cs typeface="PingFang SC"/>
              </a:rPr>
              <a:t>→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361688" y="5029200"/>
            <a:ext cx="1743456" cy="438912"/>
          </a:xfrm>
          <a:prstGeom prst="roundRect">
            <a:avLst>
              <a:gd name="adj" fmla="val 30000"/>
            </a:avLst>
          </a:prstGeom>
          <a:solidFill>
            <a:srgbClr val="2C251B"/>
          </a:solidFill>
          <a:ln w="9525">
            <a:solidFill>
              <a:srgbClr val="E3A3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4361688" y="5029200"/>
            <a:ext cx="1743456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30000"/>
              </a:lnSpc>
              <a:spcAft>
                <a:spcPts val="0"/>
              </a:spcAft>
            </a:pPr>
            <a:r>
              <a:rPr sz="1400" b="0">
                <a:solidFill>
                  <a:srgbClr val="E3A35A"/>
                </a:solidFill>
                <a:latin typeface="PingFang SC"/>
                <a:ea typeface="PingFang SC"/>
                <a:cs typeface="PingFang SC"/>
              </a:rPr>
              <a:t>本人接续关键问题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160008" y="5029200"/>
            <a:ext cx="274320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500" b="0">
                <a:solidFill>
                  <a:srgbClr val="7F776B"/>
                </a:solidFill>
                <a:latin typeface="PingFang SC"/>
                <a:ea typeface="PingFang SC"/>
                <a:cs typeface="PingFang SC"/>
              </a:rPr>
              <a:t>→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470904" y="5029200"/>
            <a:ext cx="1018032" cy="438912"/>
          </a:xfrm>
          <a:prstGeom prst="roundRect">
            <a:avLst>
              <a:gd name="adj" fmla="val 30000"/>
            </a:avLst>
          </a:prstGeom>
          <a:solidFill>
            <a:srgbClr val="2C251B"/>
          </a:solidFill>
          <a:ln w="9525">
            <a:solidFill>
              <a:srgbClr val="E3A3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6470904" y="5029200"/>
            <a:ext cx="1018032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30000"/>
              </a:lnSpc>
              <a:spcAft>
                <a:spcPts val="0"/>
              </a:spcAft>
            </a:pPr>
            <a:r>
              <a:rPr sz="1400" b="0">
                <a:solidFill>
                  <a:srgbClr val="E3A35A"/>
                </a:solidFill>
                <a:latin typeface="PingFang SC"/>
                <a:ea typeface="PingFang SC"/>
                <a:cs typeface="PingFang SC"/>
              </a:rPr>
              <a:t>收费咨询</a:t>
            </a:r>
          </a:p>
        </p:txBody>
      </p:sp>
    </p:spTree>
  </p:cSld>
  <p:clrMapOvr>
    <a:masterClrMapping/>
  </p:clrMapOvr>
  <p:transition spd="med">
    <p:fade/>
  </p:transition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0F0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68680" y="502920"/>
            <a:ext cx="10454335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200" b="0">
                <a:solidFill>
                  <a:srgbClr val="E3A35A"/>
                </a:solidFill>
                <a:latin typeface="PingFang SC"/>
                <a:ea typeface="PingFang SC"/>
                <a:cs typeface="PingFang SC"/>
              </a:rPr>
              <a:t>飞轮</a:t>
            </a:r>
          </a:p>
        </p:txBody>
      </p:sp>
      <p:sp>
        <p:nvSpPr>
          <p:cNvPr id="3" name="Oval 2"/>
          <p:cNvSpPr/>
          <p:nvPr/>
        </p:nvSpPr>
        <p:spPr>
          <a:xfrm>
            <a:off x="1325880" y="1737360"/>
            <a:ext cx="3931920" cy="3931920"/>
          </a:xfrm>
          <a:prstGeom prst="ellipse">
            <a:avLst/>
          </a:prstGeom>
          <a:noFill/>
          <a:ln w="25400">
            <a:solidFill>
              <a:srgbClr val="302B2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Oval 3"/>
          <p:cNvSpPr/>
          <p:nvPr/>
        </p:nvSpPr>
        <p:spPr>
          <a:xfrm>
            <a:off x="4383394" y="2048816"/>
            <a:ext cx="128016" cy="128016"/>
          </a:xfrm>
          <a:prstGeom prst="ellipse">
            <a:avLst/>
          </a:prstGeom>
          <a:solidFill>
            <a:srgbClr val="F4CD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Rounded Rectangle 4"/>
          <p:cNvSpPr/>
          <p:nvPr/>
        </p:nvSpPr>
        <p:spPr>
          <a:xfrm>
            <a:off x="2738628" y="1499616"/>
            <a:ext cx="1106424" cy="475488"/>
          </a:xfrm>
          <a:prstGeom prst="roundRect">
            <a:avLst>
              <a:gd name="adj" fmla="val 30000"/>
            </a:avLst>
          </a:prstGeom>
          <a:solidFill>
            <a:srgbClr val="1C1915"/>
          </a:solidFill>
          <a:ln w="12700">
            <a:solidFill>
              <a:srgbClr val="E3A3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2738628" y="1499616"/>
            <a:ext cx="1106424" cy="4754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30000"/>
              </a:lnSpc>
              <a:spcAft>
                <a:spcPts val="0"/>
              </a:spcAft>
            </a:pPr>
            <a:r>
              <a:rPr sz="1300" b="0">
                <a:solidFill>
                  <a:srgbClr val="F2ECE1"/>
                </a:solidFill>
                <a:latin typeface="PingFang SC"/>
                <a:ea typeface="PingFang SC"/>
                <a:cs typeface="PingFang SC"/>
              </a:rPr>
              <a:t>长期对话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47763" y="2858060"/>
            <a:ext cx="1627632" cy="475488"/>
          </a:xfrm>
          <a:prstGeom prst="roundRect">
            <a:avLst>
              <a:gd name="adj" fmla="val 30000"/>
            </a:avLst>
          </a:prstGeom>
          <a:solidFill>
            <a:srgbClr val="1C1915"/>
          </a:solidFill>
          <a:ln w="12700">
            <a:solidFill>
              <a:srgbClr val="E3A3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4347763" y="2858060"/>
            <a:ext cx="1627632" cy="4754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30000"/>
              </a:lnSpc>
              <a:spcAft>
                <a:spcPts val="0"/>
              </a:spcAft>
            </a:pPr>
            <a:r>
              <a:rPr sz="1300" b="0">
                <a:solidFill>
                  <a:srgbClr val="F2ECE1"/>
                </a:solidFill>
                <a:latin typeface="PingFang SC"/>
                <a:ea typeface="PingFang SC"/>
                <a:cs typeface="PingFang SC"/>
              </a:rPr>
              <a:t>本体越来越懂你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633586" y="5056071"/>
            <a:ext cx="1627632" cy="475488"/>
          </a:xfrm>
          <a:prstGeom prst="roundRect">
            <a:avLst>
              <a:gd name="adj" fmla="val 30000"/>
            </a:avLst>
          </a:prstGeom>
          <a:solidFill>
            <a:srgbClr val="1C1915"/>
          </a:solidFill>
          <a:ln w="12700">
            <a:solidFill>
              <a:srgbClr val="E3A3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3633586" y="5056071"/>
            <a:ext cx="1627632" cy="4754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30000"/>
              </a:lnSpc>
              <a:spcAft>
                <a:spcPts val="0"/>
              </a:spcAft>
            </a:pPr>
            <a:r>
              <a:rPr sz="1300" b="0">
                <a:solidFill>
                  <a:srgbClr val="F2ECE1"/>
                </a:solidFill>
                <a:latin typeface="PingFang SC"/>
                <a:ea typeface="PingFang SC"/>
                <a:cs typeface="PingFang SC"/>
              </a:rPr>
              <a:t>分身越来越像你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409329" y="5056071"/>
            <a:ext cx="1453896" cy="475488"/>
          </a:xfrm>
          <a:prstGeom prst="roundRect">
            <a:avLst>
              <a:gd name="adj" fmla="val 30000"/>
            </a:avLst>
          </a:prstGeom>
          <a:solidFill>
            <a:srgbClr val="1C1915"/>
          </a:solidFill>
          <a:ln w="12700">
            <a:solidFill>
              <a:srgbClr val="82BBA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1409329" y="5056071"/>
            <a:ext cx="1453896" cy="4754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30000"/>
              </a:lnSpc>
              <a:spcAft>
                <a:spcPts val="0"/>
              </a:spcAft>
            </a:pPr>
            <a:r>
              <a:rPr sz="1300" b="0">
                <a:solidFill>
                  <a:srgbClr val="F2ECE1"/>
                </a:solidFill>
                <a:latin typeface="PingFang SC"/>
                <a:ea typeface="PingFang SC"/>
                <a:cs typeface="PingFang SC"/>
              </a:rPr>
              <a:t>服务更多的人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95152" y="2858060"/>
            <a:ext cx="1453896" cy="475488"/>
          </a:xfrm>
          <a:prstGeom prst="roundRect">
            <a:avLst>
              <a:gd name="adj" fmla="val 30000"/>
            </a:avLst>
          </a:prstGeom>
          <a:solidFill>
            <a:srgbClr val="1C1915"/>
          </a:solidFill>
          <a:ln w="12700">
            <a:solidFill>
              <a:srgbClr val="82BBA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695152" y="2858060"/>
            <a:ext cx="1453896" cy="4754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30000"/>
              </a:lnSpc>
              <a:spcAft>
                <a:spcPts val="0"/>
              </a:spcAft>
            </a:pPr>
            <a:r>
              <a:rPr sz="1300" b="0">
                <a:solidFill>
                  <a:srgbClr val="F2ECE1"/>
                </a:solidFill>
                <a:latin typeface="PingFang SC"/>
                <a:ea typeface="PingFang SC"/>
                <a:cs typeface="PingFang SC"/>
              </a:rPr>
              <a:t>反馈回到本体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0" y="1371600"/>
            <a:ext cx="4937760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3000" b="1">
                <a:solidFill>
                  <a:srgbClr val="F2ECE1"/>
                </a:solidFill>
                <a:latin typeface="Songti SC"/>
                <a:ea typeface="Songti SC"/>
                <a:cs typeface="Songti SC"/>
              </a:rPr>
              <a:t>本体与分身</a:t>
            </a:r>
          </a:p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3000" b="1">
                <a:solidFill>
                  <a:srgbClr val="F2ECE1"/>
                </a:solidFill>
                <a:latin typeface="Songti SC"/>
                <a:ea typeface="Songti SC"/>
                <a:cs typeface="Songti SC"/>
              </a:rPr>
              <a:t>互相成就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0" y="2880360"/>
            <a:ext cx="4937760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60000"/>
              </a:lnSpc>
              <a:spcAft>
                <a:spcPts val="0"/>
              </a:spcAft>
            </a:pPr>
            <a:r>
              <a:rPr sz="1600" b="0">
                <a:solidFill>
                  <a:srgbClr val="BDB4A6"/>
                </a:solidFill>
                <a:latin typeface="PingFang SC"/>
                <a:ea typeface="PingFang SC"/>
                <a:cs typeface="PingFang SC"/>
              </a:rPr>
              <a:t>用得越久，本体越准；</a:t>
            </a:r>
          </a:p>
          <a:p>
            <a:pPr algn="l">
              <a:lnSpc>
                <a:spcPct val="160000"/>
              </a:lnSpc>
              <a:spcAft>
                <a:spcPts val="0"/>
              </a:spcAft>
            </a:pPr>
            <a:r>
              <a:rPr sz="1600" b="0">
                <a:solidFill>
                  <a:srgbClr val="BDB4A6"/>
                </a:solidFill>
                <a:latin typeface="PingFang SC"/>
                <a:ea typeface="PingFang SC"/>
                <a:cs typeface="PingFang SC"/>
              </a:rPr>
              <a:t>本体越准，分身越有价值；</a:t>
            </a:r>
          </a:p>
          <a:p>
            <a:pPr algn="l">
              <a:lnSpc>
                <a:spcPct val="160000"/>
              </a:lnSpc>
              <a:spcAft>
                <a:spcPts val="0"/>
              </a:spcAft>
            </a:pPr>
            <a:r>
              <a:rPr sz="1600" b="0">
                <a:solidFill>
                  <a:srgbClr val="BDB4A6"/>
                </a:solidFill>
                <a:latin typeface="PingFang SC"/>
                <a:ea typeface="PingFang SC"/>
                <a:cs typeface="PingFang SC"/>
              </a:rPr>
              <a:t>分身越有价值，本人越愿意持续积累。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400800" y="4608576"/>
            <a:ext cx="36576" cy="475488"/>
          </a:xfrm>
          <a:prstGeom prst="rect">
            <a:avLst/>
          </a:prstGeom>
          <a:solidFill>
            <a:srgbClr val="E3A3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6601968" y="4572000"/>
            <a:ext cx="4736592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1400" b="0">
                <a:solidFill>
                  <a:srgbClr val="BDB4A6"/>
                </a:solidFill>
                <a:latin typeface="PingFang SC"/>
                <a:ea typeface="PingFang SC"/>
                <a:cs typeface="PingFang SC"/>
              </a:rPr>
              <a:t>没有本体，分身只是一个读过你文件的问答机器人。</a:t>
            </a:r>
          </a:p>
        </p:txBody>
      </p:sp>
    </p:spTree>
  </p:cSld>
  <p:clrMapOvr>
    <a:masterClrMapping/>
  </p:clrMapOvr>
  <p:transition spd="med">
    <p:fade/>
  </p:transition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0F0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68680" y="502920"/>
            <a:ext cx="10454335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200" b="0">
                <a:solidFill>
                  <a:srgbClr val="E3A35A"/>
                </a:solidFill>
                <a:latin typeface="PingFang SC"/>
                <a:ea typeface="PingFang SC"/>
                <a:cs typeface="PingFang SC"/>
              </a:rPr>
              <a:t>为什么是现在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822960"/>
            <a:ext cx="10454335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3600" b="1">
                <a:solidFill>
                  <a:srgbClr val="F2ECE1"/>
                </a:solidFill>
                <a:latin typeface="Songti SC"/>
                <a:ea typeface="Songti SC"/>
                <a:cs typeface="Songti SC"/>
              </a:rPr>
              <a:t>四股力量正在汇合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68680" y="1828800"/>
            <a:ext cx="5120640" cy="1874519"/>
          </a:xfrm>
          <a:prstGeom prst="roundRect">
            <a:avLst>
              <a:gd name="adj" fmla="val 8000"/>
            </a:avLst>
          </a:prstGeom>
          <a:solidFill>
            <a:srgbClr val="1C1915"/>
          </a:solidFill>
          <a:ln w="12700">
            <a:solidFill>
              <a:srgbClr val="302B2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1188719" y="2075688"/>
            <a:ext cx="7315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2400" b="0">
                <a:solidFill>
                  <a:srgbClr val="E3A35A"/>
                </a:solidFill>
                <a:latin typeface="Songti SC"/>
                <a:ea typeface="Songti SC"/>
                <a:cs typeface="Songti SC"/>
              </a:rPr>
              <a:t>01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920239" y="2121408"/>
            <a:ext cx="38404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800" b="1">
                <a:solidFill>
                  <a:srgbClr val="F2ECE1"/>
                </a:solidFill>
                <a:latin typeface="Songti SC"/>
                <a:ea typeface="Songti SC"/>
                <a:cs typeface="Songti SC"/>
              </a:rPr>
              <a:t>理解一个人第一次变得可行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920239" y="2651760"/>
            <a:ext cx="3794760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5000"/>
              </a:lnSpc>
              <a:spcAft>
                <a:spcPts val="0"/>
              </a:spcAft>
            </a:pPr>
            <a:r>
              <a:rPr sz="1350" b="0">
                <a:solidFill>
                  <a:srgbClr val="BDB4A6"/>
                </a:solidFill>
                <a:latin typeface="PingFang SC"/>
                <a:ea typeface="PingFang SC"/>
                <a:cs typeface="PingFang SC"/>
              </a:rPr>
              <a:t>大模型能从长期对话中形成对一个人的理解，这在两年前还做不到。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1828800"/>
            <a:ext cx="5120640" cy="1874519"/>
          </a:xfrm>
          <a:prstGeom prst="roundRect">
            <a:avLst>
              <a:gd name="adj" fmla="val 8000"/>
            </a:avLst>
          </a:prstGeom>
          <a:solidFill>
            <a:srgbClr val="1C1915"/>
          </a:solidFill>
          <a:ln w="12700">
            <a:solidFill>
              <a:srgbClr val="302B2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6537959" y="2075688"/>
            <a:ext cx="7315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2400" b="0">
                <a:solidFill>
                  <a:srgbClr val="E3A35A"/>
                </a:solidFill>
                <a:latin typeface="Songti SC"/>
                <a:ea typeface="Songti SC"/>
                <a:cs typeface="Songti SC"/>
              </a:rPr>
              <a:t>02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269479" y="2121408"/>
            <a:ext cx="38404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800" b="1">
                <a:solidFill>
                  <a:srgbClr val="F2ECE1"/>
                </a:solidFill>
                <a:latin typeface="Songti SC"/>
                <a:ea typeface="Songti SC"/>
                <a:cs typeface="Songti SC"/>
              </a:rPr>
              <a:t>个人 AI 从工具走向伙伴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269479" y="2651760"/>
            <a:ext cx="3794760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5000"/>
              </a:lnSpc>
              <a:spcAft>
                <a:spcPts val="0"/>
              </a:spcAft>
            </a:pPr>
            <a:r>
              <a:rPr sz="1350" b="0">
                <a:solidFill>
                  <a:srgbClr val="BDB4A6"/>
                </a:solidFill>
                <a:latin typeface="PingFang SC"/>
                <a:ea typeface="PingFang SC"/>
                <a:cs typeface="PingFang SC"/>
              </a:rPr>
              <a:t>人们开始期待一个长期陪伴、真正了解自己的 AI，而不只是更快的搜索框。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68680" y="3931920"/>
            <a:ext cx="5120640" cy="1874519"/>
          </a:xfrm>
          <a:prstGeom prst="roundRect">
            <a:avLst>
              <a:gd name="adj" fmla="val 8000"/>
            </a:avLst>
          </a:prstGeom>
          <a:solidFill>
            <a:srgbClr val="1C1915"/>
          </a:solidFill>
          <a:ln w="12700">
            <a:solidFill>
              <a:srgbClr val="302B2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1188719" y="4178808"/>
            <a:ext cx="7315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2400" b="0">
                <a:solidFill>
                  <a:srgbClr val="E3A35A"/>
                </a:solidFill>
                <a:latin typeface="Songti SC"/>
                <a:ea typeface="Songti SC"/>
                <a:cs typeface="Songti SC"/>
              </a:rPr>
              <a:t>03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920239" y="4224528"/>
            <a:ext cx="38404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800" b="1">
                <a:solidFill>
                  <a:srgbClr val="F2ECE1"/>
                </a:solidFill>
                <a:latin typeface="Songti SC"/>
                <a:ea typeface="Songti SC"/>
                <a:cs typeface="Songti SC"/>
              </a:rPr>
              <a:t>专业服务被时间卡住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920239" y="4754880"/>
            <a:ext cx="3794760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5000"/>
              </a:lnSpc>
              <a:spcAft>
                <a:spcPts val="0"/>
              </a:spcAft>
            </a:pPr>
            <a:r>
              <a:rPr sz="1350" b="0">
                <a:solidFill>
                  <a:srgbClr val="BDB4A6"/>
                </a:solidFill>
                <a:latin typeface="PingFang SC"/>
                <a:ea typeface="PingFang SC"/>
                <a:cs typeface="PingFang SC"/>
              </a:rPr>
              <a:t>顾问、教练和专家的供给受限于本人的时间，需求却在增长。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17920" y="3931920"/>
            <a:ext cx="5120640" cy="1874519"/>
          </a:xfrm>
          <a:prstGeom prst="roundRect">
            <a:avLst>
              <a:gd name="adj" fmla="val 8000"/>
            </a:avLst>
          </a:prstGeom>
          <a:solidFill>
            <a:srgbClr val="1C1915"/>
          </a:solidFill>
          <a:ln w="12700">
            <a:solidFill>
              <a:srgbClr val="302B2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6537959" y="4178808"/>
            <a:ext cx="7315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2400" b="0">
                <a:solidFill>
                  <a:srgbClr val="E3A35A"/>
                </a:solidFill>
                <a:latin typeface="Songti SC"/>
                <a:ea typeface="Songti SC"/>
                <a:cs typeface="Songti SC"/>
              </a:rPr>
              <a:t>04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269479" y="4224528"/>
            <a:ext cx="38404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800" b="1">
                <a:solidFill>
                  <a:srgbClr val="F2ECE1"/>
                </a:solidFill>
                <a:latin typeface="Songti SC"/>
                <a:ea typeface="Songti SC"/>
                <a:cs typeface="Songti SC"/>
              </a:rPr>
              <a:t>人们越来越在意积累归谁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269479" y="4754880"/>
            <a:ext cx="3794760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5000"/>
              </a:lnSpc>
              <a:spcAft>
                <a:spcPts val="0"/>
              </a:spcAft>
            </a:pPr>
            <a:r>
              <a:rPr sz="1350" b="0">
                <a:solidFill>
                  <a:srgbClr val="BDB4A6"/>
                </a:solidFill>
                <a:latin typeface="PingFang SC"/>
                <a:ea typeface="PingFang SC"/>
                <a:cs typeface="PingFang SC"/>
              </a:rPr>
              <a:t>愿意交出的理解越深，就越需要确信它属于自己。</a:t>
            </a:r>
          </a:p>
        </p:txBody>
      </p:sp>
    </p:spTree>
  </p:cSld>
  <p:clrMapOvr>
    <a:masterClrMapping/>
  </p:clrMapOvr>
  <p:transition spd="med">
    <p:fade/>
  </p:transition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0F0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68680" y="502920"/>
            <a:ext cx="10454335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200" b="0">
                <a:solidFill>
                  <a:srgbClr val="E3A35A"/>
                </a:solidFill>
                <a:latin typeface="PingFang SC"/>
                <a:ea typeface="PingFang SC"/>
                <a:cs typeface="PingFang SC"/>
              </a:rPr>
              <a:t>为什么是盒子</a:t>
            </a:r>
          </a:p>
        </p:txBody>
      </p:sp>
      <p:sp>
        <p:nvSpPr>
          <p:cNvPr id="3" name="Oval 2"/>
          <p:cNvSpPr/>
          <p:nvPr/>
        </p:nvSpPr>
        <p:spPr>
          <a:xfrm>
            <a:off x="1353312" y="1967788"/>
            <a:ext cx="3145536" cy="3145536"/>
          </a:xfrm>
          <a:prstGeom prst="ellipse">
            <a:avLst/>
          </a:prstGeom>
          <a:solidFill>
            <a:srgbClr val="E3A35A">
              <a:alpha val="1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Oval 3"/>
          <p:cNvSpPr/>
          <p:nvPr/>
        </p:nvSpPr>
        <p:spPr>
          <a:xfrm>
            <a:off x="1982419" y="2596896"/>
            <a:ext cx="1887321" cy="1887321"/>
          </a:xfrm>
          <a:prstGeom prst="ellipse">
            <a:avLst/>
          </a:prstGeom>
          <a:solidFill>
            <a:srgbClr val="F4CD96">
              <a:alpha val="1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Freeform 4"/>
          <p:cNvSpPr/>
          <p:nvPr/>
        </p:nvSpPr>
        <p:spPr>
          <a:xfrm>
            <a:off x="1825142" y="2282342"/>
            <a:ext cx="2201875" cy="1258214"/>
          </a:xfrm>
          <a:custGeom>
            <a:avLst/>
            <a:gdLst/>
            <a:ahLst/>
            <a:cxnLst/>
            <a:rect l="l" t="t" r="r" b="b"/>
            <a:pathLst>
              <a:path w="2201875" h="1258214">
                <a:moveTo>
                  <a:pt x="1100938" y="0"/>
                </a:moveTo>
                <a:lnTo>
                  <a:pt x="2201875" y="629107"/>
                </a:lnTo>
                <a:lnTo>
                  <a:pt x="1100938" y="1258214"/>
                </a:lnTo>
                <a:lnTo>
                  <a:pt x="0" y="629107"/>
                </a:lnTo>
                <a:close/>
              </a:path>
            </a:pathLst>
          </a:custGeom>
          <a:solidFill>
            <a:srgbClr val="F4CD96">
              <a:alpha val="12000"/>
            </a:srgbClr>
          </a:solidFill>
          <a:ln w="22225">
            <a:solidFill>
              <a:srgbClr val="E3A3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Freeform 5"/>
          <p:cNvSpPr/>
          <p:nvPr/>
        </p:nvSpPr>
        <p:spPr>
          <a:xfrm>
            <a:off x="1825142" y="2911449"/>
            <a:ext cx="1100938" cy="1887322"/>
          </a:xfrm>
          <a:custGeom>
            <a:avLst/>
            <a:gdLst/>
            <a:ahLst/>
            <a:cxnLst/>
            <a:rect l="l" t="t" r="r" b="b"/>
            <a:pathLst>
              <a:path w="1100938" h="1887322">
                <a:moveTo>
                  <a:pt x="0" y="0"/>
                </a:moveTo>
                <a:lnTo>
                  <a:pt x="1100938" y="629107"/>
                </a:lnTo>
                <a:lnTo>
                  <a:pt x="1100938" y="1887322"/>
                </a:lnTo>
                <a:lnTo>
                  <a:pt x="0" y="1258214"/>
                </a:lnTo>
                <a:close/>
              </a:path>
            </a:pathLst>
          </a:custGeom>
          <a:solidFill>
            <a:srgbClr val="E3A35A">
              <a:alpha val="6000"/>
            </a:srgbClr>
          </a:solidFill>
          <a:ln w="22225">
            <a:solidFill>
              <a:srgbClr val="E3A3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Freeform 6"/>
          <p:cNvSpPr/>
          <p:nvPr/>
        </p:nvSpPr>
        <p:spPr>
          <a:xfrm>
            <a:off x="2926080" y="2911449"/>
            <a:ext cx="1100937" cy="1887322"/>
          </a:xfrm>
          <a:custGeom>
            <a:avLst/>
            <a:gdLst/>
            <a:ahLst/>
            <a:cxnLst/>
            <a:rect l="l" t="t" r="r" b="b"/>
            <a:pathLst>
              <a:path w="1100937" h="1887322">
                <a:moveTo>
                  <a:pt x="1100937" y="0"/>
                </a:moveTo>
                <a:lnTo>
                  <a:pt x="0" y="629107"/>
                </a:lnTo>
                <a:lnTo>
                  <a:pt x="0" y="1887322"/>
                </a:lnTo>
                <a:lnTo>
                  <a:pt x="1100937" y="1258214"/>
                </a:lnTo>
                <a:close/>
              </a:path>
            </a:pathLst>
          </a:custGeom>
          <a:solidFill>
            <a:srgbClr val="E3A35A">
              <a:alpha val="15000"/>
            </a:srgbClr>
          </a:solidFill>
          <a:ln w="22225">
            <a:solidFill>
              <a:srgbClr val="E3A3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394960" y="1783080"/>
            <a:ext cx="594360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2800" b="1">
                <a:solidFill>
                  <a:srgbClr val="F2ECE1"/>
                </a:solidFill>
                <a:latin typeface="Songti SC"/>
                <a:ea typeface="Songti SC"/>
                <a:cs typeface="Songti SC"/>
              </a:rPr>
              <a:t>你的经验是你的资产，</a:t>
            </a:r>
          </a:p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2800" b="1">
                <a:solidFill>
                  <a:srgbClr val="E3A35A"/>
                </a:solidFill>
                <a:latin typeface="Songti SC"/>
                <a:ea typeface="Songti SC"/>
                <a:cs typeface="Songti SC"/>
              </a:rPr>
              <a:t>应该放在你自己的地方。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394960" y="3246120"/>
            <a:ext cx="585216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65000"/>
              </a:lnSpc>
              <a:spcAft>
                <a:spcPts val="0"/>
              </a:spcAft>
            </a:pPr>
            <a:r>
              <a:rPr sz="1500" b="0">
                <a:solidFill>
                  <a:srgbClr val="BDB4A6"/>
                </a:solidFill>
                <a:latin typeface="PingFang SC"/>
                <a:ea typeface="PingFang SC"/>
                <a:cs typeface="PingFang SC"/>
              </a:rPr>
              <a:t>个人本体和全部对话保存在你自己的盒子里，分身也从这只盒子对外服务。正因为确信内容属于自己，人才会说真话。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394960" y="4617720"/>
            <a:ext cx="1051560" cy="548640"/>
          </a:xfrm>
          <a:prstGeom prst="roundRect">
            <a:avLst>
              <a:gd name="adj" fmla="val 30000"/>
            </a:avLst>
          </a:prstGeom>
          <a:solidFill>
            <a:srgbClr val="2C251B"/>
          </a:solidFill>
          <a:ln w="9525">
            <a:solidFill>
              <a:srgbClr val="E3A3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5394960" y="4617720"/>
            <a:ext cx="105156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30000"/>
              </a:lnSpc>
              <a:spcAft>
                <a:spcPts val="0"/>
              </a:spcAft>
            </a:pPr>
            <a:r>
              <a:rPr sz="1800" b="0">
                <a:solidFill>
                  <a:srgbClr val="E3A35A"/>
                </a:solidFill>
                <a:latin typeface="PingFang SC"/>
                <a:ea typeface="PingFang SC"/>
                <a:cs typeface="PingFang SC"/>
              </a:rPr>
              <a:t>持有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629400" y="4617720"/>
            <a:ext cx="1051560" cy="548640"/>
          </a:xfrm>
          <a:prstGeom prst="roundRect">
            <a:avLst>
              <a:gd name="adj" fmla="val 30000"/>
            </a:avLst>
          </a:prstGeom>
          <a:solidFill>
            <a:srgbClr val="2C251B"/>
          </a:solidFill>
          <a:ln w="9525">
            <a:solidFill>
              <a:srgbClr val="E3A3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6629400" y="4617720"/>
            <a:ext cx="105156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30000"/>
              </a:lnSpc>
              <a:spcAft>
                <a:spcPts val="0"/>
              </a:spcAft>
            </a:pPr>
            <a:r>
              <a:rPr sz="1800" b="0">
                <a:solidFill>
                  <a:srgbClr val="E3A35A"/>
                </a:solidFill>
                <a:latin typeface="PingFang SC"/>
                <a:ea typeface="PingFang SC"/>
                <a:cs typeface="PingFang SC"/>
              </a:rPr>
              <a:t>带走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863840" y="4617720"/>
            <a:ext cx="1051560" cy="548640"/>
          </a:xfrm>
          <a:prstGeom prst="roundRect">
            <a:avLst>
              <a:gd name="adj" fmla="val 30000"/>
            </a:avLst>
          </a:prstGeom>
          <a:solidFill>
            <a:srgbClr val="2C251B"/>
          </a:solidFill>
          <a:ln w="9525">
            <a:solidFill>
              <a:srgbClr val="E3A3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7863840" y="4617720"/>
            <a:ext cx="105156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30000"/>
              </a:lnSpc>
              <a:spcAft>
                <a:spcPts val="0"/>
              </a:spcAft>
            </a:pPr>
            <a:r>
              <a:rPr sz="1800" b="0">
                <a:solidFill>
                  <a:srgbClr val="E3A35A"/>
                </a:solidFill>
                <a:latin typeface="PingFang SC"/>
                <a:ea typeface="PingFang SC"/>
                <a:cs typeface="PingFang SC"/>
              </a:rPr>
              <a:t>延续</a:t>
            </a:r>
          </a:p>
        </p:txBody>
      </p:sp>
    </p:spTree>
  </p:cSld>
  <p:clrMapOvr>
    <a:masterClrMapping/>
  </p:clrMapOvr>
  <p:transition spd="med">
    <p:fade/>
  </p:transition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0F0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68680" y="502920"/>
            <a:ext cx="10454335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200" b="0">
                <a:solidFill>
                  <a:srgbClr val="E3A35A"/>
                </a:solidFill>
                <a:latin typeface="PingFang SC"/>
                <a:ea typeface="PingFang SC"/>
                <a:cs typeface="PingFang SC"/>
              </a:rPr>
              <a:t>差异化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822960"/>
            <a:ext cx="10454335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3200" b="1">
                <a:solidFill>
                  <a:srgbClr val="F2ECE1"/>
                </a:solidFill>
                <a:latin typeface="Songti SC"/>
                <a:ea typeface="Songti SC"/>
                <a:cs typeface="Songti SC"/>
              </a:rPr>
              <a:t>唯一把「认识自己」和「分享经验」</a:t>
            </a:r>
          </a:p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3200" b="1">
                <a:solidFill>
                  <a:srgbClr val="F2ECE1"/>
                </a:solidFill>
                <a:latin typeface="Songti SC"/>
                <a:ea typeface="Songti SC"/>
                <a:cs typeface="Songti SC"/>
              </a:rPr>
              <a:t>接在一起的产品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366759" y="2377440"/>
            <a:ext cx="2953512" cy="3108960"/>
          </a:xfrm>
          <a:prstGeom prst="roundRect">
            <a:avLst>
              <a:gd name="adj" fmla="val 4000"/>
            </a:avLst>
          </a:prstGeom>
          <a:solidFill>
            <a:srgbClr val="2C25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1033271" y="2377440"/>
            <a:ext cx="1280160" cy="7772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400" b="0">
                <a:solidFill>
                  <a:srgbClr val="7F776B"/>
                </a:solidFill>
                <a:latin typeface="PingFang SC"/>
                <a:ea typeface="PingFang SC"/>
                <a:cs typeface="PingFang SC"/>
              </a:rPr>
              <a:t/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587752" y="2377440"/>
            <a:ext cx="2377440" cy="7772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400" b="0">
                <a:solidFill>
                  <a:srgbClr val="7F776B"/>
                </a:solidFill>
                <a:latin typeface="PingFang SC"/>
                <a:ea typeface="PingFang SC"/>
                <a:cs typeface="PingFang SC"/>
              </a:rPr>
              <a:t>通用 AI 助手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239512" y="2377440"/>
            <a:ext cx="3017520" cy="7772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400" b="0">
                <a:solidFill>
                  <a:srgbClr val="7F776B"/>
                </a:solidFill>
                <a:latin typeface="PingFang SC"/>
                <a:ea typeface="PingFang SC"/>
                <a:cs typeface="PingFang SC"/>
              </a:rPr>
              <a:t>数字分身产品（如 Delphi）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31352" y="2377440"/>
            <a:ext cx="2679192" cy="7772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400" b="0">
                <a:solidFill>
                  <a:srgbClr val="E3A35A"/>
                </a:solidFill>
                <a:latin typeface="PingFang SC"/>
                <a:ea typeface="PingFang SC"/>
                <a:cs typeface="PingFang SC"/>
              </a:rPr>
              <a:t>知君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868680" y="3154680"/>
            <a:ext cx="10451592" cy="0"/>
          </a:xfrm>
          <a:prstGeom prst="line">
            <a:avLst/>
          </a:prstGeom>
          <a:ln w="9525">
            <a:solidFill>
              <a:srgbClr val="302B2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1033271" y="3154680"/>
            <a:ext cx="1280160" cy="7772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600" b="0">
                <a:solidFill>
                  <a:srgbClr val="F2ECE1"/>
                </a:solidFill>
                <a:latin typeface="PingFang SC"/>
                <a:ea typeface="PingFang SC"/>
                <a:cs typeface="PingFang SC"/>
              </a:rPr>
              <a:t>懂什么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587752" y="3154680"/>
            <a:ext cx="2377440" cy="7772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600" b="0">
                <a:solidFill>
                  <a:srgbClr val="BDB4A6"/>
                </a:solidFill>
                <a:latin typeface="PingFang SC"/>
                <a:ea typeface="PingFang SC"/>
                <a:cs typeface="PingFang SC"/>
              </a:rPr>
              <a:t>懂任务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239512" y="3154680"/>
            <a:ext cx="3017520" cy="7772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600" b="0">
                <a:solidFill>
                  <a:srgbClr val="BDB4A6"/>
                </a:solidFill>
                <a:latin typeface="PingFang SC"/>
                <a:ea typeface="PingFang SC"/>
                <a:cs typeface="PingFang SC"/>
              </a:rPr>
              <a:t>懂你公开说过的话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31352" y="3154680"/>
            <a:ext cx="2679192" cy="7772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600" b="0">
                <a:solidFill>
                  <a:srgbClr val="F2ECE1"/>
                </a:solidFill>
                <a:latin typeface="PingFang SC"/>
                <a:ea typeface="PingFang SC"/>
                <a:cs typeface="PingFang SC"/>
              </a:rPr>
              <a:t>懂你怎么做判断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868680" y="3931920"/>
            <a:ext cx="10451592" cy="0"/>
          </a:xfrm>
          <a:prstGeom prst="line">
            <a:avLst/>
          </a:prstGeom>
          <a:ln w="9525">
            <a:solidFill>
              <a:srgbClr val="302B2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1033271" y="3931920"/>
            <a:ext cx="1280160" cy="7772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600" b="0">
                <a:solidFill>
                  <a:srgbClr val="F2ECE1"/>
                </a:solidFill>
                <a:latin typeface="PingFang SC"/>
                <a:ea typeface="PingFang SC"/>
                <a:cs typeface="PingFang SC"/>
              </a:rPr>
              <a:t>为谁服务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587752" y="3931920"/>
            <a:ext cx="2377440" cy="7772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600" b="0">
                <a:solidFill>
                  <a:srgbClr val="BDB4A6"/>
                </a:solidFill>
                <a:latin typeface="PingFang SC"/>
                <a:ea typeface="PingFang SC"/>
                <a:cs typeface="PingFang SC"/>
              </a:rPr>
              <a:t>帮你干活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239512" y="3931920"/>
            <a:ext cx="3017520" cy="7772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600" b="0">
                <a:solidFill>
                  <a:srgbClr val="BDB4A6"/>
                </a:solidFill>
                <a:latin typeface="PingFang SC"/>
                <a:ea typeface="PingFang SC"/>
                <a:cs typeface="PingFang SC"/>
              </a:rPr>
              <a:t>替你对外发声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531352" y="3931920"/>
            <a:ext cx="2679192" cy="7772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600" b="0">
                <a:solidFill>
                  <a:srgbClr val="F2ECE1"/>
                </a:solidFill>
                <a:latin typeface="PingFang SC"/>
                <a:ea typeface="PingFang SC"/>
                <a:cs typeface="PingFang SC"/>
              </a:rPr>
              <a:t>先帮你认识自己，再替你分享经验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868680" y="4709159"/>
            <a:ext cx="10451592" cy="0"/>
          </a:xfrm>
          <a:prstGeom prst="line">
            <a:avLst/>
          </a:prstGeom>
          <a:ln w="9525">
            <a:solidFill>
              <a:srgbClr val="302B2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1033271" y="4709159"/>
            <a:ext cx="1280160" cy="7772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600" b="0">
                <a:solidFill>
                  <a:srgbClr val="F2ECE1"/>
                </a:solidFill>
                <a:latin typeface="PingFang SC"/>
                <a:ea typeface="PingFang SC"/>
                <a:cs typeface="PingFang SC"/>
              </a:rPr>
              <a:t>积累归谁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587752" y="4709159"/>
            <a:ext cx="2377440" cy="7772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600" b="0">
                <a:solidFill>
                  <a:srgbClr val="BDB4A6"/>
                </a:solidFill>
                <a:latin typeface="PingFang SC"/>
                <a:ea typeface="PingFang SC"/>
                <a:cs typeface="PingFang SC"/>
              </a:rPr>
              <a:t>平台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239512" y="4709159"/>
            <a:ext cx="3017520" cy="7772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600" b="0">
                <a:solidFill>
                  <a:srgbClr val="BDB4A6"/>
                </a:solidFill>
                <a:latin typeface="PingFang SC"/>
                <a:ea typeface="PingFang SC"/>
                <a:cs typeface="PingFang SC"/>
              </a:rPr>
              <a:t>平台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531352" y="4709159"/>
            <a:ext cx="2679192" cy="7772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600" b="0">
                <a:solidFill>
                  <a:srgbClr val="F2ECE1"/>
                </a:solidFill>
                <a:latin typeface="PingFang SC"/>
                <a:ea typeface="PingFang SC"/>
                <a:cs typeface="PingFang SC"/>
              </a:rPr>
              <a:t>你自己的盒子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868680" y="5486399"/>
            <a:ext cx="10451592" cy="0"/>
          </a:xfrm>
          <a:prstGeom prst="line">
            <a:avLst/>
          </a:prstGeom>
          <a:ln w="9525">
            <a:solidFill>
              <a:srgbClr val="302B2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  <p:transition spd="med">
    <p:fade/>
  </p:transition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0F0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68680" y="502920"/>
            <a:ext cx="10454335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200" b="0">
                <a:solidFill>
                  <a:srgbClr val="E3A35A"/>
                </a:solidFill>
                <a:latin typeface="PingFang SC"/>
                <a:ea typeface="PingFang SC"/>
                <a:cs typeface="PingFang SC"/>
              </a:rPr>
              <a:t>商业模式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822960"/>
            <a:ext cx="10454335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3600" b="1">
                <a:solidFill>
                  <a:srgbClr val="F2ECE1"/>
                </a:solidFill>
                <a:latin typeface="Songti SC"/>
                <a:ea typeface="Songti SC"/>
                <a:cs typeface="Songti SC"/>
              </a:rPr>
              <a:t>对标教练与咨询，不对标工具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68680" y="1783080"/>
            <a:ext cx="3346704" cy="2011680"/>
          </a:xfrm>
          <a:prstGeom prst="roundRect">
            <a:avLst>
              <a:gd name="adj" fmla="val 8000"/>
            </a:avLst>
          </a:prstGeom>
          <a:solidFill>
            <a:srgbClr val="1C1915"/>
          </a:solidFill>
          <a:ln w="12700">
            <a:solidFill>
              <a:srgbClr val="302B2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1161288" y="1965960"/>
            <a:ext cx="27432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3400" b="0">
                <a:solidFill>
                  <a:srgbClr val="E3A35A"/>
                </a:solidFill>
                <a:latin typeface="Songti SC"/>
                <a:ea typeface="Songti SC"/>
                <a:cs typeface="Songti SC"/>
              </a:rPr>
              <a:t>硬件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61288" y="2697480"/>
            <a:ext cx="2743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700" b="1">
                <a:solidFill>
                  <a:srgbClr val="F2ECE1"/>
                </a:solidFill>
                <a:latin typeface="PingFang SC"/>
                <a:ea typeface="PingFang SC"/>
                <a:cs typeface="PingFang SC"/>
              </a:rPr>
              <a:t>硬件销售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61288" y="3127248"/>
            <a:ext cx="2788920" cy="594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1250" b="0">
                <a:solidFill>
                  <a:srgbClr val="BDB4A6"/>
                </a:solidFill>
                <a:latin typeface="PingFang SC"/>
                <a:ea typeface="PingFang SC"/>
                <a:cs typeface="PingFang SC"/>
              </a:rPr>
              <a:t>私人记忆盒子，软硬件一体交付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416552" y="1783080"/>
            <a:ext cx="3346704" cy="2011680"/>
          </a:xfrm>
          <a:prstGeom prst="roundRect">
            <a:avLst>
              <a:gd name="adj" fmla="val 8000"/>
            </a:avLst>
          </a:prstGeom>
          <a:solidFill>
            <a:srgbClr val="1C1915"/>
          </a:solidFill>
          <a:ln w="12700">
            <a:solidFill>
              <a:srgbClr val="302B2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4709160" y="1965960"/>
            <a:ext cx="27432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3400" b="0">
                <a:solidFill>
                  <a:srgbClr val="E3A35A"/>
                </a:solidFill>
                <a:latin typeface="Songti SC"/>
                <a:ea typeface="Songti SC"/>
                <a:cs typeface="Songti SC"/>
              </a:rPr>
              <a:t>订阅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09160" y="2697480"/>
            <a:ext cx="2743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700" b="1">
                <a:solidFill>
                  <a:srgbClr val="F2ECE1"/>
                </a:solidFill>
                <a:latin typeface="PingFang SC"/>
                <a:ea typeface="PingFang SC"/>
                <a:cs typeface="PingFang SC"/>
              </a:rPr>
              <a:t>持续订阅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709160" y="3127248"/>
            <a:ext cx="2788920" cy="594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1250" b="0">
                <a:solidFill>
                  <a:srgbClr val="BDB4A6"/>
                </a:solidFill>
                <a:latin typeface="PingFang SC"/>
                <a:ea typeface="PingFang SC"/>
                <a:cs typeface="PingFang SC"/>
              </a:rPr>
              <a:t>模型增强、资料整理、维护支持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964423" y="1783080"/>
            <a:ext cx="3346704" cy="2011680"/>
          </a:xfrm>
          <a:prstGeom prst="roundRect">
            <a:avLst>
              <a:gd name="adj" fmla="val 8000"/>
            </a:avLst>
          </a:prstGeom>
          <a:solidFill>
            <a:srgbClr val="1C1915"/>
          </a:solidFill>
          <a:ln w="12700">
            <a:solidFill>
              <a:srgbClr val="302B2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8257031" y="1965960"/>
            <a:ext cx="27432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3400" b="0">
                <a:solidFill>
                  <a:srgbClr val="82BBAD"/>
                </a:solidFill>
                <a:latin typeface="Songti SC"/>
                <a:ea typeface="Songti SC"/>
                <a:cs typeface="Songti SC"/>
              </a:rPr>
              <a:t>分成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57031" y="2697480"/>
            <a:ext cx="2743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700" b="1">
                <a:solidFill>
                  <a:srgbClr val="F2ECE1"/>
                </a:solidFill>
                <a:latin typeface="PingFang SC"/>
                <a:ea typeface="PingFang SC"/>
                <a:cs typeface="PingFang SC"/>
              </a:rPr>
              <a:t>咨询分成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57031" y="3127248"/>
            <a:ext cx="2788920" cy="594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1250" b="0">
                <a:solidFill>
                  <a:srgbClr val="BDB4A6"/>
                </a:solidFill>
                <a:latin typeface="PingFang SC"/>
                <a:ea typeface="PingFang SC"/>
                <a:cs typeface="PingFang SC"/>
              </a:rPr>
              <a:t>通过分身产生的收费咨询，与主人共同受益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" y="4114800"/>
            <a:ext cx="10454335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5000"/>
              </a:lnSpc>
              <a:spcAft>
                <a:spcPts val="0"/>
              </a:spcAft>
            </a:pPr>
            <a:r>
              <a:rPr sz="1600" b="0">
                <a:solidFill>
                  <a:srgbClr val="F2ECE1"/>
                </a:solidFill>
                <a:latin typeface="PingFang SC"/>
                <a:ea typeface="PingFang SC"/>
                <a:cs typeface="PingFang SC"/>
              </a:rPr>
              <a:t>价值来自更好的判断和被放大的经验，不来自功能数量。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8680" y="4663440"/>
            <a:ext cx="10454335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5000"/>
              </a:lnSpc>
              <a:spcAft>
                <a:spcPts val="0"/>
              </a:spcAft>
            </a:pPr>
            <a:r>
              <a:rPr sz="1500" b="0">
                <a:solidFill>
                  <a:srgbClr val="BDB4A6"/>
                </a:solidFill>
                <a:latin typeface="PingFang SC"/>
                <a:ea typeface="PingFang SC"/>
                <a:cs typeface="PingFang SC"/>
              </a:rPr>
              <a:t>随着「一群人」和「一代人」展开，还会增加</a:t>
            </a:r>
            <a:r>
              <a:rPr sz="1500" b="0">
                <a:solidFill>
                  <a:srgbClr val="82BBAD"/>
                </a:solidFill>
                <a:latin typeface="PingFang SC"/>
                <a:ea typeface="PingFang SC"/>
                <a:cs typeface="PingFang SC"/>
              </a:rPr>
              <a:t>私董会会员</a:t>
            </a:r>
            <a:r>
              <a:rPr sz="1500" b="0">
                <a:solidFill>
                  <a:srgbClr val="BDB4A6"/>
                </a:solidFill>
                <a:latin typeface="PingFang SC"/>
                <a:ea typeface="PingFang SC"/>
                <a:cs typeface="PingFang SC"/>
              </a:rPr>
              <a:t>和</a:t>
            </a:r>
            <a:r>
              <a:rPr sz="1500" b="0">
                <a:solidFill>
                  <a:srgbClr val="82BBAD"/>
                </a:solidFill>
                <a:latin typeface="PingFang SC"/>
                <a:ea typeface="PingFang SC"/>
                <a:cs typeface="PingFang SC"/>
              </a:rPr>
              <a:t>企业服务</a:t>
            </a:r>
            <a:r>
              <a:rPr sz="1500" b="0">
                <a:solidFill>
                  <a:srgbClr val="BDB4A6"/>
                </a:solidFill>
                <a:latin typeface="PingFang SC"/>
                <a:ea typeface="PingFang SC"/>
                <a:cs typeface="PingFang SC"/>
              </a:rPr>
              <a:t>收入。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68680" y="5303520"/>
            <a:ext cx="1045433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200" b="0">
                <a:solidFill>
                  <a:srgbClr val="7F776B"/>
                </a:solidFill>
                <a:latin typeface="PingFang SC"/>
                <a:ea typeface="PingFang SC"/>
                <a:cs typeface="PingFang SC"/>
              </a:rPr>
              <a:t>价格、订阅权益和分成比例将在首批用户验证后确定；本册不使用未经验证的收入预测。</a:t>
            </a:r>
          </a:p>
        </p:txBody>
      </p:sp>
    </p:spTree>
  </p:cSld>
  <p:clrMapOvr>
    <a:masterClrMapping/>
  </p:clrMapOvr>
  <p:transition spd="med">
    <p:fade/>
  </p:transition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0F0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68680" y="502920"/>
            <a:ext cx="10454335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200" b="0">
                <a:solidFill>
                  <a:srgbClr val="E3A35A"/>
                </a:solidFill>
                <a:latin typeface="PingFang SC"/>
                <a:ea typeface="PingFang SC"/>
                <a:cs typeface="PingFang SC"/>
              </a:rPr>
              <a:t>市场拓展</a:t>
            </a:r>
          </a:p>
        </p:txBody>
      </p:sp>
      <p:sp>
        <p:nvSpPr>
          <p:cNvPr id="3" name="Oval 2"/>
          <p:cNvSpPr/>
          <p:nvPr/>
        </p:nvSpPr>
        <p:spPr>
          <a:xfrm>
            <a:off x="777240" y="1600200"/>
            <a:ext cx="4663440" cy="4663440"/>
          </a:xfrm>
          <a:prstGeom prst="ellipse">
            <a:avLst/>
          </a:prstGeom>
          <a:solidFill>
            <a:srgbClr val="82BBAD">
              <a:alpha val="5000"/>
            </a:srgbClr>
          </a:solidFill>
          <a:ln w="12700">
            <a:solidFill>
              <a:srgbClr val="82BBA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Oval 3"/>
          <p:cNvSpPr/>
          <p:nvPr/>
        </p:nvSpPr>
        <p:spPr>
          <a:xfrm>
            <a:off x="1463039" y="2834640"/>
            <a:ext cx="3291840" cy="3291840"/>
          </a:xfrm>
          <a:prstGeom prst="ellipse">
            <a:avLst/>
          </a:prstGeom>
          <a:solidFill>
            <a:srgbClr val="E3A35A">
              <a:alpha val="6000"/>
            </a:srgbClr>
          </a:solidFill>
          <a:ln w="12700">
            <a:solidFill>
              <a:srgbClr val="E3A3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Oval 4"/>
          <p:cNvSpPr/>
          <p:nvPr/>
        </p:nvSpPr>
        <p:spPr>
          <a:xfrm>
            <a:off x="2148839" y="4114800"/>
            <a:ext cx="1920240" cy="1920240"/>
          </a:xfrm>
          <a:prstGeom prst="ellipse">
            <a:avLst/>
          </a:prstGeom>
          <a:solidFill>
            <a:srgbClr val="E3A35A">
              <a:alpha val="18000"/>
            </a:srgbClr>
          </a:solidFill>
          <a:ln w="19050">
            <a:solidFill>
              <a:srgbClr val="E3A3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2651760" y="1737360"/>
            <a:ext cx="914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0000"/>
              </a:lnSpc>
              <a:spcAft>
                <a:spcPts val="0"/>
              </a:spcAft>
            </a:pPr>
            <a:r>
              <a:rPr sz="1500" b="0">
                <a:solidFill>
                  <a:srgbClr val="82BBAD"/>
                </a:solidFill>
                <a:latin typeface="PingFang SC"/>
                <a:ea typeface="PingFang SC"/>
                <a:cs typeface="PingFang SC"/>
              </a:rPr>
              <a:t>延展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651760" y="2971800"/>
            <a:ext cx="914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0000"/>
              </a:lnSpc>
              <a:spcAft>
                <a:spcPts val="0"/>
              </a:spcAft>
            </a:pPr>
            <a:r>
              <a:rPr sz="1500" b="0">
                <a:solidFill>
                  <a:srgbClr val="E3A35A"/>
                </a:solidFill>
                <a:latin typeface="PingFang SC"/>
                <a:ea typeface="PingFang SC"/>
                <a:cs typeface="PingFang SC"/>
              </a:rPr>
              <a:t>相邻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651760" y="4892040"/>
            <a:ext cx="914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0000"/>
              </a:lnSpc>
              <a:spcAft>
                <a:spcPts val="0"/>
              </a:spcAft>
            </a:pPr>
            <a:r>
              <a:rPr sz="1700" b="0">
                <a:solidFill>
                  <a:srgbClr val="F4CD96"/>
                </a:solidFill>
                <a:latin typeface="PingFang SC"/>
                <a:ea typeface="PingFang SC"/>
                <a:cs typeface="PingFang SC"/>
              </a:rPr>
              <a:t>切入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0" y="1143000"/>
            <a:ext cx="9144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800" b="1">
                <a:solidFill>
                  <a:srgbClr val="E3A35A"/>
                </a:solidFill>
                <a:latin typeface="Songti SC"/>
                <a:ea typeface="Songti SC"/>
                <a:cs typeface="Songti SC"/>
              </a:rPr>
              <a:t>切入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995160" y="1161288"/>
            <a:ext cx="4343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450" b="1">
                <a:solidFill>
                  <a:srgbClr val="F2ECE1"/>
                </a:solidFill>
                <a:latin typeface="PingFang SC"/>
                <a:ea typeface="PingFang SC"/>
                <a:cs typeface="PingFang SC"/>
              </a:rPr>
              <a:t>企业经营者、高管与独立顾问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995160" y="1554480"/>
            <a:ext cx="434340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  <a:spcAft>
                <a:spcPts val="0"/>
              </a:spcAft>
            </a:pPr>
            <a:r>
              <a:rPr sz="1250" b="0">
                <a:solidFill>
                  <a:srgbClr val="BDB4A6"/>
                </a:solidFill>
                <a:latin typeface="PingFang SC"/>
                <a:ea typeface="PingFang SC"/>
                <a:cs typeface="PingFang SC"/>
              </a:rPr>
              <a:t>最需要好的判断，也最有经验可以分享。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6035040" y="2212848"/>
            <a:ext cx="5285232" cy="0"/>
          </a:xfrm>
          <a:prstGeom prst="line">
            <a:avLst/>
          </a:prstGeom>
          <a:ln w="9525">
            <a:solidFill>
              <a:srgbClr val="302B2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6035040" y="2331720"/>
            <a:ext cx="9144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800" b="1">
                <a:solidFill>
                  <a:srgbClr val="E3A35A"/>
                </a:solidFill>
                <a:latin typeface="Songti SC"/>
                <a:ea typeface="Songti SC"/>
                <a:cs typeface="Songti SC"/>
              </a:rPr>
              <a:t>相邻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95160" y="2350008"/>
            <a:ext cx="4343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450" b="1">
                <a:solidFill>
                  <a:srgbClr val="F2ECE1"/>
                </a:solidFill>
                <a:latin typeface="PingFang SC"/>
                <a:ea typeface="PingFang SC"/>
                <a:cs typeface="PingFang SC"/>
              </a:rPr>
              <a:t>培训者、教练与专业工作室负责人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95160" y="2743200"/>
            <a:ext cx="434340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  <a:spcAft>
                <a:spcPts val="0"/>
              </a:spcAft>
            </a:pPr>
            <a:r>
              <a:rPr sz="1250" b="0">
                <a:solidFill>
                  <a:srgbClr val="BDB4A6"/>
                </a:solidFill>
                <a:latin typeface="PingFang SC"/>
                <a:ea typeface="PingFang SC"/>
                <a:cs typeface="PingFang SC"/>
              </a:rPr>
              <a:t>把课程、方法和经验变成可以随时提问的服务。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6035040" y="3401568"/>
            <a:ext cx="5285232" cy="0"/>
          </a:xfrm>
          <a:prstGeom prst="line">
            <a:avLst/>
          </a:prstGeom>
          <a:ln w="9525">
            <a:solidFill>
              <a:srgbClr val="302B2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6035040" y="3520440"/>
            <a:ext cx="9144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800" b="1">
                <a:solidFill>
                  <a:srgbClr val="82BBAD"/>
                </a:solidFill>
                <a:latin typeface="Songti SC"/>
                <a:ea typeface="Songti SC"/>
                <a:cs typeface="Songti SC"/>
              </a:rPr>
              <a:t>延展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995160" y="3538728"/>
            <a:ext cx="4343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450" b="1">
                <a:solidFill>
                  <a:srgbClr val="F2ECE1"/>
                </a:solidFill>
                <a:latin typeface="PingFang SC"/>
                <a:ea typeface="PingFang SC"/>
                <a:cs typeface="PingFang SC"/>
              </a:rPr>
              <a:t>知识创作者与更多专业人士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995160" y="3931920"/>
            <a:ext cx="434340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  <a:spcAft>
                <a:spcPts val="0"/>
              </a:spcAft>
            </a:pPr>
            <a:r>
              <a:rPr sz="1250" b="0">
                <a:solidFill>
                  <a:srgbClr val="BDB4A6"/>
                </a:solidFill>
                <a:latin typeface="PingFang SC"/>
                <a:ea typeface="PingFang SC"/>
                <a:cs typeface="PingFang SC"/>
              </a:rPr>
              <a:t>每个有积累的人，都可以有一个懂自己的知君和一个替自己分享的分身。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6035040" y="4590288"/>
            <a:ext cx="5285232" cy="0"/>
          </a:xfrm>
          <a:prstGeom prst="line">
            <a:avLst/>
          </a:prstGeom>
          <a:ln w="9525">
            <a:solidFill>
              <a:srgbClr val="302B2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Rectangle 20"/>
          <p:cNvSpPr/>
          <p:nvPr/>
        </p:nvSpPr>
        <p:spPr>
          <a:xfrm>
            <a:off x="6035040" y="4882896"/>
            <a:ext cx="36576" cy="749808"/>
          </a:xfrm>
          <a:prstGeom prst="rect">
            <a:avLst/>
          </a:prstGeom>
          <a:solidFill>
            <a:srgbClr val="E3A3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6236207" y="4846320"/>
            <a:ext cx="5084064" cy="8229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1300" b="0">
                <a:solidFill>
                  <a:srgbClr val="BDB4A6"/>
                </a:solidFill>
                <a:latin typeface="PingFang SC"/>
                <a:ea typeface="PingFang SC"/>
                <a:cs typeface="PingFang SC"/>
              </a:rPr>
              <a:t>渠道：半人马 AI 学院、经营者社群和顾问社群。顾问邀请客户使用分身，客户中出现新的盒子主人。</a:t>
            </a:r>
          </a:p>
        </p:txBody>
      </p:sp>
    </p:spTree>
  </p:cSld>
  <p:clrMapOvr>
    <a:masterClrMapping/>
  </p:clrMapOvr>
  <p:transition spd="med">
    <p:fade/>
  </p:transition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0F0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68680" y="502920"/>
            <a:ext cx="10454335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200" b="0">
                <a:solidFill>
                  <a:srgbClr val="E3A35A"/>
                </a:solidFill>
                <a:latin typeface="PingFang SC"/>
                <a:ea typeface="PingFang SC"/>
                <a:cs typeface="PingFang SC"/>
              </a:rPr>
              <a:t>未来的可能性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822960"/>
            <a:ext cx="10454335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3600" b="1">
                <a:solidFill>
                  <a:srgbClr val="F2ECE1"/>
                </a:solidFill>
                <a:latin typeface="Songti SC"/>
                <a:ea typeface="Songti SC"/>
                <a:cs typeface="Songti SC"/>
              </a:rPr>
              <a:t>一个人 → 一群人 → 一代人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" y="1600200"/>
            <a:ext cx="10454335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5000"/>
              </a:lnSpc>
              <a:spcAft>
                <a:spcPts val="0"/>
              </a:spcAft>
            </a:pPr>
            <a:r>
              <a:rPr sz="1700" b="0">
                <a:solidFill>
                  <a:srgbClr val="BDB4A6"/>
                </a:solidFill>
                <a:latin typeface="PingFang SC"/>
                <a:ea typeface="PingFang SC"/>
                <a:cs typeface="PingFang SC"/>
              </a:rPr>
              <a:t>知君的未来沿着一条线展开，终点是一种新的经验经济。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68680" y="2286000"/>
            <a:ext cx="3154680" cy="3017520"/>
          </a:xfrm>
          <a:prstGeom prst="roundRect">
            <a:avLst>
              <a:gd name="adj" fmla="val 8000"/>
            </a:avLst>
          </a:prstGeom>
          <a:solidFill>
            <a:srgbClr val="1C1915"/>
          </a:solidFill>
          <a:ln w="12700">
            <a:solidFill>
              <a:srgbClr val="302B2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Oval 5"/>
          <p:cNvSpPr/>
          <p:nvPr/>
        </p:nvSpPr>
        <p:spPr>
          <a:xfrm>
            <a:off x="2080260" y="2560320"/>
            <a:ext cx="731520" cy="731520"/>
          </a:xfrm>
          <a:prstGeom prst="ellipse">
            <a:avLst/>
          </a:prstGeom>
          <a:noFill/>
          <a:ln w="15875">
            <a:solidFill>
              <a:srgbClr val="82BBAD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Oval 6"/>
          <p:cNvSpPr/>
          <p:nvPr/>
        </p:nvSpPr>
        <p:spPr>
          <a:xfrm>
            <a:off x="2235708" y="2715768"/>
            <a:ext cx="420624" cy="420624"/>
          </a:xfrm>
          <a:prstGeom prst="ellipse">
            <a:avLst/>
          </a:prstGeom>
          <a:solidFill>
            <a:srgbClr val="E3A35A">
              <a:alpha val="35000"/>
            </a:srgbClr>
          </a:solidFill>
          <a:ln w="19050">
            <a:solidFill>
              <a:srgbClr val="E3A3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1143000" y="3520440"/>
            <a:ext cx="260604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2400" b="1">
                <a:solidFill>
                  <a:srgbClr val="E3A35A"/>
                </a:solidFill>
                <a:latin typeface="Songti SC"/>
                <a:ea typeface="Songti SC"/>
                <a:cs typeface="Songti SC"/>
              </a:rPr>
              <a:t>一个人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4069080"/>
            <a:ext cx="260604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  <a:spcAft>
                <a:spcPts val="0"/>
              </a:spcAft>
            </a:pPr>
            <a:r>
              <a:rPr sz="1300" b="0">
                <a:solidFill>
                  <a:srgbClr val="BDB4A6"/>
                </a:solidFill>
                <a:latin typeface="PingFang SC"/>
                <a:ea typeface="PingFang SC"/>
                <a:cs typeface="PingFang SC"/>
              </a:rPr>
              <a:t>被真正理解，做更好的决定；</a:t>
            </a:r>
          </a:p>
          <a:p>
            <a:pPr algn="l">
              <a:lnSpc>
                <a:spcPct val="150000"/>
              </a:lnSpc>
              <a:spcAft>
                <a:spcPts val="0"/>
              </a:spcAft>
            </a:pPr>
            <a:r>
              <a:rPr sz="1300" b="0">
                <a:solidFill>
                  <a:srgbClr val="BDB4A6"/>
                </a:solidFill>
                <a:latin typeface="PingFang SC"/>
                <a:ea typeface="PingFang SC"/>
                <a:cs typeface="PingFang SC"/>
              </a:rPr>
              <a:t>经验被放大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143000" y="4800600"/>
            <a:ext cx="551688" cy="274320"/>
          </a:xfrm>
          <a:prstGeom prst="roundRect">
            <a:avLst>
              <a:gd name="adj" fmla="val 30000"/>
            </a:avLst>
          </a:prstGeom>
          <a:solidFill>
            <a:srgbClr val="1C1915"/>
          </a:solidFill>
          <a:ln w="9525">
            <a:solidFill>
              <a:srgbClr val="7F77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1143000" y="4800600"/>
            <a:ext cx="551688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30000"/>
              </a:lnSpc>
              <a:spcAft>
                <a:spcPts val="0"/>
              </a:spcAft>
            </a:pPr>
            <a:r>
              <a:rPr sz="1000" b="0">
                <a:solidFill>
                  <a:srgbClr val="7F776B"/>
                </a:solidFill>
                <a:latin typeface="PingFang SC"/>
                <a:ea typeface="PingFang SC"/>
                <a:cs typeface="PingFang SC"/>
              </a:rPr>
              <a:t>本体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767840" y="4800600"/>
            <a:ext cx="551688" cy="274320"/>
          </a:xfrm>
          <a:prstGeom prst="roundRect">
            <a:avLst>
              <a:gd name="adj" fmla="val 30000"/>
            </a:avLst>
          </a:prstGeom>
          <a:solidFill>
            <a:srgbClr val="1C1915"/>
          </a:solidFill>
          <a:ln w="9525">
            <a:solidFill>
              <a:srgbClr val="7F77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1767840" y="4800600"/>
            <a:ext cx="551688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30000"/>
              </a:lnSpc>
              <a:spcAft>
                <a:spcPts val="0"/>
              </a:spcAft>
            </a:pPr>
            <a:r>
              <a:rPr sz="1000" b="0">
                <a:solidFill>
                  <a:srgbClr val="7F776B"/>
                </a:solidFill>
                <a:latin typeface="PingFang SC"/>
                <a:ea typeface="PingFang SC"/>
                <a:cs typeface="PingFang SC"/>
              </a:rPr>
              <a:t>分身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2392680" y="4800600"/>
            <a:ext cx="810768" cy="274320"/>
          </a:xfrm>
          <a:prstGeom prst="roundRect">
            <a:avLst>
              <a:gd name="adj" fmla="val 30000"/>
            </a:avLst>
          </a:prstGeom>
          <a:solidFill>
            <a:srgbClr val="1C1915"/>
          </a:solidFill>
          <a:ln w="9525">
            <a:solidFill>
              <a:srgbClr val="7F77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2392680" y="4800600"/>
            <a:ext cx="810768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30000"/>
              </a:lnSpc>
              <a:spcAft>
                <a:spcPts val="0"/>
              </a:spcAft>
            </a:pPr>
            <a:r>
              <a:rPr sz="1000" b="0">
                <a:solidFill>
                  <a:srgbClr val="7F776B"/>
                </a:solidFill>
                <a:latin typeface="PingFang SC"/>
                <a:ea typeface="PingFang SC"/>
                <a:cs typeface="PingFang SC"/>
              </a:rPr>
              <a:t>人生之书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4114800" y="3794760"/>
            <a:ext cx="310896" cy="0"/>
          </a:xfrm>
          <a:prstGeom prst="line">
            <a:avLst/>
          </a:prstGeom>
          <a:ln w="19050">
            <a:solidFill>
              <a:srgbClr val="7F776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Rounded Rectangle 16"/>
          <p:cNvSpPr/>
          <p:nvPr/>
        </p:nvSpPr>
        <p:spPr>
          <a:xfrm>
            <a:off x="4517136" y="2286000"/>
            <a:ext cx="3154680" cy="3017520"/>
          </a:xfrm>
          <a:prstGeom prst="roundRect">
            <a:avLst>
              <a:gd name="adj" fmla="val 8000"/>
            </a:avLst>
          </a:prstGeom>
          <a:solidFill>
            <a:srgbClr val="1C1915"/>
          </a:solidFill>
          <a:ln w="12700">
            <a:solidFill>
              <a:srgbClr val="302B2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cxnSp>
        <p:nvCxnSpPr>
          <p:cNvPr id="18" name="Connector 17"/>
          <p:cNvCxnSpPr/>
          <p:nvPr/>
        </p:nvCxnSpPr>
        <p:spPr>
          <a:xfrm flipH="1" flipV="1">
            <a:off x="5545836" y="2697480"/>
            <a:ext cx="548640" cy="228600"/>
          </a:xfrm>
          <a:prstGeom prst="line">
            <a:avLst/>
          </a:prstGeom>
          <a:ln w="12700">
            <a:solidFill>
              <a:srgbClr val="82BBA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 flipV="1">
            <a:off x="6094476" y="2697480"/>
            <a:ext cx="548640" cy="228600"/>
          </a:xfrm>
          <a:prstGeom prst="line">
            <a:avLst/>
          </a:prstGeom>
          <a:ln w="12700">
            <a:solidFill>
              <a:srgbClr val="82BBA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 flipH="1">
            <a:off x="5545836" y="2926080"/>
            <a:ext cx="548640" cy="228600"/>
          </a:xfrm>
          <a:prstGeom prst="line">
            <a:avLst/>
          </a:prstGeom>
          <a:ln w="12700">
            <a:solidFill>
              <a:srgbClr val="82BBA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6094476" y="2926080"/>
            <a:ext cx="548640" cy="228600"/>
          </a:xfrm>
          <a:prstGeom prst="line">
            <a:avLst/>
          </a:prstGeom>
          <a:ln w="12700">
            <a:solidFill>
              <a:srgbClr val="82BBA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545836" y="2697480"/>
            <a:ext cx="1097280" cy="0"/>
          </a:xfrm>
          <a:prstGeom prst="line">
            <a:avLst/>
          </a:prstGeom>
          <a:ln w="12700">
            <a:solidFill>
              <a:srgbClr val="82BBA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Oval 22"/>
          <p:cNvSpPr/>
          <p:nvPr/>
        </p:nvSpPr>
        <p:spPr>
          <a:xfrm>
            <a:off x="5966460" y="2798064"/>
            <a:ext cx="256032" cy="256032"/>
          </a:xfrm>
          <a:prstGeom prst="ellipse">
            <a:avLst/>
          </a:prstGeom>
          <a:solidFill>
            <a:srgbClr val="E3A35A">
              <a:alpha val="40000"/>
            </a:srgbClr>
          </a:solidFill>
          <a:ln w="19050">
            <a:solidFill>
              <a:srgbClr val="E3A3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Oval 23"/>
          <p:cNvSpPr/>
          <p:nvPr/>
        </p:nvSpPr>
        <p:spPr>
          <a:xfrm>
            <a:off x="5454396" y="2606040"/>
            <a:ext cx="182880" cy="182880"/>
          </a:xfrm>
          <a:prstGeom prst="ellipse">
            <a:avLst/>
          </a:prstGeom>
          <a:solidFill>
            <a:srgbClr val="82BBAD">
              <a:alpha val="30000"/>
            </a:srgbClr>
          </a:solidFill>
          <a:ln w="15875">
            <a:solidFill>
              <a:srgbClr val="82BBA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Oval 24"/>
          <p:cNvSpPr/>
          <p:nvPr/>
        </p:nvSpPr>
        <p:spPr>
          <a:xfrm>
            <a:off x="6551676" y="2606040"/>
            <a:ext cx="182880" cy="182880"/>
          </a:xfrm>
          <a:prstGeom prst="ellipse">
            <a:avLst/>
          </a:prstGeom>
          <a:solidFill>
            <a:srgbClr val="82BBAD">
              <a:alpha val="30000"/>
            </a:srgbClr>
          </a:solidFill>
          <a:ln w="15875">
            <a:solidFill>
              <a:srgbClr val="82BBA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Oval 25"/>
          <p:cNvSpPr/>
          <p:nvPr/>
        </p:nvSpPr>
        <p:spPr>
          <a:xfrm>
            <a:off x="5454396" y="3063240"/>
            <a:ext cx="182880" cy="182880"/>
          </a:xfrm>
          <a:prstGeom prst="ellipse">
            <a:avLst/>
          </a:prstGeom>
          <a:solidFill>
            <a:srgbClr val="82BBAD">
              <a:alpha val="30000"/>
            </a:srgbClr>
          </a:solidFill>
          <a:ln w="15875">
            <a:solidFill>
              <a:srgbClr val="82BBA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Oval 26"/>
          <p:cNvSpPr/>
          <p:nvPr/>
        </p:nvSpPr>
        <p:spPr>
          <a:xfrm>
            <a:off x="6551676" y="3063240"/>
            <a:ext cx="182880" cy="182880"/>
          </a:xfrm>
          <a:prstGeom prst="ellipse">
            <a:avLst/>
          </a:prstGeom>
          <a:solidFill>
            <a:srgbClr val="82BBAD">
              <a:alpha val="30000"/>
            </a:srgbClr>
          </a:solidFill>
          <a:ln w="15875">
            <a:solidFill>
              <a:srgbClr val="82BBA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TextBox 27"/>
          <p:cNvSpPr txBox="1"/>
          <p:nvPr/>
        </p:nvSpPr>
        <p:spPr>
          <a:xfrm>
            <a:off x="4791456" y="3520440"/>
            <a:ext cx="260604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2400" b="1">
                <a:solidFill>
                  <a:srgbClr val="82BBAD"/>
                </a:solidFill>
                <a:latin typeface="Songti SC"/>
                <a:ea typeface="Songti SC"/>
                <a:cs typeface="Songti SC"/>
              </a:rPr>
              <a:t>一群人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791456" y="4069080"/>
            <a:ext cx="260604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  <a:spcAft>
                <a:spcPts val="0"/>
              </a:spcAft>
            </a:pPr>
            <a:r>
              <a:rPr sz="1300" b="0">
                <a:solidFill>
                  <a:srgbClr val="BDB4A6"/>
                </a:solidFill>
                <a:latin typeface="PingFang SC"/>
                <a:ea typeface="PingFang SC"/>
                <a:cs typeface="PingFang SC"/>
              </a:rPr>
              <a:t>经验相互连接，</a:t>
            </a:r>
          </a:p>
          <a:p>
            <a:pPr algn="l">
              <a:lnSpc>
                <a:spcPct val="150000"/>
              </a:lnSpc>
              <a:spcAft>
                <a:spcPts val="0"/>
              </a:spcAft>
            </a:pPr>
            <a:r>
              <a:rPr sz="1300" b="0">
                <a:solidFill>
                  <a:srgbClr val="BDB4A6"/>
                </a:solidFill>
                <a:latin typeface="PingFang SC"/>
                <a:ea typeface="PingFang SC"/>
                <a:cs typeface="PingFang SC"/>
              </a:rPr>
              <a:t>孤独的决策者有了同伴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791456" y="4800600"/>
            <a:ext cx="1069848" cy="274320"/>
          </a:xfrm>
          <a:prstGeom prst="roundRect">
            <a:avLst>
              <a:gd name="adj" fmla="val 30000"/>
            </a:avLst>
          </a:prstGeom>
          <a:solidFill>
            <a:srgbClr val="1C1915"/>
          </a:solidFill>
          <a:ln w="9525">
            <a:solidFill>
              <a:srgbClr val="7F77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1" name="TextBox 30"/>
          <p:cNvSpPr txBox="1"/>
          <p:nvPr/>
        </p:nvSpPr>
        <p:spPr>
          <a:xfrm>
            <a:off x="4791456" y="4800600"/>
            <a:ext cx="1069848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30000"/>
              </a:lnSpc>
              <a:spcAft>
                <a:spcPts val="0"/>
              </a:spcAft>
            </a:pPr>
            <a:r>
              <a:rPr sz="1000" b="0">
                <a:solidFill>
                  <a:srgbClr val="7F776B"/>
                </a:solidFill>
                <a:latin typeface="PingFang SC"/>
                <a:ea typeface="PingFang SC"/>
                <a:cs typeface="PingFang SC"/>
              </a:rPr>
              <a:t>AI 私董会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5934456" y="4800600"/>
            <a:ext cx="810768" cy="274320"/>
          </a:xfrm>
          <a:prstGeom prst="roundRect">
            <a:avLst>
              <a:gd name="adj" fmla="val 30000"/>
            </a:avLst>
          </a:prstGeom>
          <a:solidFill>
            <a:srgbClr val="1C1915"/>
          </a:solidFill>
          <a:ln w="9525">
            <a:solidFill>
              <a:srgbClr val="7F77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" name="TextBox 32"/>
          <p:cNvSpPr txBox="1"/>
          <p:nvPr/>
        </p:nvSpPr>
        <p:spPr>
          <a:xfrm>
            <a:off x="5934456" y="4800600"/>
            <a:ext cx="810768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30000"/>
              </a:lnSpc>
              <a:spcAft>
                <a:spcPts val="0"/>
              </a:spcAft>
            </a:pPr>
            <a:r>
              <a:rPr sz="1000" b="0">
                <a:solidFill>
                  <a:srgbClr val="7F776B"/>
                </a:solidFill>
                <a:latin typeface="PingFang SC"/>
                <a:ea typeface="PingFang SC"/>
                <a:cs typeface="PingFang SC"/>
              </a:rPr>
              <a:t>专家网络</a:t>
            </a:r>
          </a:p>
        </p:txBody>
      </p:sp>
      <p:cxnSp>
        <p:nvCxnSpPr>
          <p:cNvPr id="34" name="Connector 33"/>
          <p:cNvCxnSpPr/>
          <p:nvPr/>
        </p:nvCxnSpPr>
        <p:spPr>
          <a:xfrm>
            <a:off x="7763256" y="3794760"/>
            <a:ext cx="310896" cy="0"/>
          </a:xfrm>
          <a:prstGeom prst="line">
            <a:avLst/>
          </a:prstGeom>
          <a:ln w="19050">
            <a:solidFill>
              <a:srgbClr val="7F776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Rounded Rectangle 34"/>
          <p:cNvSpPr/>
          <p:nvPr/>
        </p:nvSpPr>
        <p:spPr>
          <a:xfrm>
            <a:off x="8165592" y="2286000"/>
            <a:ext cx="3154680" cy="3017520"/>
          </a:xfrm>
          <a:prstGeom prst="roundRect">
            <a:avLst>
              <a:gd name="adj" fmla="val 8000"/>
            </a:avLst>
          </a:prstGeom>
          <a:solidFill>
            <a:srgbClr val="1C1915"/>
          </a:solidFill>
          <a:ln w="12700">
            <a:solidFill>
              <a:srgbClr val="302B2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cxnSp>
        <p:nvCxnSpPr>
          <p:cNvPr id="36" name="Connector 35"/>
          <p:cNvCxnSpPr/>
          <p:nvPr/>
        </p:nvCxnSpPr>
        <p:spPr>
          <a:xfrm>
            <a:off x="9331452" y="2761488"/>
            <a:ext cx="301752" cy="137160"/>
          </a:xfrm>
          <a:prstGeom prst="line">
            <a:avLst/>
          </a:prstGeom>
          <a:ln w="15875">
            <a:solidFill>
              <a:srgbClr val="7F77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>
            <a:off x="9852659" y="2990088"/>
            <a:ext cx="301752" cy="118872"/>
          </a:xfrm>
          <a:prstGeom prst="line">
            <a:avLst/>
          </a:prstGeom>
          <a:ln w="15875">
            <a:solidFill>
              <a:srgbClr val="7F77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Oval 37"/>
          <p:cNvSpPr/>
          <p:nvPr/>
        </p:nvSpPr>
        <p:spPr>
          <a:xfrm>
            <a:off x="9057132" y="2542032"/>
            <a:ext cx="310896" cy="310896"/>
          </a:xfrm>
          <a:prstGeom prst="ellipse">
            <a:avLst/>
          </a:prstGeom>
          <a:solidFill>
            <a:srgbClr val="E3A35A">
              <a:alpha val="40000"/>
            </a:srgbClr>
          </a:solidFill>
          <a:ln w="19050">
            <a:solidFill>
              <a:srgbClr val="E3A3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9" name="Oval 38"/>
          <p:cNvSpPr/>
          <p:nvPr/>
        </p:nvSpPr>
        <p:spPr>
          <a:xfrm>
            <a:off x="9624059" y="2807208"/>
            <a:ext cx="237744" cy="237744"/>
          </a:xfrm>
          <a:prstGeom prst="ellipse">
            <a:avLst/>
          </a:prstGeom>
          <a:solidFill>
            <a:srgbClr val="F4CD96">
              <a:alpha val="20000"/>
            </a:srgbClr>
          </a:solidFill>
          <a:ln w="19050">
            <a:solidFill>
              <a:srgbClr val="F4CD9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0" name="Oval 39"/>
          <p:cNvSpPr/>
          <p:nvPr/>
        </p:nvSpPr>
        <p:spPr>
          <a:xfrm>
            <a:off x="10181844" y="3063240"/>
            <a:ext cx="182880" cy="182880"/>
          </a:xfrm>
          <a:prstGeom prst="ellipse">
            <a:avLst/>
          </a:prstGeom>
          <a:solidFill>
            <a:srgbClr val="82BBAD">
              <a:alpha val="30000"/>
            </a:srgbClr>
          </a:solidFill>
          <a:ln w="19050">
            <a:solidFill>
              <a:srgbClr val="82BBA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1" name="TextBox 40"/>
          <p:cNvSpPr txBox="1"/>
          <p:nvPr/>
        </p:nvSpPr>
        <p:spPr>
          <a:xfrm>
            <a:off x="8439912" y="3520440"/>
            <a:ext cx="260604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2400" b="1">
                <a:solidFill>
                  <a:srgbClr val="F2ECE1"/>
                </a:solidFill>
                <a:latin typeface="Songti SC"/>
                <a:ea typeface="Songti SC"/>
                <a:cs typeface="Songti SC"/>
              </a:rPr>
              <a:t>一代人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439912" y="4069080"/>
            <a:ext cx="260604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  <a:spcAft>
                <a:spcPts val="0"/>
              </a:spcAft>
            </a:pPr>
            <a:r>
              <a:rPr sz="1300" b="0">
                <a:solidFill>
                  <a:srgbClr val="BDB4A6"/>
                </a:solidFill>
                <a:latin typeface="PingFang SC"/>
                <a:ea typeface="PingFang SC"/>
                <a:cs typeface="PingFang SC"/>
              </a:rPr>
              <a:t>经验延续下去，</a:t>
            </a:r>
          </a:p>
          <a:p>
            <a:pPr algn="l">
              <a:lnSpc>
                <a:spcPct val="150000"/>
              </a:lnSpc>
              <a:spcAft>
                <a:spcPts val="0"/>
              </a:spcAft>
            </a:pPr>
            <a:r>
              <a:rPr sz="1300" b="0">
                <a:solidFill>
                  <a:srgbClr val="BDB4A6"/>
                </a:solidFill>
                <a:latin typeface="PingFang SC"/>
                <a:ea typeface="PingFang SC"/>
                <a:cs typeface="PingFang SC"/>
              </a:rPr>
              <a:t>不随人离开而流失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8439912" y="4800600"/>
            <a:ext cx="1199388" cy="274320"/>
          </a:xfrm>
          <a:prstGeom prst="roundRect">
            <a:avLst>
              <a:gd name="adj" fmla="val 30000"/>
            </a:avLst>
          </a:prstGeom>
          <a:solidFill>
            <a:srgbClr val="1C1915"/>
          </a:solidFill>
          <a:ln w="9525">
            <a:solidFill>
              <a:srgbClr val="7F77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4" name="TextBox 43"/>
          <p:cNvSpPr txBox="1"/>
          <p:nvPr/>
        </p:nvSpPr>
        <p:spPr>
          <a:xfrm>
            <a:off x="8439912" y="4800600"/>
            <a:ext cx="1199388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30000"/>
              </a:lnSpc>
              <a:spcAft>
                <a:spcPts val="0"/>
              </a:spcAft>
            </a:pPr>
            <a:r>
              <a:rPr sz="1000" b="0">
                <a:solidFill>
                  <a:srgbClr val="7F776B"/>
                </a:solidFill>
                <a:latin typeface="PingFang SC"/>
                <a:ea typeface="PingFang SC"/>
                <a:cs typeface="PingFang SC"/>
              </a:rPr>
              <a:t>家族与企业传承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9712452" y="4800600"/>
            <a:ext cx="810768" cy="274320"/>
          </a:xfrm>
          <a:prstGeom prst="roundRect">
            <a:avLst>
              <a:gd name="adj" fmla="val 30000"/>
            </a:avLst>
          </a:prstGeom>
          <a:solidFill>
            <a:srgbClr val="1C1915"/>
          </a:solidFill>
          <a:ln w="9525">
            <a:solidFill>
              <a:srgbClr val="7F77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6" name="TextBox 45"/>
          <p:cNvSpPr txBox="1"/>
          <p:nvPr/>
        </p:nvSpPr>
        <p:spPr>
          <a:xfrm>
            <a:off x="9712452" y="4800600"/>
            <a:ext cx="810768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30000"/>
              </a:lnSpc>
              <a:spcAft>
                <a:spcPts val="0"/>
              </a:spcAft>
            </a:pPr>
            <a:r>
              <a:rPr sz="1000" b="0">
                <a:solidFill>
                  <a:srgbClr val="7F776B"/>
                </a:solidFill>
                <a:latin typeface="PingFang SC"/>
                <a:ea typeface="PingFang SC"/>
                <a:cs typeface="PingFang SC"/>
              </a:rPr>
              <a:t>组织记忆</a:t>
            </a:r>
          </a:p>
        </p:txBody>
      </p:sp>
      <p:sp>
        <p:nvSpPr>
          <p:cNvPr id="47" name="Rectangle 46"/>
          <p:cNvSpPr/>
          <p:nvPr/>
        </p:nvSpPr>
        <p:spPr>
          <a:xfrm>
            <a:off x="868680" y="5614416"/>
            <a:ext cx="36576" cy="475488"/>
          </a:xfrm>
          <a:prstGeom prst="rect">
            <a:avLst/>
          </a:prstGeom>
          <a:solidFill>
            <a:srgbClr val="E3A3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8" name="TextBox 47"/>
          <p:cNvSpPr txBox="1"/>
          <p:nvPr/>
        </p:nvSpPr>
        <p:spPr>
          <a:xfrm>
            <a:off x="1069848" y="5577840"/>
            <a:ext cx="10253167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1400" b="0">
                <a:solidFill>
                  <a:srgbClr val="BDB4A6"/>
                </a:solidFill>
                <a:latin typeface="PingFang SC"/>
                <a:ea typeface="PingFang SC"/>
                <a:cs typeface="PingFang SC"/>
              </a:rPr>
              <a:t>终点：</a:t>
            </a:r>
            <a:r>
              <a:rPr sz="1400" b="0">
                <a:solidFill>
                  <a:srgbClr val="E3A35A"/>
                </a:solidFill>
                <a:latin typeface="PingFang SC"/>
                <a:ea typeface="PingFang SC"/>
                <a:cs typeface="PingFang SC"/>
              </a:rPr>
              <a:t>经验经济</a:t>
            </a:r>
            <a:r>
              <a:rPr sz="1400" b="0">
                <a:solidFill>
                  <a:srgbClr val="BDB4A6"/>
                </a:solidFill>
                <a:latin typeface="PingFang SC"/>
                <a:ea typeface="PingFang SC"/>
                <a:cs typeface="PingFang SC"/>
              </a:rPr>
              <a:t>——当每个专业人士都有分身，经验第一次可以像产品一样持续交付、授权和定价。</a:t>
            </a:r>
          </a:p>
        </p:txBody>
      </p:sp>
    </p:spTree>
  </p:cSld>
  <p:clrMapOvr>
    <a:masterClrMapping/>
  </p:clrMapOvr>
  <p:transition spd="med">
    <p:fade/>
  </p:transition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0F0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68680" y="502920"/>
            <a:ext cx="10454335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200" b="0">
                <a:solidFill>
                  <a:srgbClr val="E3A35A"/>
                </a:solidFill>
                <a:latin typeface="PingFang SC"/>
                <a:ea typeface="PingFang SC"/>
                <a:cs typeface="PingFang SC"/>
              </a:rPr>
              <a:t>未来 · 一个人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822960"/>
            <a:ext cx="10454335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3600" b="1">
                <a:solidFill>
                  <a:srgbClr val="F2ECE1"/>
                </a:solidFill>
                <a:latin typeface="Songti SC"/>
                <a:ea typeface="Songti SC"/>
                <a:cs typeface="Songti SC"/>
              </a:rPr>
              <a:t>本体和分身之上，近期还会长出三样东西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68680" y="1828800"/>
            <a:ext cx="3346704" cy="3611880"/>
          </a:xfrm>
          <a:prstGeom prst="roundRect">
            <a:avLst>
              <a:gd name="adj" fmla="val 8000"/>
            </a:avLst>
          </a:prstGeom>
          <a:solidFill>
            <a:srgbClr val="1C1915"/>
          </a:solidFill>
          <a:ln w="12700">
            <a:solidFill>
              <a:srgbClr val="302B2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Freeform 4"/>
          <p:cNvSpPr/>
          <p:nvPr/>
        </p:nvSpPr>
        <p:spPr>
          <a:xfrm>
            <a:off x="1280160" y="2194560"/>
            <a:ext cx="347471" cy="603504"/>
          </a:xfrm>
          <a:custGeom>
            <a:avLst/>
            <a:gdLst/>
            <a:ahLst/>
            <a:cxnLst/>
            <a:rect l="l" t="t" r="r" b="b"/>
            <a:pathLst>
              <a:path w="347471" h="603504">
                <a:moveTo>
                  <a:pt x="347471" y="109728"/>
                </a:moveTo>
                <a:lnTo>
                  <a:pt x="0" y="0"/>
                </a:lnTo>
                <a:lnTo>
                  <a:pt x="0" y="502920"/>
                </a:lnTo>
                <a:lnTo>
                  <a:pt x="347471" y="603504"/>
                </a:lnTo>
                <a:close/>
              </a:path>
            </a:pathLst>
          </a:custGeom>
          <a:noFill/>
          <a:ln w="19050">
            <a:solidFill>
              <a:srgbClr val="E3A3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Freeform 5"/>
          <p:cNvSpPr/>
          <p:nvPr/>
        </p:nvSpPr>
        <p:spPr>
          <a:xfrm>
            <a:off x="1627631" y="2194560"/>
            <a:ext cx="347472" cy="603504"/>
          </a:xfrm>
          <a:custGeom>
            <a:avLst/>
            <a:gdLst/>
            <a:ahLst/>
            <a:cxnLst/>
            <a:rect l="l" t="t" r="r" b="b"/>
            <a:pathLst>
              <a:path w="347472" h="603504">
                <a:moveTo>
                  <a:pt x="0" y="109728"/>
                </a:moveTo>
                <a:lnTo>
                  <a:pt x="347472" y="0"/>
                </a:lnTo>
                <a:lnTo>
                  <a:pt x="347472" y="502920"/>
                </a:lnTo>
                <a:lnTo>
                  <a:pt x="0" y="603504"/>
                </a:lnTo>
                <a:close/>
              </a:path>
            </a:pathLst>
          </a:custGeom>
          <a:noFill/>
          <a:ln w="19050">
            <a:solidFill>
              <a:srgbClr val="E3A3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280160" y="3063240"/>
            <a:ext cx="2743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900" b="1">
                <a:solidFill>
                  <a:srgbClr val="F2ECE1"/>
                </a:solidFill>
                <a:latin typeface="Songti SC"/>
                <a:ea typeface="Songti SC"/>
                <a:cs typeface="Songti SC"/>
              </a:rPr>
              <a:t>人生之书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80160" y="3611880"/>
            <a:ext cx="2560320" cy="1737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60000"/>
              </a:lnSpc>
              <a:spcAft>
                <a:spcPts val="0"/>
              </a:spcAft>
            </a:pPr>
            <a:r>
              <a:rPr sz="1350" b="0">
                <a:solidFill>
                  <a:srgbClr val="BDB4A6"/>
                </a:solidFill>
                <a:latin typeface="PingFang SC"/>
                <a:ea typeface="PingFang SC"/>
                <a:cs typeface="PingFang SC"/>
              </a:rPr>
              <a:t>从本体整理出一个人的经营思想录、回忆录。这是本体最看得见的成果，也可以是一件高价单品。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416552" y="1828800"/>
            <a:ext cx="3346704" cy="3611880"/>
          </a:xfrm>
          <a:prstGeom prst="roundRect">
            <a:avLst>
              <a:gd name="adj" fmla="val 8000"/>
            </a:avLst>
          </a:prstGeom>
          <a:solidFill>
            <a:srgbClr val="1C1915"/>
          </a:solidFill>
          <a:ln w="12700">
            <a:solidFill>
              <a:srgbClr val="302B2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Rounded Rectangle 9"/>
          <p:cNvSpPr/>
          <p:nvPr/>
        </p:nvSpPr>
        <p:spPr>
          <a:xfrm>
            <a:off x="4828032" y="2386584"/>
            <a:ext cx="73152" cy="256032"/>
          </a:xfrm>
          <a:prstGeom prst="roundRect">
            <a:avLst>
              <a:gd name="adj" fmla="val 50000"/>
            </a:avLst>
          </a:prstGeom>
          <a:solidFill>
            <a:srgbClr val="E3A3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Rounded Rectangle 10"/>
          <p:cNvSpPr/>
          <p:nvPr/>
        </p:nvSpPr>
        <p:spPr>
          <a:xfrm>
            <a:off x="4956048" y="2286000"/>
            <a:ext cx="73152" cy="457200"/>
          </a:xfrm>
          <a:prstGeom prst="roundRect">
            <a:avLst>
              <a:gd name="adj" fmla="val 50000"/>
            </a:avLst>
          </a:prstGeom>
          <a:solidFill>
            <a:srgbClr val="E3A3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ounded Rectangle 11"/>
          <p:cNvSpPr/>
          <p:nvPr/>
        </p:nvSpPr>
        <p:spPr>
          <a:xfrm>
            <a:off x="5084064" y="2194560"/>
            <a:ext cx="73152" cy="640080"/>
          </a:xfrm>
          <a:prstGeom prst="roundRect">
            <a:avLst>
              <a:gd name="adj" fmla="val 50000"/>
            </a:avLst>
          </a:prstGeom>
          <a:solidFill>
            <a:srgbClr val="E3A3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5212080" y="2322576"/>
            <a:ext cx="73152" cy="384048"/>
          </a:xfrm>
          <a:prstGeom prst="roundRect">
            <a:avLst>
              <a:gd name="adj" fmla="val 50000"/>
            </a:avLst>
          </a:prstGeom>
          <a:solidFill>
            <a:srgbClr val="E3A3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Rounded Rectangle 13"/>
          <p:cNvSpPr/>
          <p:nvPr/>
        </p:nvSpPr>
        <p:spPr>
          <a:xfrm>
            <a:off x="5340096" y="2240280"/>
            <a:ext cx="73152" cy="548640"/>
          </a:xfrm>
          <a:prstGeom prst="roundRect">
            <a:avLst>
              <a:gd name="adj" fmla="val 50000"/>
            </a:avLst>
          </a:prstGeom>
          <a:solidFill>
            <a:srgbClr val="E3A3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Rounded Rectangle 14"/>
          <p:cNvSpPr/>
          <p:nvPr/>
        </p:nvSpPr>
        <p:spPr>
          <a:xfrm>
            <a:off x="5468112" y="2368296"/>
            <a:ext cx="73152" cy="292608"/>
          </a:xfrm>
          <a:prstGeom prst="roundRect">
            <a:avLst>
              <a:gd name="adj" fmla="val 50000"/>
            </a:avLst>
          </a:prstGeom>
          <a:solidFill>
            <a:srgbClr val="E3A3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4828032" y="3063240"/>
            <a:ext cx="2743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900" b="1">
                <a:solidFill>
                  <a:srgbClr val="F2ECE1"/>
                </a:solidFill>
                <a:latin typeface="Songti SC"/>
                <a:ea typeface="Songti SC"/>
                <a:cs typeface="Songti SC"/>
              </a:rPr>
              <a:t>无感记录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828032" y="3611880"/>
            <a:ext cx="2560320" cy="1737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60000"/>
              </a:lnSpc>
              <a:spcAft>
                <a:spcPts val="0"/>
              </a:spcAft>
            </a:pPr>
            <a:r>
              <a:rPr sz="1350" b="0">
                <a:solidFill>
                  <a:srgbClr val="BDB4A6"/>
                </a:solidFill>
                <a:latin typeface="PingFang SC"/>
                <a:ea typeface="PingFang SC"/>
                <a:cs typeface="PingFang SC"/>
              </a:rPr>
              <a:t>录音笔、可穿戴设备接入，开会和谈话自动进入积累，记录不再是负担。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964423" y="1828800"/>
            <a:ext cx="3346704" cy="3611880"/>
          </a:xfrm>
          <a:prstGeom prst="roundRect">
            <a:avLst>
              <a:gd name="adj" fmla="val 8000"/>
            </a:avLst>
          </a:prstGeom>
          <a:solidFill>
            <a:srgbClr val="1C1915"/>
          </a:solidFill>
          <a:ln w="12700">
            <a:solidFill>
              <a:srgbClr val="302B2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Rounded Rectangular Callout 18"/>
          <p:cNvSpPr/>
          <p:nvPr/>
        </p:nvSpPr>
        <p:spPr>
          <a:xfrm>
            <a:off x="8375903" y="2194560"/>
            <a:ext cx="713232" cy="475488"/>
          </a:xfrm>
          <a:prstGeom prst="wedgeRoundRectCallout">
            <a:avLst/>
          </a:prstGeom>
          <a:noFill/>
          <a:ln w="19050">
            <a:solidFill>
              <a:srgbClr val="82BBA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8375903" y="2194560"/>
            <a:ext cx="713232" cy="4754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30000"/>
              </a:lnSpc>
              <a:spcAft>
                <a:spcPts val="0"/>
              </a:spcAft>
            </a:pPr>
            <a:r>
              <a:rPr sz="1600" b="0">
                <a:solidFill>
                  <a:srgbClr val="82BBAD"/>
                </a:solidFill>
                <a:latin typeface="PingFang SC"/>
                <a:ea typeface="PingFang SC"/>
                <a:cs typeface="PingFang SC"/>
              </a:rPr>
              <a:t>?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375903" y="3063240"/>
            <a:ext cx="2743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900" b="1">
                <a:solidFill>
                  <a:srgbClr val="F2ECE1"/>
                </a:solidFill>
                <a:latin typeface="Songti SC"/>
                <a:ea typeface="Songti SC"/>
                <a:cs typeface="Songti SC"/>
              </a:rPr>
              <a:t>知识付费 2.0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75903" y="3611880"/>
            <a:ext cx="2560320" cy="1737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60000"/>
              </a:lnSpc>
              <a:spcAft>
                <a:spcPts val="0"/>
              </a:spcAft>
            </a:pPr>
            <a:r>
              <a:rPr sz="1350" b="0">
                <a:solidFill>
                  <a:srgbClr val="BDB4A6"/>
                </a:solidFill>
                <a:latin typeface="PingFang SC"/>
                <a:ea typeface="PingFang SC"/>
                <a:cs typeface="PingFang SC"/>
              </a:rPr>
              <a:t>不再买一门课，而是拿自己的问题直接问专家的分身，得到的是「他会怎么判断」。</a:t>
            </a:r>
          </a:p>
        </p:txBody>
      </p:sp>
    </p:spTree>
  </p:cSld>
  <p:clrMapOvr>
    <a:masterClrMapping/>
  </p:clrMapOvr>
  <p:transition spd="med">
    <p:fade/>
  </p:transition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0F0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68680" y="502920"/>
            <a:ext cx="10454335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200" b="0">
                <a:solidFill>
                  <a:srgbClr val="82BBAD"/>
                </a:solidFill>
                <a:latin typeface="PingFang SC"/>
                <a:ea typeface="PingFang SC"/>
                <a:cs typeface="PingFang SC"/>
              </a:rPr>
              <a:t>未来 · 一群人</a:t>
            </a:r>
          </a:p>
        </p:txBody>
      </p:sp>
      <p:cxnSp>
        <p:nvCxnSpPr>
          <p:cNvPr id="3" name="Connector 2"/>
          <p:cNvCxnSpPr/>
          <p:nvPr/>
        </p:nvCxnSpPr>
        <p:spPr>
          <a:xfrm flipV="1">
            <a:off x="3246120" y="1920240"/>
            <a:ext cx="0" cy="1874520"/>
          </a:xfrm>
          <a:prstGeom prst="line">
            <a:avLst/>
          </a:prstGeom>
          <a:ln w="12700">
            <a:solidFill>
              <a:srgbClr val="82BBA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 flipV="1">
            <a:off x="3246120" y="3215501"/>
            <a:ext cx="1782774" cy="579259"/>
          </a:xfrm>
          <a:prstGeom prst="line">
            <a:avLst/>
          </a:prstGeom>
          <a:ln w="12700">
            <a:solidFill>
              <a:srgbClr val="82BBA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3246120" y="3794760"/>
            <a:ext cx="1101815" cy="1516518"/>
          </a:xfrm>
          <a:prstGeom prst="line">
            <a:avLst/>
          </a:prstGeom>
          <a:ln w="12700">
            <a:solidFill>
              <a:srgbClr val="82BBA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 flipH="1">
            <a:off x="2144304" y="3794760"/>
            <a:ext cx="1101816" cy="1516518"/>
          </a:xfrm>
          <a:prstGeom prst="line">
            <a:avLst/>
          </a:prstGeom>
          <a:ln w="12700">
            <a:solidFill>
              <a:srgbClr val="82BBA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 flipH="1" flipV="1">
            <a:off x="1463345" y="3215501"/>
            <a:ext cx="1782775" cy="579259"/>
          </a:xfrm>
          <a:prstGeom prst="line">
            <a:avLst/>
          </a:prstGeom>
          <a:ln w="12700">
            <a:solidFill>
              <a:srgbClr val="82BBA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Oval 7"/>
          <p:cNvSpPr/>
          <p:nvPr/>
        </p:nvSpPr>
        <p:spPr>
          <a:xfrm>
            <a:off x="2532887" y="3081528"/>
            <a:ext cx="1426464" cy="1426464"/>
          </a:xfrm>
          <a:prstGeom prst="ellipse">
            <a:avLst/>
          </a:prstGeom>
          <a:solidFill>
            <a:srgbClr val="2C251B"/>
          </a:solidFill>
          <a:ln w="25400">
            <a:solidFill>
              <a:srgbClr val="E3A3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2606039" y="3383280"/>
            <a:ext cx="128016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30000"/>
              </a:lnSpc>
              <a:spcAft>
                <a:spcPts val="0"/>
              </a:spcAft>
            </a:pPr>
            <a:r>
              <a:rPr sz="2400" b="0">
                <a:solidFill>
                  <a:srgbClr val="F4CD96"/>
                </a:solidFill>
                <a:latin typeface="PingFang SC"/>
                <a:ea typeface="PingFang SC"/>
                <a:cs typeface="PingFang SC"/>
              </a:rPr>
              <a:t>你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606039" y="3840480"/>
            <a:ext cx="12801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0000"/>
              </a:lnSpc>
              <a:spcAft>
                <a:spcPts val="0"/>
              </a:spcAft>
            </a:pPr>
            <a:r>
              <a:rPr sz="1000" b="0">
                <a:solidFill>
                  <a:srgbClr val="BDB4A6"/>
                </a:solidFill>
                <a:latin typeface="PingFang SC"/>
                <a:ea typeface="PingFang SC"/>
                <a:cs typeface="PingFang SC"/>
              </a:rPr>
              <a:t>和你的知君</a:t>
            </a:r>
          </a:p>
        </p:txBody>
      </p:sp>
      <p:sp>
        <p:nvSpPr>
          <p:cNvPr id="11" name="Oval 10"/>
          <p:cNvSpPr/>
          <p:nvPr/>
        </p:nvSpPr>
        <p:spPr>
          <a:xfrm>
            <a:off x="2715768" y="1389888"/>
            <a:ext cx="1060704" cy="1060704"/>
          </a:xfrm>
          <a:prstGeom prst="ellipse">
            <a:avLst/>
          </a:prstGeom>
          <a:solidFill>
            <a:srgbClr val="1D2421"/>
          </a:solidFill>
          <a:ln w="19050">
            <a:solidFill>
              <a:srgbClr val="82BBA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2743200" y="1645920"/>
            <a:ext cx="100584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050" b="0">
                <a:solidFill>
                  <a:srgbClr val="82BBAD"/>
                </a:solidFill>
                <a:latin typeface="PingFang SC"/>
                <a:ea typeface="PingFang SC"/>
                <a:cs typeface="PingFang SC"/>
              </a:rPr>
              <a:t>制造业</a:t>
            </a:r>
          </a:p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050" b="0">
                <a:solidFill>
                  <a:srgbClr val="82BBAD"/>
                </a:solidFill>
                <a:latin typeface="PingFang SC"/>
                <a:ea typeface="PingFang SC"/>
                <a:cs typeface="PingFang SC"/>
              </a:rPr>
              <a:t>同行分身</a:t>
            </a:r>
          </a:p>
        </p:txBody>
      </p:sp>
      <p:sp>
        <p:nvSpPr>
          <p:cNvPr id="13" name="Oval 12"/>
          <p:cNvSpPr/>
          <p:nvPr/>
        </p:nvSpPr>
        <p:spPr>
          <a:xfrm>
            <a:off x="4498542" y="2685149"/>
            <a:ext cx="1060704" cy="1060704"/>
          </a:xfrm>
          <a:prstGeom prst="ellipse">
            <a:avLst/>
          </a:prstGeom>
          <a:solidFill>
            <a:srgbClr val="1D2421"/>
          </a:solidFill>
          <a:ln w="19050">
            <a:solidFill>
              <a:srgbClr val="82BBA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4525974" y="2941181"/>
            <a:ext cx="100584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050" b="0">
                <a:solidFill>
                  <a:srgbClr val="82BBAD"/>
                </a:solidFill>
                <a:latin typeface="PingFang SC"/>
                <a:ea typeface="PingFang SC"/>
                <a:cs typeface="PingFang SC"/>
              </a:rPr>
              <a:t>零售</a:t>
            </a:r>
          </a:p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050" b="0">
                <a:solidFill>
                  <a:srgbClr val="82BBAD"/>
                </a:solidFill>
                <a:latin typeface="PingFang SC"/>
                <a:ea typeface="PingFang SC"/>
                <a:cs typeface="PingFang SC"/>
              </a:rPr>
              <a:t>同行分身</a:t>
            </a:r>
          </a:p>
        </p:txBody>
      </p:sp>
      <p:sp>
        <p:nvSpPr>
          <p:cNvPr id="15" name="Oval 14"/>
          <p:cNvSpPr/>
          <p:nvPr/>
        </p:nvSpPr>
        <p:spPr>
          <a:xfrm>
            <a:off x="3817583" y="4780926"/>
            <a:ext cx="1060704" cy="1060704"/>
          </a:xfrm>
          <a:prstGeom prst="ellipse">
            <a:avLst/>
          </a:prstGeom>
          <a:solidFill>
            <a:srgbClr val="1D2421"/>
          </a:solidFill>
          <a:ln w="19050">
            <a:solidFill>
              <a:srgbClr val="82BBA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3845015" y="5036958"/>
            <a:ext cx="100584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050" b="0">
                <a:solidFill>
                  <a:srgbClr val="82BBAD"/>
                </a:solidFill>
                <a:latin typeface="PingFang SC"/>
                <a:ea typeface="PingFang SC"/>
                <a:cs typeface="PingFang SC"/>
              </a:rPr>
              <a:t>投资人</a:t>
            </a:r>
          </a:p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050" b="0">
                <a:solidFill>
                  <a:srgbClr val="82BBAD"/>
                </a:solidFill>
                <a:latin typeface="PingFang SC"/>
                <a:ea typeface="PingFang SC"/>
                <a:cs typeface="PingFang SC"/>
              </a:rPr>
              <a:t>分身</a:t>
            </a:r>
          </a:p>
        </p:txBody>
      </p:sp>
      <p:sp>
        <p:nvSpPr>
          <p:cNvPr id="17" name="Oval 16"/>
          <p:cNvSpPr/>
          <p:nvPr/>
        </p:nvSpPr>
        <p:spPr>
          <a:xfrm>
            <a:off x="1613952" y="4780926"/>
            <a:ext cx="1060704" cy="1060704"/>
          </a:xfrm>
          <a:prstGeom prst="ellipse">
            <a:avLst/>
          </a:prstGeom>
          <a:solidFill>
            <a:srgbClr val="1D2421"/>
          </a:solidFill>
          <a:ln w="19050">
            <a:solidFill>
              <a:srgbClr val="82BBA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1641384" y="5036958"/>
            <a:ext cx="100584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050" b="0">
                <a:solidFill>
                  <a:srgbClr val="82BBAD"/>
                </a:solidFill>
                <a:latin typeface="PingFang SC"/>
                <a:ea typeface="PingFang SC"/>
                <a:cs typeface="PingFang SC"/>
              </a:rPr>
              <a:t>财务顾问</a:t>
            </a:r>
          </a:p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050" b="0">
                <a:solidFill>
                  <a:srgbClr val="82BBAD"/>
                </a:solidFill>
                <a:latin typeface="PingFang SC"/>
                <a:ea typeface="PingFang SC"/>
                <a:cs typeface="PingFang SC"/>
              </a:rPr>
              <a:t>分身</a:t>
            </a:r>
          </a:p>
        </p:txBody>
      </p:sp>
      <p:sp>
        <p:nvSpPr>
          <p:cNvPr id="19" name="Oval 18"/>
          <p:cNvSpPr/>
          <p:nvPr/>
        </p:nvSpPr>
        <p:spPr>
          <a:xfrm>
            <a:off x="932993" y="2685149"/>
            <a:ext cx="1060704" cy="1060704"/>
          </a:xfrm>
          <a:prstGeom prst="ellipse">
            <a:avLst/>
          </a:prstGeom>
          <a:solidFill>
            <a:srgbClr val="1D2421"/>
          </a:solidFill>
          <a:ln w="19050">
            <a:solidFill>
              <a:srgbClr val="82BBA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960425" y="2941181"/>
            <a:ext cx="100584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050" b="0">
                <a:solidFill>
                  <a:srgbClr val="82BBAD"/>
                </a:solidFill>
                <a:latin typeface="PingFang SC"/>
                <a:ea typeface="PingFang SC"/>
                <a:cs typeface="PingFang SC"/>
              </a:rPr>
              <a:t>法务顾问</a:t>
            </a:r>
          </a:p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050" b="0">
                <a:solidFill>
                  <a:srgbClr val="82BBAD"/>
                </a:solidFill>
                <a:latin typeface="PingFang SC"/>
                <a:ea typeface="PingFang SC"/>
                <a:cs typeface="PingFang SC"/>
              </a:rPr>
              <a:t>分身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172200" y="868680"/>
            <a:ext cx="512064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3200" b="1">
                <a:solidFill>
                  <a:srgbClr val="F2ECE1"/>
                </a:solidFill>
                <a:latin typeface="Songti SC"/>
                <a:ea typeface="Songti SC"/>
                <a:cs typeface="Songti SC"/>
              </a:rPr>
              <a:t>AI 私董会</a:t>
            </a:r>
          </a:p>
        </p:txBody>
      </p:sp>
      <p:sp>
        <p:nvSpPr>
          <p:cNvPr id="22" name="Oval 21"/>
          <p:cNvSpPr/>
          <p:nvPr/>
        </p:nvSpPr>
        <p:spPr>
          <a:xfrm>
            <a:off x="6172200" y="1719072"/>
            <a:ext cx="310896" cy="310896"/>
          </a:xfrm>
          <a:prstGeom prst="ellipse">
            <a:avLst/>
          </a:prstGeom>
          <a:noFill/>
          <a:ln w="15875">
            <a:solidFill>
              <a:srgbClr val="E3A3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6172200" y="1691640"/>
            <a:ext cx="310896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30000"/>
              </a:lnSpc>
              <a:spcAft>
                <a:spcPts val="0"/>
              </a:spcAft>
            </a:pPr>
            <a:r>
              <a:rPr sz="1100" b="0">
                <a:solidFill>
                  <a:srgbClr val="E3A35A"/>
                </a:solidFill>
                <a:latin typeface="PingFang SC"/>
                <a:ea typeface="PingFang SC"/>
                <a:cs typeface="PingFang SC"/>
              </a:rPr>
              <a:t>1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629400" y="1691640"/>
            <a:ext cx="466344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500" b="0">
                <a:solidFill>
                  <a:srgbClr val="F2ECE1"/>
                </a:solidFill>
                <a:latin typeface="PingFang SC"/>
                <a:ea typeface="PingFang SC"/>
                <a:cs typeface="PingFang SC"/>
              </a:rPr>
              <a:t>先和自己的知君想清楚</a:t>
            </a:r>
          </a:p>
        </p:txBody>
      </p:sp>
      <p:sp>
        <p:nvSpPr>
          <p:cNvPr id="25" name="Oval 24"/>
          <p:cNvSpPr/>
          <p:nvPr/>
        </p:nvSpPr>
        <p:spPr>
          <a:xfrm>
            <a:off x="6172200" y="2176272"/>
            <a:ext cx="310896" cy="310896"/>
          </a:xfrm>
          <a:prstGeom prst="ellipse">
            <a:avLst/>
          </a:prstGeom>
          <a:noFill/>
          <a:ln w="15875">
            <a:solidFill>
              <a:srgbClr val="82BBA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6172200" y="2148840"/>
            <a:ext cx="310896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30000"/>
              </a:lnSpc>
              <a:spcAft>
                <a:spcPts val="0"/>
              </a:spcAft>
            </a:pPr>
            <a:r>
              <a:rPr sz="1100" b="0">
                <a:solidFill>
                  <a:srgbClr val="82BBAD"/>
                </a:solidFill>
                <a:latin typeface="PingFang SC"/>
                <a:ea typeface="PingFang SC"/>
                <a:cs typeface="PingFang SC"/>
              </a:rPr>
              <a:t>2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629400" y="2148840"/>
            <a:ext cx="466344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500" b="0">
                <a:solidFill>
                  <a:srgbClr val="F2ECE1"/>
                </a:solidFill>
                <a:latin typeface="PingFang SC"/>
                <a:ea typeface="PingFang SC"/>
                <a:cs typeface="PingFang SC"/>
              </a:rPr>
              <a:t>经授权，听几位同行分身的看法</a:t>
            </a:r>
          </a:p>
        </p:txBody>
      </p:sp>
      <p:sp>
        <p:nvSpPr>
          <p:cNvPr id="28" name="Oval 27"/>
          <p:cNvSpPr/>
          <p:nvPr/>
        </p:nvSpPr>
        <p:spPr>
          <a:xfrm>
            <a:off x="6172200" y="2633472"/>
            <a:ext cx="310896" cy="310896"/>
          </a:xfrm>
          <a:prstGeom prst="ellipse">
            <a:avLst/>
          </a:prstGeom>
          <a:noFill/>
          <a:ln w="15875">
            <a:solidFill>
              <a:srgbClr val="E3A3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TextBox 28"/>
          <p:cNvSpPr txBox="1"/>
          <p:nvPr/>
        </p:nvSpPr>
        <p:spPr>
          <a:xfrm>
            <a:off x="6172200" y="2606040"/>
            <a:ext cx="310896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30000"/>
              </a:lnSpc>
              <a:spcAft>
                <a:spcPts val="0"/>
              </a:spcAft>
            </a:pPr>
            <a:r>
              <a:rPr sz="1100" b="0">
                <a:solidFill>
                  <a:srgbClr val="E3A35A"/>
                </a:solidFill>
                <a:latin typeface="PingFang SC"/>
                <a:ea typeface="PingFang SC"/>
                <a:cs typeface="PingFang SC"/>
              </a:rPr>
              <a:t>3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629400" y="2606040"/>
            <a:ext cx="466344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500" b="0">
                <a:solidFill>
                  <a:srgbClr val="F2ECE1"/>
                </a:solidFill>
                <a:latin typeface="PingFang SC"/>
                <a:ea typeface="PingFang SC"/>
                <a:cs typeface="PingFang SC"/>
              </a:rPr>
              <a:t>约真人深谈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172200" y="3246120"/>
            <a:ext cx="51206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500" b="1">
                <a:solidFill>
                  <a:srgbClr val="F2ECE1"/>
                </a:solidFill>
                <a:latin typeface="Songti SC"/>
                <a:ea typeface="Songti SC"/>
                <a:cs typeface="Songti SC"/>
              </a:rPr>
              <a:t>为孤独而生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172200" y="3547872"/>
            <a:ext cx="51206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250" b="0">
                <a:solidFill>
                  <a:srgbClr val="BDB4A6"/>
                </a:solidFill>
                <a:latin typeface="PingFang SC"/>
                <a:ea typeface="PingFang SC"/>
                <a:cs typeface="PingFang SC"/>
              </a:rPr>
              <a:t>私董会本来就是为「位置带来的孤独」存在的，知君让它随时可用。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172200" y="3904487"/>
            <a:ext cx="51206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500" b="1">
                <a:solidFill>
                  <a:srgbClr val="F2ECE1"/>
                </a:solidFill>
                <a:latin typeface="Songti SC"/>
                <a:ea typeface="Songti SC"/>
                <a:cs typeface="Songti SC"/>
              </a:rPr>
              <a:t>网络效应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172200" y="4206240"/>
            <a:ext cx="51206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250" b="0">
                <a:solidFill>
                  <a:srgbClr val="BDB4A6"/>
                </a:solidFill>
                <a:latin typeface="PingFang SC"/>
                <a:ea typeface="PingFang SC"/>
                <a:cs typeface="PingFang SC"/>
              </a:rPr>
              <a:t>圈子里的分身越多，每个人得到的越多。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172200" y="4562856"/>
            <a:ext cx="51206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500" b="1">
                <a:solidFill>
                  <a:srgbClr val="F2ECE1"/>
                </a:solidFill>
                <a:latin typeface="Songti SC"/>
                <a:ea typeface="Songti SC"/>
                <a:cs typeface="Songti SC"/>
              </a:rPr>
              <a:t>落点是真人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172200" y="4864608"/>
            <a:ext cx="51206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250" b="0">
                <a:solidFill>
                  <a:srgbClr val="BDB4A6"/>
                </a:solidFill>
                <a:latin typeface="PingFang SC"/>
                <a:ea typeface="PingFang SC"/>
                <a:cs typeface="PingFang SC"/>
              </a:rPr>
              <a:t>AI 帮你找到对的人，而不是替代他们。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172200" y="5385816"/>
            <a:ext cx="36576" cy="612648"/>
          </a:xfrm>
          <a:prstGeom prst="rect">
            <a:avLst/>
          </a:prstGeom>
          <a:solidFill>
            <a:srgbClr val="82BB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8" name="TextBox 37"/>
          <p:cNvSpPr txBox="1"/>
          <p:nvPr/>
        </p:nvSpPr>
        <p:spPr>
          <a:xfrm>
            <a:off x="6373368" y="5349240"/>
            <a:ext cx="4919472" cy="685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1250" b="0">
                <a:solidFill>
                  <a:srgbClr val="BDB4A6"/>
                </a:solidFill>
                <a:latin typeface="PingFang SC"/>
                <a:ea typeface="PingFang SC"/>
                <a:cs typeface="PingFang SC"/>
              </a:rPr>
              <a:t>私董会之外，授权的分身还能组成专家网络：分身先回答第一层，本人再接深度访谈。</a:t>
            </a:r>
          </a:p>
        </p:txBody>
      </p:sp>
    </p:spTree>
  </p:cSld>
  <p:clrMapOvr>
    <a:masterClrMapping/>
  </p:clrMapOvr>
  <p:transition spd="med">
    <p:fade/>
  </p:transition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0F0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68680" y="502920"/>
            <a:ext cx="10454335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200" b="0">
                <a:solidFill>
                  <a:srgbClr val="E3A35A"/>
                </a:solidFill>
                <a:latin typeface="PingFang SC"/>
                <a:ea typeface="PingFang SC"/>
                <a:cs typeface="PingFang SC"/>
              </a:rPr>
              <a:t>未来 · 一代人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822960"/>
            <a:ext cx="10454335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3600" b="1">
                <a:solidFill>
                  <a:srgbClr val="F2ECE1"/>
                </a:solidFill>
                <a:latin typeface="Songti SC"/>
                <a:ea typeface="Songti SC"/>
                <a:cs typeface="Songti SC"/>
              </a:rPr>
              <a:t>经验延续下去，不随人离开而流失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68680" y="1783080"/>
            <a:ext cx="5120640" cy="3703320"/>
          </a:xfrm>
          <a:prstGeom prst="roundRect">
            <a:avLst>
              <a:gd name="adj" fmla="val 8000"/>
            </a:avLst>
          </a:prstGeom>
          <a:solidFill>
            <a:srgbClr val="1C1915"/>
          </a:solidFill>
          <a:ln w="12700">
            <a:solidFill>
              <a:srgbClr val="302B2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Oval 4"/>
          <p:cNvSpPr/>
          <p:nvPr/>
        </p:nvSpPr>
        <p:spPr>
          <a:xfrm>
            <a:off x="1371599" y="2194560"/>
            <a:ext cx="1005840" cy="1005840"/>
          </a:xfrm>
          <a:prstGeom prst="ellipse">
            <a:avLst/>
          </a:prstGeom>
          <a:solidFill>
            <a:srgbClr val="2C251B"/>
          </a:solidFill>
          <a:ln w="19050">
            <a:solidFill>
              <a:srgbClr val="E3A3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1371600" y="2514600"/>
            <a:ext cx="100584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30000"/>
              </a:lnSpc>
              <a:spcAft>
                <a:spcPts val="0"/>
              </a:spcAft>
            </a:pPr>
            <a:r>
              <a:rPr sz="1400" b="0">
                <a:solidFill>
                  <a:srgbClr val="F2ECE1"/>
                </a:solidFill>
                <a:latin typeface="PingFang SC"/>
                <a:ea typeface="PingFang SC"/>
                <a:cs typeface="PingFang SC"/>
              </a:rPr>
              <a:t>创始人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2441448" y="2697480"/>
            <a:ext cx="2011680" cy="0"/>
          </a:xfrm>
          <a:prstGeom prst="line">
            <a:avLst/>
          </a:prstGeom>
          <a:ln w="22225">
            <a:solidFill>
              <a:srgbClr val="E3A35A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2423160" y="2240280"/>
            <a:ext cx="20574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0000"/>
              </a:lnSpc>
              <a:spcAft>
                <a:spcPts val="0"/>
              </a:spcAft>
            </a:pPr>
            <a:r>
              <a:rPr sz="1300" b="0">
                <a:solidFill>
                  <a:srgbClr val="F4CD96"/>
                </a:solidFill>
                <a:latin typeface="PingFang SC"/>
                <a:ea typeface="PingFang SC"/>
                <a:cs typeface="PingFang SC"/>
              </a:rPr>
              <a:t>「他会怎么想」</a:t>
            </a:r>
          </a:p>
        </p:txBody>
      </p:sp>
      <p:sp>
        <p:nvSpPr>
          <p:cNvPr id="9" name="Oval 8"/>
          <p:cNvSpPr/>
          <p:nvPr/>
        </p:nvSpPr>
        <p:spPr>
          <a:xfrm>
            <a:off x="4526280" y="2240280"/>
            <a:ext cx="914400" cy="914400"/>
          </a:xfrm>
          <a:prstGeom prst="ellipse">
            <a:avLst/>
          </a:prstGeom>
          <a:solidFill>
            <a:srgbClr val="1D2421"/>
          </a:solidFill>
          <a:ln w="19050">
            <a:solidFill>
              <a:srgbClr val="82BBA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4526280" y="2514600"/>
            <a:ext cx="91440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30000"/>
              </a:lnSpc>
              <a:spcAft>
                <a:spcPts val="0"/>
              </a:spcAft>
            </a:pPr>
            <a:r>
              <a:rPr sz="1300" b="0">
                <a:solidFill>
                  <a:srgbClr val="82BBAD"/>
                </a:solidFill>
                <a:latin typeface="PingFang SC"/>
                <a:ea typeface="PingFang SC"/>
                <a:cs typeface="PingFang SC"/>
              </a:rPr>
              <a:t>接班人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34440" y="3520440"/>
            <a:ext cx="438912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900" b="1">
                <a:solidFill>
                  <a:srgbClr val="F2ECE1"/>
                </a:solidFill>
                <a:latin typeface="Songti SC"/>
                <a:ea typeface="Songti SC"/>
                <a:cs typeface="Songti SC"/>
              </a:rPr>
              <a:t>家族与企业传承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34440" y="4023360"/>
            <a:ext cx="4434840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60000"/>
              </a:lnSpc>
              <a:spcAft>
                <a:spcPts val="0"/>
              </a:spcAft>
            </a:pPr>
            <a:r>
              <a:rPr sz="1300" b="0">
                <a:solidFill>
                  <a:srgbClr val="BDB4A6"/>
                </a:solidFill>
                <a:latin typeface="PingFang SC"/>
                <a:ea typeface="PingFang SC"/>
                <a:cs typeface="PingFang SC"/>
              </a:rPr>
              <a:t>创始人几十年的判断，经本人确认后交给接班人。留下的不只是文件，而是「他会怎么想」。第一代民营企业家正陆续交班，这是一个正在到来的需求。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17920" y="1783080"/>
            <a:ext cx="5120640" cy="3703320"/>
          </a:xfrm>
          <a:prstGeom prst="roundRect">
            <a:avLst>
              <a:gd name="adj" fmla="val 8000"/>
            </a:avLst>
          </a:prstGeom>
          <a:solidFill>
            <a:srgbClr val="1C1915"/>
          </a:solidFill>
          <a:ln w="12700">
            <a:solidFill>
              <a:srgbClr val="302B2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cxnSp>
        <p:nvCxnSpPr>
          <p:cNvPr id="14" name="Connector 13"/>
          <p:cNvCxnSpPr/>
          <p:nvPr/>
        </p:nvCxnSpPr>
        <p:spPr>
          <a:xfrm flipV="1">
            <a:off x="7726679" y="2304288"/>
            <a:ext cx="1005841" cy="393192"/>
          </a:xfrm>
          <a:prstGeom prst="line">
            <a:avLst/>
          </a:prstGeom>
          <a:ln w="12700">
            <a:solidFill>
              <a:srgbClr val="82BBA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7726679" y="2697480"/>
            <a:ext cx="1005841" cy="393192"/>
          </a:xfrm>
          <a:prstGeom prst="line">
            <a:avLst/>
          </a:prstGeom>
          <a:ln w="12700">
            <a:solidFill>
              <a:srgbClr val="82BBA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Oval 15"/>
          <p:cNvSpPr/>
          <p:nvPr/>
        </p:nvSpPr>
        <p:spPr>
          <a:xfrm>
            <a:off x="6693408" y="2167128"/>
            <a:ext cx="1060704" cy="1060704"/>
          </a:xfrm>
          <a:prstGeom prst="ellipse">
            <a:avLst/>
          </a:prstGeom>
          <a:solidFill>
            <a:srgbClr val="1D2421"/>
          </a:solidFill>
          <a:ln w="19050">
            <a:solidFill>
              <a:srgbClr val="82BBA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6720840" y="2468880"/>
            <a:ext cx="100584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150" b="0">
                <a:solidFill>
                  <a:srgbClr val="82BBAD"/>
                </a:solidFill>
                <a:latin typeface="PingFang SC"/>
                <a:ea typeface="PingFang SC"/>
                <a:cs typeface="PingFang SC"/>
              </a:rPr>
              <a:t>老板的</a:t>
            </a:r>
          </a:p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150" b="0">
                <a:solidFill>
                  <a:srgbClr val="82BBAD"/>
                </a:solidFill>
                <a:latin typeface="PingFang SC"/>
                <a:ea typeface="PingFang SC"/>
                <a:cs typeface="PingFang SC"/>
              </a:rPr>
              <a:t>分身</a:t>
            </a:r>
          </a:p>
        </p:txBody>
      </p:sp>
      <p:sp>
        <p:nvSpPr>
          <p:cNvPr id="18" name="Oval 17"/>
          <p:cNvSpPr/>
          <p:nvPr/>
        </p:nvSpPr>
        <p:spPr>
          <a:xfrm>
            <a:off x="8705088" y="2029967"/>
            <a:ext cx="512064" cy="512064"/>
          </a:xfrm>
          <a:prstGeom prst="ellipse">
            <a:avLst/>
          </a:prstGeom>
          <a:solidFill>
            <a:srgbClr val="100F0D"/>
          </a:solidFill>
          <a:ln w="12700">
            <a:solidFill>
              <a:srgbClr val="7F77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8705088" y="2103120"/>
            <a:ext cx="512064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30000"/>
              </a:lnSpc>
              <a:spcAft>
                <a:spcPts val="0"/>
              </a:spcAft>
            </a:pPr>
            <a:r>
              <a:rPr sz="1100" b="0">
                <a:solidFill>
                  <a:srgbClr val="F2ECE1"/>
                </a:solidFill>
                <a:latin typeface="PingFang SC"/>
                <a:ea typeface="PingFang SC"/>
                <a:cs typeface="PingFang SC"/>
              </a:rPr>
              <a:t>中层</a:t>
            </a:r>
          </a:p>
        </p:txBody>
      </p:sp>
      <p:sp>
        <p:nvSpPr>
          <p:cNvPr id="20" name="Oval 19"/>
          <p:cNvSpPr/>
          <p:nvPr/>
        </p:nvSpPr>
        <p:spPr>
          <a:xfrm>
            <a:off x="8705088" y="2852928"/>
            <a:ext cx="512064" cy="512064"/>
          </a:xfrm>
          <a:prstGeom prst="ellipse">
            <a:avLst/>
          </a:prstGeom>
          <a:solidFill>
            <a:srgbClr val="100F0D"/>
          </a:solidFill>
          <a:ln w="12700">
            <a:solidFill>
              <a:srgbClr val="7F77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8705088" y="2926079"/>
            <a:ext cx="512064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30000"/>
              </a:lnSpc>
              <a:spcAft>
                <a:spcPts val="0"/>
              </a:spcAft>
            </a:pPr>
            <a:r>
              <a:rPr sz="1100" b="0">
                <a:solidFill>
                  <a:srgbClr val="F2ECE1"/>
                </a:solidFill>
                <a:latin typeface="PingFang SC"/>
                <a:ea typeface="PingFang SC"/>
                <a:cs typeface="PingFang SC"/>
              </a:rPr>
              <a:t>新人</a:t>
            </a:r>
          </a:p>
        </p:txBody>
      </p:sp>
      <p:sp>
        <p:nvSpPr>
          <p:cNvPr id="22" name="Oval 21"/>
          <p:cNvSpPr/>
          <p:nvPr/>
        </p:nvSpPr>
        <p:spPr>
          <a:xfrm>
            <a:off x="9939528" y="2258568"/>
            <a:ext cx="694944" cy="694944"/>
          </a:xfrm>
          <a:prstGeom prst="ellipse">
            <a:avLst/>
          </a:prstGeom>
          <a:noFill/>
          <a:ln w="12700">
            <a:solidFill>
              <a:srgbClr val="7F776B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Oval 22"/>
          <p:cNvSpPr/>
          <p:nvPr/>
        </p:nvSpPr>
        <p:spPr>
          <a:xfrm>
            <a:off x="10222992" y="2542032"/>
            <a:ext cx="128016" cy="128016"/>
          </a:xfrm>
          <a:prstGeom prst="ellipse">
            <a:avLst/>
          </a:prstGeom>
          <a:solidFill>
            <a:srgbClr val="E3A3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TextBox 23"/>
          <p:cNvSpPr txBox="1"/>
          <p:nvPr/>
        </p:nvSpPr>
        <p:spPr>
          <a:xfrm>
            <a:off x="9601200" y="3044952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0000"/>
              </a:lnSpc>
              <a:spcAft>
                <a:spcPts val="0"/>
              </a:spcAft>
            </a:pPr>
            <a:r>
              <a:rPr sz="1000" b="0">
                <a:solidFill>
                  <a:srgbClr val="7F776B"/>
                </a:solidFill>
                <a:latin typeface="PingFang SC"/>
                <a:ea typeface="PingFang SC"/>
                <a:cs typeface="PingFang SC"/>
              </a:rPr>
              <a:t>员工离开，经验留下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583680" y="3520440"/>
            <a:ext cx="438912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900" b="1">
                <a:solidFill>
                  <a:srgbClr val="F2ECE1"/>
                </a:solidFill>
                <a:latin typeface="Songti SC"/>
                <a:ea typeface="Songti SC"/>
                <a:cs typeface="Songti SC"/>
              </a:rPr>
              <a:t>组织记忆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583680" y="4023360"/>
            <a:ext cx="4434840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60000"/>
              </a:lnSpc>
              <a:spcAft>
                <a:spcPts val="0"/>
              </a:spcAft>
            </a:pPr>
            <a:r>
              <a:rPr sz="1300" b="0">
                <a:solidFill>
                  <a:srgbClr val="BDB4A6"/>
                </a:solidFill>
                <a:latin typeface="PingFang SC"/>
                <a:ea typeface="PingFang SC"/>
                <a:cs typeface="PingFang SC"/>
              </a:rPr>
              <a:t>老板的分身回答「老板会怎么想」，中层不用事事请示；关键员工离开，经验不随人走。与半人马的组织产品协同。</a:t>
            </a:r>
          </a:p>
        </p:txBody>
      </p:sp>
      <p:sp>
        <p:nvSpPr>
          <p:cNvPr id="27" name="Rectangle 26"/>
          <p:cNvSpPr/>
          <p:nvPr/>
        </p:nvSpPr>
        <p:spPr>
          <a:xfrm>
            <a:off x="868680" y="5751576"/>
            <a:ext cx="36576" cy="429768"/>
          </a:xfrm>
          <a:prstGeom prst="rect">
            <a:avLst/>
          </a:prstGeom>
          <a:solidFill>
            <a:srgbClr val="E3A3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TextBox 27"/>
          <p:cNvSpPr txBox="1"/>
          <p:nvPr/>
        </p:nvSpPr>
        <p:spPr>
          <a:xfrm>
            <a:off x="1069848" y="5715000"/>
            <a:ext cx="10253167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1400" b="0">
                <a:solidFill>
                  <a:srgbClr val="BDB4A6"/>
                </a:solidFill>
                <a:latin typeface="PingFang SC"/>
                <a:ea typeface="PingFang SC"/>
                <a:cs typeface="PingFang SC"/>
              </a:rPr>
              <a:t>本体永远归个人；企业使用的，是个人愿意发布给分身的那部分。</a:t>
            </a:r>
          </a:p>
        </p:txBody>
      </p:sp>
    </p:spTree>
  </p:cSld>
  <p:clrMapOvr>
    <a:masterClrMapping/>
  </p:clrMapOvr>
  <p:transition spd="med">
    <p:fade/>
  </p:transition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0F0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68680" y="502920"/>
            <a:ext cx="10454335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200" b="0">
                <a:solidFill>
                  <a:srgbClr val="E3A35A"/>
                </a:solidFill>
                <a:latin typeface="PingFang SC"/>
                <a:ea typeface="PingFang SC"/>
                <a:cs typeface="PingFang SC"/>
              </a:rPr>
              <a:t>远景 · 经验经济</a:t>
            </a:r>
          </a:p>
        </p:txBody>
      </p:sp>
      <p:sp>
        <p:nvSpPr>
          <p:cNvPr id="3" name="Oval 2"/>
          <p:cNvSpPr/>
          <p:nvPr/>
        </p:nvSpPr>
        <p:spPr>
          <a:xfrm>
            <a:off x="8389068" y="1655073"/>
            <a:ext cx="146304" cy="146304"/>
          </a:xfrm>
          <a:prstGeom prst="ellipse">
            <a:avLst/>
          </a:prstGeom>
          <a:solidFill>
            <a:srgbClr val="E3A35A">
              <a:alpha val="39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Oval 3"/>
          <p:cNvSpPr/>
          <p:nvPr/>
        </p:nvSpPr>
        <p:spPr>
          <a:xfrm>
            <a:off x="9365498" y="2859845"/>
            <a:ext cx="54864" cy="54864"/>
          </a:xfrm>
          <a:prstGeom prst="ellipse">
            <a:avLst/>
          </a:prstGeom>
          <a:solidFill>
            <a:srgbClr val="7F776B">
              <a:alpha val="47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Oval 4"/>
          <p:cNvSpPr/>
          <p:nvPr/>
        </p:nvSpPr>
        <p:spPr>
          <a:xfrm>
            <a:off x="7390680" y="3142990"/>
            <a:ext cx="54864" cy="54864"/>
          </a:xfrm>
          <a:prstGeom prst="ellipse">
            <a:avLst/>
          </a:prstGeom>
          <a:solidFill>
            <a:srgbClr val="E3A35A">
              <a:alpha val="6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Oval 5"/>
          <p:cNvSpPr/>
          <p:nvPr/>
        </p:nvSpPr>
        <p:spPr>
          <a:xfrm>
            <a:off x="7272891" y="3937568"/>
            <a:ext cx="54864" cy="54864"/>
          </a:xfrm>
          <a:prstGeom prst="ellipse">
            <a:avLst/>
          </a:prstGeom>
          <a:solidFill>
            <a:srgbClr val="7F776B">
              <a:alpha val="87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Oval 6"/>
          <p:cNvSpPr/>
          <p:nvPr/>
        </p:nvSpPr>
        <p:spPr>
          <a:xfrm>
            <a:off x="9546422" y="3027043"/>
            <a:ext cx="54864" cy="54864"/>
          </a:xfrm>
          <a:prstGeom prst="ellipse">
            <a:avLst/>
          </a:prstGeom>
          <a:solidFill>
            <a:srgbClr val="E3A35A">
              <a:alpha val="66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Oval 7"/>
          <p:cNvSpPr/>
          <p:nvPr/>
        </p:nvSpPr>
        <p:spPr>
          <a:xfrm>
            <a:off x="7570536" y="3120774"/>
            <a:ext cx="109728" cy="109728"/>
          </a:xfrm>
          <a:prstGeom prst="ellipse">
            <a:avLst/>
          </a:prstGeom>
          <a:solidFill>
            <a:srgbClr val="E3A35A">
              <a:alpha val="66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Oval 8"/>
          <p:cNvSpPr/>
          <p:nvPr/>
        </p:nvSpPr>
        <p:spPr>
          <a:xfrm>
            <a:off x="9472484" y="4566345"/>
            <a:ext cx="54864" cy="54864"/>
          </a:xfrm>
          <a:prstGeom prst="ellipse">
            <a:avLst/>
          </a:prstGeom>
          <a:solidFill>
            <a:srgbClr val="7F776B">
              <a:alpha val="66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Oval 9"/>
          <p:cNvSpPr/>
          <p:nvPr/>
        </p:nvSpPr>
        <p:spPr>
          <a:xfrm>
            <a:off x="7792316" y="1366882"/>
            <a:ext cx="146304" cy="146304"/>
          </a:xfrm>
          <a:prstGeom prst="ellipse">
            <a:avLst/>
          </a:prstGeom>
          <a:solidFill>
            <a:srgbClr val="E3A35A">
              <a:alpha val="66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Oval 10"/>
          <p:cNvSpPr/>
          <p:nvPr/>
        </p:nvSpPr>
        <p:spPr>
          <a:xfrm>
            <a:off x="9702923" y="3537672"/>
            <a:ext cx="109728" cy="109728"/>
          </a:xfrm>
          <a:prstGeom prst="ellipse">
            <a:avLst/>
          </a:prstGeom>
          <a:solidFill>
            <a:srgbClr val="82BBAD">
              <a:alpha val="7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Oval 11"/>
          <p:cNvSpPr/>
          <p:nvPr/>
        </p:nvSpPr>
        <p:spPr>
          <a:xfrm>
            <a:off x="9047886" y="5859753"/>
            <a:ext cx="73152" cy="73152"/>
          </a:xfrm>
          <a:prstGeom prst="ellipse">
            <a:avLst/>
          </a:prstGeom>
          <a:solidFill>
            <a:srgbClr val="82BBAD">
              <a:alpha val="49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Oval 12"/>
          <p:cNvSpPr/>
          <p:nvPr/>
        </p:nvSpPr>
        <p:spPr>
          <a:xfrm>
            <a:off x="7802465" y="5094117"/>
            <a:ext cx="54864" cy="54864"/>
          </a:xfrm>
          <a:prstGeom prst="ellipse">
            <a:avLst/>
          </a:prstGeom>
          <a:solidFill>
            <a:srgbClr val="7F776B">
              <a:alpha val="5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Oval 13"/>
          <p:cNvSpPr/>
          <p:nvPr/>
        </p:nvSpPr>
        <p:spPr>
          <a:xfrm>
            <a:off x="9168285" y="2721717"/>
            <a:ext cx="91440" cy="91440"/>
          </a:xfrm>
          <a:prstGeom prst="ellipse">
            <a:avLst/>
          </a:prstGeom>
          <a:solidFill>
            <a:srgbClr val="82BBAD">
              <a:alpha val="6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Oval 14"/>
          <p:cNvSpPr/>
          <p:nvPr/>
        </p:nvSpPr>
        <p:spPr>
          <a:xfrm>
            <a:off x="7334735" y="3648825"/>
            <a:ext cx="54864" cy="54864"/>
          </a:xfrm>
          <a:prstGeom prst="ellipse">
            <a:avLst/>
          </a:prstGeom>
          <a:solidFill>
            <a:srgbClr val="82BBAD">
              <a:alpha val="43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Oval 15"/>
          <p:cNvSpPr/>
          <p:nvPr/>
        </p:nvSpPr>
        <p:spPr>
          <a:xfrm>
            <a:off x="9113845" y="1052769"/>
            <a:ext cx="146304" cy="146304"/>
          </a:xfrm>
          <a:prstGeom prst="ellipse">
            <a:avLst/>
          </a:prstGeom>
          <a:solidFill>
            <a:srgbClr val="E3A35A">
              <a:alpha val="77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Oval 16"/>
          <p:cNvSpPr/>
          <p:nvPr/>
        </p:nvSpPr>
        <p:spPr>
          <a:xfrm>
            <a:off x="9519383" y="5600991"/>
            <a:ext cx="73152" cy="73152"/>
          </a:xfrm>
          <a:prstGeom prst="ellipse">
            <a:avLst/>
          </a:prstGeom>
          <a:solidFill>
            <a:srgbClr val="82BBAD">
              <a:alpha val="73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Oval 17"/>
          <p:cNvSpPr/>
          <p:nvPr/>
        </p:nvSpPr>
        <p:spPr>
          <a:xfrm>
            <a:off x="9603920" y="3997191"/>
            <a:ext cx="91440" cy="91440"/>
          </a:xfrm>
          <a:prstGeom prst="ellipse">
            <a:avLst/>
          </a:prstGeom>
          <a:solidFill>
            <a:srgbClr val="E3A35A">
              <a:alpha val="81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Oval 18"/>
          <p:cNvSpPr/>
          <p:nvPr/>
        </p:nvSpPr>
        <p:spPr>
          <a:xfrm>
            <a:off x="11114046" y="3398989"/>
            <a:ext cx="146304" cy="146304"/>
          </a:xfrm>
          <a:prstGeom prst="ellipse">
            <a:avLst/>
          </a:prstGeom>
          <a:solidFill>
            <a:srgbClr val="E3A35A">
              <a:alpha val="3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Oval 19"/>
          <p:cNvSpPr/>
          <p:nvPr/>
        </p:nvSpPr>
        <p:spPr>
          <a:xfrm>
            <a:off x="10046660" y="4332482"/>
            <a:ext cx="146304" cy="146304"/>
          </a:xfrm>
          <a:prstGeom prst="ellipse">
            <a:avLst/>
          </a:prstGeom>
          <a:solidFill>
            <a:srgbClr val="82BBAD">
              <a:alpha val="51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Oval 20"/>
          <p:cNvSpPr/>
          <p:nvPr/>
        </p:nvSpPr>
        <p:spPr>
          <a:xfrm>
            <a:off x="8706732" y="4494322"/>
            <a:ext cx="54864" cy="54864"/>
          </a:xfrm>
          <a:prstGeom prst="ellipse">
            <a:avLst/>
          </a:prstGeom>
          <a:solidFill>
            <a:srgbClr val="82BBAD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Oval 21"/>
          <p:cNvSpPr/>
          <p:nvPr/>
        </p:nvSpPr>
        <p:spPr>
          <a:xfrm>
            <a:off x="9694847" y="3550421"/>
            <a:ext cx="54864" cy="54864"/>
          </a:xfrm>
          <a:prstGeom prst="ellipse">
            <a:avLst/>
          </a:prstGeom>
          <a:solidFill>
            <a:srgbClr val="82BBAD">
              <a:alpha val="4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Oval 22"/>
          <p:cNvSpPr/>
          <p:nvPr/>
        </p:nvSpPr>
        <p:spPr>
          <a:xfrm>
            <a:off x="8081971" y="2977838"/>
            <a:ext cx="91440" cy="91440"/>
          </a:xfrm>
          <a:prstGeom prst="ellipse">
            <a:avLst/>
          </a:prstGeom>
          <a:solidFill>
            <a:srgbClr val="E3A35A">
              <a:alpha val="4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Oval 23"/>
          <p:cNvSpPr/>
          <p:nvPr/>
        </p:nvSpPr>
        <p:spPr>
          <a:xfrm>
            <a:off x="8776312" y="2385898"/>
            <a:ext cx="54864" cy="54864"/>
          </a:xfrm>
          <a:prstGeom prst="ellipse">
            <a:avLst/>
          </a:prstGeom>
          <a:solidFill>
            <a:srgbClr val="82BBAD">
              <a:alpha val="83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Oval 24"/>
          <p:cNvSpPr/>
          <p:nvPr/>
        </p:nvSpPr>
        <p:spPr>
          <a:xfrm>
            <a:off x="8226327" y="3118332"/>
            <a:ext cx="73152" cy="73152"/>
          </a:xfrm>
          <a:prstGeom prst="ellipse">
            <a:avLst/>
          </a:prstGeom>
          <a:solidFill>
            <a:srgbClr val="82BBAD">
              <a:alpha val="8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Oval 25"/>
          <p:cNvSpPr/>
          <p:nvPr/>
        </p:nvSpPr>
        <p:spPr>
          <a:xfrm>
            <a:off x="7675857" y="1837655"/>
            <a:ext cx="54864" cy="54864"/>
          </a:xfrm>
          <a:prstGeom prst="ellipse">
            <a:avLst/>
          </a:prstGeom>
          <a:solidFill>
            <a:srgbClr val="F4CD96">
              <a:alpha val="36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Oval 26"/>
          <p:cNvSpPr/>
          <p:nvPr/>
        </p:nvSpPr>
        <p:spPr>
          <a:xfrm>
            <a:off x="10652073" y="1861556"/>
            <a:ext cx="73152" cy="73152"/>
          </a:xfrm>
          <a:prstGeom prst="ellipse">
            <a:avLst/>
          </a:prstGeom>
          <a:solidFill>
            <a:srgbClr val="E3A35A">
              <a:alpha val="43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Oval 27"/>
          <p:cNvSpPr/>
          <p:nvPr/>
        </p:nvSpPr>
        <p:spPr>
          <a:xfrm>
            <a:off x="9350687" y="4167737"/>
            <a:ext cx="73152" cy="73152"/>
          </a:xfrm>
          <a:prstGeom prst="ellipse">
            <a:avLst/>
          </a:prstGeom>
          <a:solidFill>
            <a:srgbClr val="F4CD96">
              <a:alpha val="73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Oval 28"/>
          <p:cNvSpPr/>
          <p:nvPr/>
        </p:nvSpPr>
        <p:spPr>
          <a:xfrm>
            <a:off x="9230281" y="4173136"/>
            <a:ext cx="146304" cy="146304"/>
          </a:xfrm>
          <a:prstGeom prst="ellipse">
            <a:avLst/>
          </a:prstGeom>
          <a:solidFill>
            <a:srgbClr val="E3A35A">
              <a:alpha val="6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Oval 29"/>
          <p:cNvSpPr/>
          <p:nvPr/>
        </p:nvSpPr>
        <p:spPr>
          <a:xfrm>
            <a:off x="10790561" y="5976636"/>
            <a:ext cx="146304" cy="146304"/>
          </a:xfrm>
          <a:prstGeom prst="ellipse">
            <a:avLst/>
          </a:prstGeom>
          <a:solidFill>
            <a:srgbClr val="7F776B">
              <a:alpha val="56999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1" name="Oval 30"/>
          <p:cNvSpPr/>
          <p:nvPr/>
        </p:nvSpPr>
        <p:spPr>
          <a:xfrm>
            <a:off x="8718893" y="1399826"/>
            <a:ext cx="146304" cy="146304"/>
          </a:xfrm>
          <a:prstGeom prst="ellipse">
            <a:avLst/>
          </a:prstGeom>
          <a:solidFill>
            <a:srgbClr val="82BBAD">
              <a:alpha val="3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2" name="Oval 31"/>
          <p:cNvSpPr/>
          <p:nvPr/>
        </p:nvSpPr>
        <p:spPr>
          <a:xfrm>
            <a:off x="7309044" y="2013237"/>
            <a:ext cx="54864" cy="54864"/>
          </a:xfrm>
          <a:prstGeom prst="ellipse">
            <a:avLst/>
          </a:prstGeom>
          <a:solidFill>
            <a:srgbClr val="E3A35A">
              <a:alpha val="5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" name="Oval 32"/>
          <p:cNvSpPr/>
          <p:nvPr/>
        </p:nvSpPr>
        <p:spPr>
          <a:xfrm>
            <a:off x="7244208" y="888226"/>
            <a:ext cx="54864" cy="54864"/>
          </a:xfrm>
          <a:prstGeom prst="ellipse">
            <a:avLst/>
          </a:prstGeom>
          <a:solidFill>
            <a:srgbClr val="7F776B">
              <a:alpha val="41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Oval 33"/>
          <p:cNvSpPr/>
          <p:nvPr/>
        </p:nvSpPr>
        <p:spPr>
          <a:xfrm>
            <a:off x="8609375" y="1024544"/>
            <a:ext cx="54864" cy="54864"/>
          </a:xfrm>
          <a:prstGeom prst="ellipse">
            <a:avLst/>
          </a:prstGeom>
          <a:solidFill>
            <a:srgbClr val="7F776B">
              <a:alpha val="56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5" name="Oval 34"/>
          <p:cNvSpPr/>
          <p:nvPr/>
        </p:nvSpPr>
        <p:spPr>
          <a:xfrm>
            <a:off x="9770515" y="6014247"/>
            <a:ext cx="109728" cy="109728"/>
          </a:xfrm>
          <a:prstGeom prst="ellipse">
            <a:avLst/>
          </a:prstGeom>
          <a:solidFill>
            <a:srgbClr val="82BBAD">
              <a:alpha val="61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6" name="Oval 35"/>
          <p:cNvSpPr/>
          <p:nvPr/>
        </p:nvSpPr>
        <p:spPr>
          <a:xfrm>
            <a:off x="7501460" y="3501787"/>
            <a:ext cx="91440" cy="91440"/>
          </a:xfrm>
          <a:prstGeom prst="ellipse">
            <a:avLst/>
          </a:prstGeom>
          <a:solidFill>
            <a:srgbClr val="82BBAD">
              <a:alpha val="6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7" name="Oval 36"/>
          <p:cNvSpPr/>
          <p:nvPr/>
        </p:nvSpPr>
        <p:spPr>
          <a:xfrm>
            <a:off x="7381262" y="1429122"/>
            <a:ext cx="73152" cy="73152"/>
          </a:xfrm>
          <a:prstGeom prst="ellipse">
            <a:avLst/>
          </a:prstGeom>
          <a:solidFill>
            <a:srgbClr val="82BBAD">
              <a:alpha val="61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8" name="Oval 37"/>
          <p:cNvSpPr/>
          <p:nvPr/>
        </p:nvSpPr>
        <p:spPr>
          <a:xfrm>
            <a:off x="10050968" y="3672572"/>
            <a:ext cx="54864" cy="54864"/>
          </a:xfrm>
          <a:prstGeom prst="ellipse">
            <a:avLst/>
          </a:prstGeom>
          <a:solidFill>
            <a:srgbClr val="7F776B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9" name="Oval 38"/>
          <p:cNvSpPr/>
          <p:nvPr/>
        </p:nvSpPr>
        <p:spPr>
          <a:xfrm>
            <a:off x="10014805" y="5791315"/>
            <a:ext cx="109728" cy="109728"/>
          </a:xfrm>
          <a:prstGeom prst="ellipse">
            <a:avLst/>
          </a:prstGeom>
          <a:solidFill>
            <a:srgbClr val="82BBAD">
              <a:alpha val="89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0" name="Oval 39"/>
          <p:cNvSpPr/>
          <p:nvPr/>
        </p:nvSpPr>
        <p:spPr>
          <a:xfrm>
            <a:off x="10793541" y="4633777"/>
            <a:ext cx="73152" cy="73152"/>
          </a:xfrm>
          <a:prstGeom prst="ellipse">
            <a:avLst/>
          </a:prstGeom>
          <a:solidFill>
            <a:srgbClr val="7F776B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1" name="Oval 40"/>
          <p:cNvSpPr/>
          <p:nvPr/>
        </p:nvSpPr>
        <p:spPr>
          <a:xfrm>
            <a:off x="7719183" y="5024110"/>
            <a:ext cx="109728" cy="109728"/>
          </a:xfrm>
          <a:prstGeom prst="ellipse">
            <a:avLst/>
          </a:prstGeom>
          <a:solidFill>
            <a:srgbClr val="7F776B">
              <a:alpha val="7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2" name="Oval 41"/>
          <p:cNvSpPr/>
          <p:nvPr/>
        </p:nvSpPr>
        <p:spPr>
          <a:xfrm>
            <a:off x="8460387" y="2090268"/>
            <a:ext cx="54864" cy="54864"/>
          </a:xfrm>
          <a:prstGeom prst="ellipse">
            <a:avLst/>
          </a:prstGeom>
          <a:solidFill>
            <a:srgbClr val="F4CD96">
              <a:alpha val="8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3" name="Oval 42"/>
          <p:cNvSpPr/>
          <p:nvPr/>
        </p:nvSpPr>
        <p:spPr>
          <a:xfrm>
            <a:off x="10233407" y="2082786"/>
            <a:ext cx="109728" cy="109728"/>
          </a:xfrm>
          <a:prstGeom prst="ellipse">
            <a:avLst/>
          </a:prstGeom>
          <a:solidFill>
            <a:srgbClr val="82BBAD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4" name="Oval 43"/>
          <p:cNvSpPr/>
          <p:nvPr/>
        </p:nvSpPr>
        <p:spPr>
          <a:xfrm>
            <a:off x="7131501" y="1028543"/>
            <a:ext cx="73152" cy="73152"/>
          </a:xfrm>
          <a:prstGeom prst="ellipse">
            <a:avLst/>
          </a:prstGeom>
          <a:solidFill>
            <a:srgbClr val="82BBAD">
              <a:alpha val="49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5" name="Oval 44"/>
          <p:cNvSpPr/>
          <p:nvPr/>
        </p:nvSpPr>
        <p:spPr>
          <a:xfrm>
            <a:off x="10034721" y="6029040"/>
            <a:ext cx="91440" cy="91440"/>
          </a:xfrm>
          <a:prstGeom prst="ellipse">
            <a:avLst/>
          </a:prstGeom>
          <a:solidFill>
            <a:srgbClr val="82BBAD">
              <a:alpha val="8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6" name="Oval 45"/>
          <p:cNvSpPr/>
          <p:nvPr/>
        </p:nvSpPr>
        <p:spPr>
          <a:xfrm>
            <a:off x="8613878" y="2076353"/>
            <a:ext cx="54864" cy="54864"/>
          </a:xfrm>
          <a:prstGeom prst="ellipse">
            <a:avLst/>
          </a:prstGeom>
          <a:solidFill>
            <a:srgbClr val="82BBAD">
              <a:alpha val="46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7" name="Oval 46"/>
          <p:cNvSpPr/>
          <p:nvPr/>
        </p:nvSpPr>
        <p:spPr>
          <a:xfrm>
            <a:off x="7883035" y="4226349"/>
            <a:ext cx="109728" cy="109728"/>
          </a:xfrm>
          <a:prstGeom prst="ellipse">
            <a:avLst/>
          </a:prstGeom>
          <a:solidFill>
            <a:srgbClr val="E3A35A">
              <a:alpha val="61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8" name="Oval 47"/>
          <p:cNvSpPr/>
          <p:nvPr/>
        </p:nvSpPr>
        <p:spPr>
          <a:xfrm>
            <a:off x="9879446" y="5201014"/>
            <a:ext cx="54864" cy="54864"/>
          </a:xfrm>
          <a:prstGeom prst="ellipse">
            <a:avLst/>
          </a:prstGeom>
          <a:solidFill>
            <a:srgbClr val="E3A35A">
              <a:alpha val="8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9" name="Oval 48"/>
          <p:cNvSpPr/>
          <p:nvPr/>
        </p:nvSpPr>
        <p:spPr>
          <a:xfrm>
            <a:off x="10428781" y="4915657"/>
            <a:ext cx="91440" cy="91440"/>
          </a:xfrm>
          <a:prstGeom prst="ellipse">
            <a:avLst/>
          </a:prstGeom>
          <a:solidFill>
            <a:srgbClr val="F4CD96">
              <a:alpha val="59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0" name="Oval 49"/>
          <p:cNvSpPr/>
          <p:nvPr/>
        </p:nvSpPr>
        <p:spPr>
          <a:xfrm>
            <a:off x="9758515" y="1309260"/>
            <a:ext cx="146304" cy="146304"/>
          </a:xfrm>
          <a:prstGeom prst="ellipse">
            <a:avLst/>
          </a:prstGeom>
          <a:solidFill>
            <a:srgbClr val="82BBAD">
              <a:alpha val="6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1" name="Oval 50"/>
          <p:cNvSpPr/>
          <p:nvPr/>
        </p:nvSpPr>
        <p:spPr>
          <a:xfrm>
            <a:off x="10276112" y="1345103"/>
            <a:ext cx="54864" cy="54864"/>
          </a:xfrm>
          <a:prstGeom prst="ellipse">
            <a:avLst/>
          </a:prstGeom>
          <a:solidFill>
            <a:srgbClr val="F4CD96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2" name="Oval 51"/>
          <p:cNvSpPr/>
          <p:nvPr/>
        </p:nvSpPr>
        <p:spPr>
          <a:xfrm>
            <a:off x="7116075" y="4056088"/>
            <a:ext cx="91440" cy="91440"/>
          </a:xfrm>
          <a:prstGeom prst="ellipse">
            <a:avLst/>
          </a:prstGeom>
          <a:solidFill>
            <a:srgbClr val="F4CD96">
              <a:alpha val="69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3" name="Oval 52"/>
          <p:cNvSpPr/>
          <p:nvPr/>
        </p:nvSpPr>
        <p:spPr>
          <a:xfrm>
            <a:off x="9619650" y="3436960"/>
            <a:ext cx="73152" cy="73152"/>
          </a:xfrm>
          <a:prstGeom prst="ellipse">
            <a:avLst/>
          </a:prstGeom>
          <a:solidFill>
            <a:srgbClr val="F4CD96">
              <a:alpha val="6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4" name="Oval 53"/>
          <p:cNvSpPr/>
          <p:nvPr/>
        </p:nvSpPr>
        <p:spPr>
          <a:xfrm>
            <a:off x="7542631" y="918088"/>
            <a:ext cx="146304" cy="146304"/>
          </a:xfrm>
          <a:prstGeom prst="ellipse">
            <a:avLst/>
          </a:prstGeom>
          <a:solidFill>
            <a:srgbClr val="E3A35A">
              <a:alpha val="6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5" name="Oval 54"/>
          <p:cNvSpPr/>
          <p:nvPr/>
        </p:nvSpPr>
        <p:spPr>
          <a:xfrm>
            <a:off x="11111239" y="3227352"/>
            <a:ext cx="54864" cy="54864"/>
          </a:xfrm>
          <a:prstGeom prst="ellipse">
            <a:avLst/>
          </a:prstGeom>
          <a:solidFill>
            <a:srgbClr val="F4CD96">
              <a:alpha val="37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6" name="Oval 55"/>
          <p:cNvSpPr/>
          <p:nvPr/>
        </p:nvSpPr>
        <p:spPr>
          <a:xfrm>
            <a:off x="7919932" y="3563284"/>
            <a:ext cx="109728" cy="109728"/>
          </a:xfrm>
          <a:prstGeom prst="ellipse">
            <a:avLst/>
          </a:prstGeom>
          <a:solidFill>
            <a:srgbClr val="82BBAD">
              <a:alpha val="49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7" name="Oval 56"/>
          <p:cNvSpPr/>
          <p:nvPr/>
        </p:nvSpPr>
        <p:spPr>
          <a:xfrm>
            <a:off x="8806824" y="1548385"/>
            <a:ext cx="146304" cy="146304"/>
          </a:xfrm>
          <a:prstGeom prst="ellipse">
            <a:avLst/>
          </a:prstGeom>
          <a:solidFill>
            <a:srgbClr val="82BBAD">
              <a:alpha val="8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8" name="Oval 57"/>
          <p:cNvSpPr/>
          <p:nvPr/>
        </p:nvSpPr>
        <p:spPr>
          <a:xfrm>
            <a:off x="9893697" y="5256682"/>
            <a:ext cx="109728" cy="109728"/>
          </a:xfrm>
          <a:prstGeom prst="ellipse">
            <a:avLst/>
          </a:prstGeom>
          <a:solidFill>
            <a:srgbClr val="82BBAD">
              <a:alpha val="8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9" name="Oval 58"/>
          <p:cNvSpPr/>
          <p:nvPr/>
        </p:nvSpPr>
        <p:spPr>
          <a:xfrm>
            <a:off x="10867836" y="1592430"/>
            <a:ext cx="54864" cy="54864"/>
          </a:xfrm>
          <a:prstGeom prst="ellipse">
            <a:avLst/>
          </a:prstGeom>
          <a:solidFill>
            <a:srgbClr val="7F776B">
              <a:alpha val="63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0" name="Oval 59"/>
          <p:cNvSpPr/>
          <p:nvPr/>
        </p:nvSpPr>
        <p:spPr>
          <a:xfrm>
            <a:off x="10816864" y="5048755"/>
            <a:ext cx="109728" cy="109728"/>
          </a:xfrm>
          <a:prstGeom prst="ellipse">
            <a:avLst/>
          </a:prstGeom>
          <a:solidFill>
            <a:srgbClr val="E3A35A">
              <a:alpha val="7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1" name="Oval 60"/>
          <p:cNvSpPr/>
          <p:nvPr/>
        </p:nvSpPr>
        <p:spPr>
          <a:xfrm>
            <a:off x="7643517" y="1623240"/>
            <a:ext cx="109728" cy="109728"/>
          </a:xfrm>
          <a:prstGeom prst="ellipse">
            <a:avLst/>
          </a:prstGeom>
          <a:solidFill>
            <a:srgbClr val="E3A35A">
              <a:alpha val="66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2" name="Oval 61"/>
          <p:cNvSpPr/>
          <p:nvPr/>
        </p:nvSpPr>
        <p:spPr>
          <a:xfrm>
            <a:off x="8416790" y="3656006"/>
            <a:ext cx="109728" cy="109728"/>
          </a:xfrm>
          <a:prstGeom prst="ellipse">
            <a:avLst/>
          </a:prstGeom>
          <a:solidFill>
            <a:srgbClr val="82BBAD">
              <a:alpha val="7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3" name="TextBox 62"/>
          <p:cNvSpPr txBox="1"/>
          <p:nvPr/>
        </p:nvSpPr>
        <p:spPr>
          <a:xfrm>
            <a:off x="868680" y="1234440"/>
            <a:ext cx="6309360" cy="2194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3000" b="1">
                <a:solidFill>
                  <a:srgbClr val="F2ECE1"/>
                </a:solidFill>
                <a:latin typeface="Songti SC"/>
                <a:ea typeface="Songti SC"/>
                <a:cs typeface="Songti SC"/>
              </a:rPr>
              <a:t>当每个专业人士都有分身，</a:t>
            </a:r>
          </a:p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3000" b="1">
                <a:solidFill>
                  <a:srgbClr val="E3A35A"/>
                </a:solidFill>
                <a:latin typeface="Songti SC"/>
                <a:ea typeface="Songti SC"/>
                <a:cs typeface="Songti SC"/>
              </a:rPr>
              <a:t>经验第一次可以像产品一样</a:t>
            </a:r>
          </a:p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3000" b="1">
                <a:solidFill>
                  <a:srgbClr val="E3A35A"/>
                </a:solidFill>
                <a:latin typeface="Songti SC"/>
                <a:ea typeface="Songti SC"/>
                <a:cs typeface="Songti SC"/>
              </a:rPr>
              <a:t>持续交付、授权和定价。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868680" y="3611880"/>
            <a:ext cx="60350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600" b="0">
                <a:solidFill>
                  <a:srgbClr val="BDB4A6"/>
                </a:solidFill>
                <a:latin typeface="PingFang SC"/>
                <a:ea typeface="PingFang SC"/>
                <a:cs typeface="PingFang SC"/>
              </a:rPr>
              <a:t>这就是经验经济。知君有机会成为它的基础设施。</a:t>
            </a:r>
          </a:p>
        </p:txBody>
      </p:sp>
      <p:sp>
        <p:nvSpPr>
          <p:cNvPr id="65" name="Rectangle 64"/>
          <p:cNvSpPr/>
          <p:nvPr/>
        </p:nvSpPr>
        <p:spPr>
          <a:xfrm>
            <a:off x="868680" y="4471416"/>
            <a:ext cx="36576" cy="841248"/>
          </a:xfrm>
          <a:prstGeom prst="rect">
            <a:avLst/>
          </a:prstGeom>
          <a:solidFill>
            <a:srgbClr val="82BB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6" name="TextBox 65"/>
          <p:cNvSpPr txBox="1"/>
          <p:nvPr/>
        </p:nvSpPr>
        <p:spPr>
          <a:xfrm>
            <a:off x="1069848" y="4434840"/>
            <a:ext cx="5833872" cy="914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1350" b="0">
                <a:solidFill>
                  <a:srgbClr val="BDB4A6"/>
                </a:solidFill>
                <a:latin typeface="PingFang SC"/>
                <a:ea typeface="PingFang SC"/>
                <a:cs typeface="PingFang SC"/>
              </a:rPr>
              <a:t>再往前一步：经本人允许，你使用的其他 AI 也能读到你的分身，不必反复交代背景。知君成为个人上下文的入口。</a:t>
            </a:r>
          </a:p>
        </p:txBody>
      </p:sp>
    </p:spTree>
  </p:cSld>
  <p:clrMapOvr>
    <a:masterClrMapping/>
  </p:clrMapOvr>
  <p:transition spd="med">
    <p:fade/>
  </p:transition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0F0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68680" y="502920"/>
            <a:ext cx="10454335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200" b="0">
                <a:solidFill>
                  <a:srgbClr val="E3A35A"/>
                </a:solidFill>
                <a:latin typeface="PingFang SC"/>
                <a:ea typeface="PingFang SC"/>
                <a:cs typeface="PingFang SC"/>
              </a:rPr>
              <a:t>发展路径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822960"/>
            <a:ext cx="10454335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3600" b="1">
                <a:solidFill>
                  <a:srgbClr val="F2ECE1"/>
                </a:solidFill>
                <a:latin typeface="Songti SC"/>
                <a:ea typeface="Songti SC"/>
                <a:cs typeface="Songti SC"/>
              </a:rPr>
              <a:t>先让一个人被真正理解，再让他的经验走得更远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868680" y="2331720"/>
            <a:ext cx="10454335" cy="0"/>
          </a:xfrm>
          <a:prstGeom prst="line">
            <a:avLst/>
          </a:prstGeom>
          <a:ln w="25400">
            <a:solidFill>
              <a:srgbClr val="302B2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Oval 4"/>
          <p:cNvSpPr/>
          <p:nvPr/>
        </p:nvSpPr>
        <p:spPr>
          <a:xfrm>
            <a:off x="886967" y="2212848"/>
            <a:ext cx="237744" cy="237744"/>
          </a:xfrm>
          <a:prstGeom prst="ellipse">
            <a:avLst/>
          </a:prstGeom>
          <a:solidFill>
            <a:srgbClr val="100F0D"/>
          </a:solidFill>
          <a:ln w="28575">
            <a:solidFill>
              <a:srgbClr val="E3A3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Rounded Rectangle 5"/>
          <p:cNvSpPr/>
          <p:nvPr/>
        </p:nvSpPr>
        <p:spPr>
          <a:xfrm>
            <a:off x="868680" y="2697480"/>
            <a:ext cx="2450592" cy="2514600"/>
          </a:xfrm>
          <a:prstGeom prst="roundRect">
            <a:avLst>
              <a:gd name="adj" fmla="val 8000"/>
            </a:avLst>
          </a:prstGeom>
          <a:solidFill>
            <a:srgbClr val="1C1915"/>
          </a:solidFill>
          <a:ln w="12700">
            <a:solidFill>
              <a:srgbClr val="302B2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1143000" y="2907792"/>
            <a:ext cx="199339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00" b="0">
                <a:solidFill>
                  <a:srgbClr val="7F776B"/>
                </a:solidFill>
                <a:latin typeface="PingFang SC"/>
                <a:ea typeface="PingFang SC"/>
                <a:cs typeface="PingFang SC"/>
              </a:rPr>
              <a:t>一个人 · 本体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43000" y="3200400"/>
            <a:ext cx="1993392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800" b="1">
                <a:solidFill>
                  <a:srgbClr val="E3A35A"/>
                </a:solidFill>
                <a:latin typeface="Songti SC"/>
                <a:ea typeface="Songti SC"/>
                <a:cs typeface="Songti SC"/>
              </a:rPr>
              <a:t>真正懂你的知己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3767328"/>
            <a:ext cx="1947672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5000"/>
              </a:lnSpc>
              <a:spcAft>
                <a:spcPts val="0"/>
              </a:spcAft>
            </a:pPr>
            <a:r>
              <a:rPr sz="1250" b="0">
                <a:solidFill>
                  <a:srgbClr val="BDB4A6"/>
                </a:solidFill>
                <a:latin typeface="PingFang SC"/>
                <a:ea typeface="PingFang SC"/>
                <a:cs typeface="PingFang SC"/>
              </a:rPr>
              <a:t>首批用户愿意长期使用；硬件与订阅开始产生收入</a:t>
            </a:r>
          </a:p>
        </p:txBody>
      </p:sp>
      <p:sp>
        <p:nvSpPr>
          <p:cNvPr id="10" name="Oval 9"/>
          <p:cNvSpPr/>
          <p:nvPr/>
        </p:nvSpPr>
        <p:spPr>
          <a:xfrm>
            <a:off x="3547872" y="2212848"/>
            <a:ext cx="237744" cy="237744"/>
          </a:xfrm>
          <a:prstGeom prst="ellipse">
            <a:avLst/>
          </a:prstGeom>
          <a:solidFill>
            <a:srgbClr val="100F0D"/>
          </a:solidFill>
          <a:ln w="28575">
            <a:solidFill>
              <a:srgbClr val="F4CD9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Rounded Rectangle 10"/>
          <p:cNvSpPr/>
          <p:nvPr/>
        </p:nvSpPr>
        <p:spPr>
          <a:xfrm>
            <a:off x="3529584" y="2697480"/>
            <a:ext cx="2450592" cy="2514600"/>
          </a:xfrm>
          <a:prstGeom prst="roundRect">
            <a:avLst>
              <a:gd name="adj" fmla="val 8000"/>
            </a:avLst>
          </a:prstGeom>
          <a:solidFill>
            <a:srgbClr val="1C1915"/>
          </a:solidFill>
          <a:ln w="12700">
            <a:solidFill>
              <a:srgbClr val="302B2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3803904" y="2907792"/>
            <a:ext cx="199339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00" b="0">
                <a:solidFill>
                  <a:srgbClr val="7F776B"/>
                </a:solidFill>
                <a:latin typeface="PingFang SC"/>
                <a:ea typeface="PingFang SC"/>
                <a:cs typeface="PingFang SC"/>
              </a:rPr>
              <a:t>一个人 · 分身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803904" y="3200400"/>
            <a:ext cx="1993392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800" b="1">
                <a:solidFill>
                  <a:srgbClr val="F4CD96"/>
                </a:solidFill>
                <a:latin typeface="Songti SC"/>
                <a:ea typeface="Songti SC"/>
                <a:cs typeface="Songti SC"/>
              </a:rPr>
              <a:t>经验被放大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803904" y="3767328"/>
            <a:ext cx="1947672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5000"/>
              </a:lnSpc>
              <a:spcAft>
                <a:spcPts val="0"/>
              </a:spcAft>
            </a:pPr>
            <a:r>
              <a:rPr sz="1250" b="0">
                <a:solidFill>
                  <a:srgbClr val="BDB4A6"/>
                </a:solidFill>
                <a:latin typeface="PingFang SC"/>
                <a:ea typeface="PingFang SC"/>
                <a:cs typeface="PingFang SC"/>
              </a:rPr>
              <a:t>经验开始服务授权的人，跑通咨询分成</a:t>
            </a:r>
          </a:p>
        </p:txBody>
      </p:sp>
      <p:sp>
        <p:nvSpPr>
          <p:cNvPr id="15" name="Oval 14"/>
          <p:cNvSpPr/>
          <p:nvPr/>
        </p:nvSpPr>
        <p:spPr>
          <a:xfrm>
            <a:off x="6208776" y="2212848"/>
            <a:ext cx="237744" cy="237744"/>
          </a:xfrm>
          <a:prstGeom prst="ellipse">
            <a:avLst/>
          </a:prstGeom>
          <a:solidFill>
            <a:srgbClr val="100F0D"/>
          </a:solidFill>
          <a:ln w="28575">
            <a:solidFill>
              <a:srgbClr val="82BBA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ounded Rectangle 15"/>
          <p:cNvSpPr/>
          <p:nvPr/>
        </p:nvSpPr>
        <p:spPr>
          <a:xfrm>
            <a:off x="6190488" y="2697480"/>
            <a:ext cx="2450592" cy="2514600"/>
          </a:xfrm>
          <a:prstGeom prst="roundRect">
            <a:avLst>
              <a:gd name="adj" fmla="val 8000"/>
            </a:avLst>
          </a:prstGeom>
          <a:solidFill>
            <a:srgbClr val="1C1915"/>
          </a:solidFill>
          <a:ln w="12700">
            <a:solidFill>
              <a:srgbClr val="302B2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6464808" y="2907792"/>
            <a:ext cx="199339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00" b="0">
                <a:solidFill>
                  <a:srgbClr val="7F776B"/>
                </a:solidFill>
                <a:latin typeface="PingFang SC"/>
                <a:ea typeface="PingFang SC"/>
                <a:cs typeface="PingFang SC"/>
              </a:rPr>
              <a:t>一群人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64808" y="3200400"/>
            <a:ext cx="1993392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800" b="1">
                <a:solidFill>
                  <a:srgbClr val="82BBAD"/>
                </a:solidFill>
                <a:latin typeface="Songti SC"/>
                <a:ea typeface="Songti SC"/>
                <a:cs typeface="Songti SC"/>
              </a:rPr>
              <a:t>AI 私董会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64808" y="3767328"/>
            <a:ext cx="1947672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5000"/>
              </a:lnSpc>
              <a:spcAft>
                <a:spcPts val="0"/>
              </a:spcAft>
            </a:pPr>
            <a:r>
              <a:rPr sz="1250" b="0">
                <a:solidFill>
                  <a:srgbClr val="BDB4A6"/>
                </a:solidFill>
                <a:latin typeface="PingFang SC"/>
                <a:ea typeface="PingFang SC"/>
                <a:cs typeface="PingFang SC"/>
              </a:rPr>
              <a:t>在半人马社群开出第一个 AI 私董会，验证网络效应</a:t>
            </a:r>
          </a:p>
        </p:txBody>
      </p:sp>
      <p:sp>
        <p:nvSpPr>
          <p:cNvPr id="20" name="Oval 19"/>
          <p:cNvSpPr/>
          <p:nvPr/>
        </p:nvSpPr>
        <p:spPr>
          <a:xfrm>
            <a:off x="8869680" y="2212848"/>
            <a:ext cx="237744" cy="237744"/>
          </a:xfrm>
          <a:prstGeom prst="ellipse">
            <a:avLst/>
          </a:prstGeom>
          <a:solidFill>
            <a:srgbClr val="100F0D"/>
          </a:solidFill>
          <a:ln w="28575">
            <a:solidFill>
              <a:srgbClr val="7F77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851392" y="2697480"/>
            <a:ext cx="2450592" cy="2514600"/>
          </a:xfrm>
          <a:prstGeom prst="roundRect">
            <a:avLst>
              <a:gd name="adj" fmla="val 8000"/>
            </a:avLst>
          </a:prstGeom>
          <a:solidFill>
            <a:srgbClr val="1C1915"/>
          </a:solidFill>
          <a:ln w="12700">
            <a:solidFill>
              <a:srgbClr val="302B2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9125712" y="2907792"/>
            <a:ext cx="199339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00" b="0">
                <a:solidFill>
                  <a:srgbClr val="7F776B"/>
                </a:solidFill>
                <a:latin typeface="PingFang SC"/>
                <a:ea typeface="PingFang SC"/>
                <a:cs typeface="PingFang SC"/>
              </a:rPr>
              <a:t>一代人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125712" y="3200400"/>
            <a:ext cx="1993392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800" b="1">
                <a:solidFill>
                  <a:srgbClr val="F2ECE1"/>
                </a:solidFill>
                <a:latin typeface="Songti SC"/>
                <a:ea typeface="Songti SC"/>
                <a:cs typeface="Songti SC"/>
              </a:rPr>
              <a:t>传承与组织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125712" y="3767328"/>
            <a:ext cx="1947672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5000"/>
              </a:lnSpc>
              <a:spcAft>
                <a:spcPts val="0"/>
              </a:spcAft>
            </a:pPr>
            <a:r>
              <a:rPr sz="1250" b="0">
                <a:solidFill>
                  <a:srgbClr val="BDB4A6"/>
                </a:solidFill>
                <a:latin typeface="PingFang SC"/>
                <a:ea typeface="PingFang SC"/>
                <a:cs typeface="PingFang SC"/>
              </a:rPr>
              <a:t>进入家族传承与企业市场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68680" y="5577840"/>
            <a:ext cx="1045433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200" b="0">
                <a:solidFill>
                  <a:srgbClr val="7F776B"/>
                </a:solidFill>
                <a:latin typeface="PingFang SC"/>
                <a:ea typeface="PingFang SC"/>
                <a:cs typeface="PingFang SC"/>
              </a:rPr>
              <a:t>本体和分身都是核心。先本体、分身紧跟，是因为分身的价值来自本体的积累。</a:t>
            </a:r>
          </a:p>
        </p:txBody>
      </p:sp>
    </p:spTree>
  </p:cSld>
  <p:clrMapOvr>
    <a:masterClrMapping/>
  </p:clrMapOvr>
  <p:transition spd="med">
    <p:fade/>
  </p:transition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0F0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Freeform 1"/>
          <p:cNvSpPr/>
          <p:nvPr/>
        </p:nvSpPr>
        <p:spPr>
          <a:xfrm>
            <a:off x="5715000" y="1078992"/>
            <a:ext cx="768096" cy="438912"/>
          </a:xfrm>
          <a:custGeom>
            <a:avLst/>
            <a:gdLst/>
            <a:ahLst/>
            <a:cxnLst/>
            <a:rect l="l" t="t" r="r" b="b"/>
            <a:pathLst>
              <a:path w="768096" h="438912">
                <a:moveTo>
                  <a:pt x="384048" y="0"/>
                </a:moveTo>
                <a:lnTo>
                  <a:pt x="768096" y="219456"/>
                </a:lnTo>
                <a:lnTo>
                  <a:pt x="384048" y="438912"/>
                </a:lnTo>
                <a:lnTo>
                  <a:pt x="0" y="219456"/>
                </a:lnTo>
                <a:close/>
              </a:path>
            </a:pathLst>
          </a:custGeom>
          <a:solidFill>
            <a:srgbClr val="F4CD96">
              <a:alpha val="12000"/>
            </a:srgbClr>
          </a:solidFill>
          <a:ln w="19050">
            <a:solidFill>
              <a:srgbClr val="E3A3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Freeform 2"/>
          <p:cNvSpPr/>
          <p:nvPr/>
        </p:nvSpPr>
        <p:spPr>
          <a:xfrm>
            <a:off x="5715000" y="1298448"/>
            <a:ext cx="384048" cy="658368"/>
          </a:xfrm>
          <a:custGeom>
            <a:avLst/>
            <a:gdLst/>
            <a:ahLst/>
            <a:cxnLst/>
            <a:rect l="l" t="t" r="r" b="b"/>
            <a:pathLst>
              <a:path w="384048" h="658368">
                <a:moveTo>
                  <a:pt x="0" y="0"/>
                </a:moveTo>
                <a:lnTo>
                  <a:pt x="384048" y="219456"/>
                </a:lnTo>
                <a:lnTo>
                  <a:pt x="384048" y="658368"/>
                </a:lnTo>
                <a:lnTo>
                  <a:pt x="0" y="438912"/>
                </a:lnTo>
                <a:close/>
              </a:path>
            </a:pathLst>
          </a:custGeom>
          <a:solidFill>
            <a:srgbClr val="E3A35A">
              <a:alpha val="6000"/>
            </a:srgbClr>
          </a:solidFill>
          <a:ln w="19050">
            <a:solidFill>
              <a:srgbClr val="E3A3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6099048" y="1298448"/>
            <a:ext cx="384048" cy="658368"/>
          </a:xfrm>
          <a:custGeom>
            <a:avLst/>
            <a:gdLst/>
            <a:ahLst/>
            <a:cxnLst/>
            <a:rect l="l" t="t" r="r" b="b"/>
            <a:pathLst>
              <a:path w="384048" h="658368">
                <a:moveTo>
                  <a:pt x="384048" y="0"/>
                </a:moveTo>
                <a:lnTo>
                  <a:pt x="0" y="219456"/>
                </a:lnTo>
                <a:lnTo>
                  <a:pt x="0" y="658368"/>
                </a:lnTo>
                <a:lnTo>
                  <a:pt x="384048" y="438912"/>
                </a:lnTo>
                <a:close/>
              </a:path>
            </a:pathLst>
          </a:custGeom>
          <a:solidFill>
            <a:srgbClr val="E3A35A">
              <a:alpha val="15000"/>
            </a:srgbClr>
          </a:solidFill>
          <a:ln w="19050">
            <a:solidFill>
              <a:srgbClr val="E3A3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2423160"/>
            <a:ext cx="10454335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50000"/>
              </a:lnSpc>
              <a:spcAft>
                <a:spcPts val="0"/>
              </a:spcAft>
            </a:pPr>
            <a:r>
              <a:rPr sz="3000" b="1">
                <a:solidFill>
                  <a:srgbClr val="F2ECE1"/>
                </a:solidFill>
                <a:latin typeface="Songti SC"/>
                <a:ea typeface="Songti SC"/>
                <a:cs typeface="Songti SC"/>
              </a:rPr>
              <a:t>本体是你，</a:t>
            </a:r>
          </a:p>
          <a:p>
            <a:pPr algn="ctr">
              <a:lnSpc>
                <a:spcPct val="150000"/>
              </a:lnSpc>
              <a:spcAft>
                <a:spcPts val="0"/>
              </a:spcAft>
            </a:pPr>
            <a:r>
              <a:rPr sz="3000" b="1">
                <a:solidFill>
                  <a:srgbClr val="E3A35A"/>
                </a:solidFill>
                <a:latin typeface="Songti SC"/>
                <a:ea typeface="Songti SC"/>
                <a:cs typeface="Songti SC"/>
              </a:rPr>
              <a:t>分身是你允许别人看到的你。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3977639"/>
            <a:ext cx="10454335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0000"/>
              </a:lnSpc>
              <a:spcAft>
                <a:spcPts val="0"/>
              </a:spcAft>
            </a:pPr>
            <a:r>
              <a:rPr sz="1700" b="0">
                <a:solidFill>
                  <a:srgbClr val="F2ECE1"/>
                </a:solidFill>
                <a:latin typeface="PingFang SC"/>
                <a:ea typeface="PingFang SC"/>
                <a:cs typeface="PingFang SC"/>
              </a:rPr>
              <a:t>一个人 → 一群人 → 一代人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4480560"/>
            <a:ext cx="10454335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0000"/>
              </a:lnSpc>
              <a:spcAft>
                <a:spcPts val="0"/>
              </a:spcAft>
            </a:pPr>
            <a:r>
              <a:rPr sz="1400" b="0">
                <a:solidFill>
                  <a:srgbClr val="BDB4A6"/>
                </a:solidFill>
                <a:latin typeface="PingFang SC"/>
                <a:ea typeface="PingFang SC"/>
                <a:cs typeface="PingFang SC"/>
              </a:rPr>
              <a:t>让每个人的经验，成为自己持有、持续生长、可以分享的资产。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5029200"/>
            <a:ext cx="10454335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0000"/>
              </a:lnSpc>
              <a:spcAft>
                <a:spcPts val="0"/>
              </a:spcAft>
            </a:pPr>
            <a:r>
              <a:rPr sz="1800" b="0">
                <a:solidFill>
                  <a:srgbClr val="F4CD96"/>
                </a:solidFill>
                <a:latin typeface="Avenir Next"/>
                <a:ea typeface="Avenir Next"/>
                <a:cs typeface="Avenir Next"/>
              </a:rPr>
              <a:t>contextof.me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5486400"/>
            <a:ext cx="10454335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0000"/>
              </a:lnSpc>
              <a:spcAft>
                <a:spcPts val="0"/>
              </a:spcAft>
            </a:pPr>
            <a:r>
              <a:rPr sz="1200" b="0">
                <a:solidFill>
                  <a:srgbClr val="7F776B"/>
                </a:solidFill>
                <a:latin typeface="PingFang SC"/>
                <a:ea typeface="PingFang SC"/>
                <a:cs typeface="PingFang SC"/>
              </a:rPr>
              <a:t>知君 · 半人马人工智能</a:t>
            </a:r>
          </a:p>
        </p:txBody>
      </p:sp>
    </p:spTree>
  </p:cSld>
  <p:clrMapOvr>
    <a:masterClrMapping/>
  </p:clrMapOvr>
  <p:transition spd="med">
    <p:fade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