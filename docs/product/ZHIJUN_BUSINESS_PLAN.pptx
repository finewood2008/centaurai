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知君是一只私人记忆盒子。先讲它对一个人意味着什么，再讲它如何把经验开放给别人。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知君由个人本体和个人分身两部分组成，都是核心。信任承诺相反，用单向阀门连接，内容只能从本体流向分身。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孤独来自位置不是性格：身边每个人都和这件事有利害关系。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判断的回路是本体最核心的循环：记下决定与预期，几周后主动回来问。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把人推回人不可关闭；危机对话完全不进入记忆。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一个人只有确信内容不会流到别处，才会说真话。外部模型只收必要片段，本人选择开启，可见可审计。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右侧对话为示意，不是真实用户对话。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内观分区、情绪记录、危机对话永远不能发布——不是默认关闭，是不存在这个开关。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分身受众是授权的人；素材只来自本体中本人确认的内容；对来访者明确自称 AI。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没有本体，分身只是一个读过你文件的问答机器人。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竞品栏中「通用 AI 助手与陪伴产品」为概括，对外使用前需逐家核对。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不用时长与对话次数作北极星，避免诱导依赖。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0F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777240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00" b="0">
                <a:solidFill>
                  <a:srgbClr val="E3A35A"/>
                </a:solidFill>
                <a:latin typeface="PingFang SC"/>
                <a:ea typeface="PingFang SC"/>
                <a:cs typeface="PingFang SC"/>
              </a:rPr>
              <a:t>半人马人工智能 · 商业计划书 · 2026 年 10 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1234440"/>
            <a:ext cx="64008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600" b="1">
                <a:solidFill>
                  <a:srgbClr val="F2ECE1"/>
                </a:solidFill>
                <a:latin typeface="Songti SC"/>
                <a:ea typeface="Songti SC"/>
                <a:cs typeface="Songti SC"/>
              </a:rPr>
              <a:t>知君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2697480"/>
            <a:ext cx="6400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2800" b="0">
                <a:solidFill>
                  <a:srgbClr val="F4CD96"/>
                </a:solidFill>
                <a:latin typeface="Songti SC"/>
                <a:ea typeface="Songti SC"/>
                <a:cs typeface="Songti SC"/>
              </a:rPr>
              <a:t>私人记忆盒子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3703320"/>
            <a:ext cx="603504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700" b="0">
                <a:solidFill>
                  <a:srgbClr val="BDB4A6"/>
                </a:solidFill>
                <a:latin typeface="PingFang SC"/>
                <a:ea typeface="PingFang SC"/>
                <a:cs typeface="PingFang SC"/>
              </a:rPr>
              <a:t>它通过对话逐渐认识你，把这份认识交给你掌管；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700" b="0">
                <a:solidFill>
                  <a:srgbClr val="BDB4A6"/>
                </a:solidFill>
                <a:latin typeface="PingFang SC"/>
                <a:ea typeface="PingFang SC"/>
                <a:cs typeface="PingFang SC"/>
              </a:rPr>
              <a:t>要独自拿主意时陪你商量，结果回来时陪你复盘。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700" b="0">
                <a:solidFill>
                  <a:srgbClr val="BDB4A6"/>
                </a:solidFill>
                <a:latin typeface="PingFang SC"/>
                <a:ea typeface="PingFang SC"/>
                <a:cs typeface="PingFang SC"/>
              </a:rPr>
              <a:t>你亲自确认过的经验，可以交给你的分身，让你授权的人来问。</a:t>
            </a:r>
          </a:p>
        </p:txBody>
      </p:sp>
      <p:sp>
        <p:nvSpPr>
          <p:cNvPr id="6" name="Oval 5"/>
          <p:cNvSpPr/>
          <p:nvPr/>
        </p:nvSpPr>
        <p:spPr>
          <a:xfrm>
            <a:off x="7644383" y="1731873"/>
            <a:ext cx="3364991" cy="3364991"/>
          </a:xfrm>
          <a:prstGeom prst="ellipse">
            <a:avLst/>
          </a:prstGeom>
          <a:solidFill>
            <a:srgbClr val="E3A35A">
              <a:alpha val="1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Oval 6"/>
          <p:cNvSpPr/>
          <p:nvPr/>
        </p:nvSpPr>
        <p:spPr>
          <a:xfrm>
            <a:off x="8317382" y="2404872"/>
            <a:ext cx="2018995" cy="2018995"/>
          </a:xfrm>
          <a:prstGeom prst="ellipse">
            <a:avLst/>
          </a:prstGeom>
          <a:solidFill>
            <a:srgbClr val="F4CD96">
              <a:alpha val="1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Freeform 7"/>
          <p:cNvSpPr/>
          <p:nvPr/>
        </p:nvSpPr>
        <p:spPr>
          <a:xfrm>
            <a:off x="8149132" y="2068372"/>
            <a:ext cx="2355495" cy="1345997"/>
          </a:xfrm>
          <a:custGeom>
            <a:avLst/>
            <a:gdLst/>
            <a:ahLst/>
            <a:cxnLst/>
            <a:rect l="l" t="t" r="r" b="b"/>
            <a:pathLst>
              <a:path w="2355495" h="1345997">
                <a:moveTo>
                  <a:pt x="1177748" y="0"/>
                </a:moveTo>
                <a:lnTo>
                  <a:pt x="2355495" y="672999"/>
                </a:lnTo>
                <a:lnTo>
                  <a:pt x="1177748" y="1345997"/>
                </a:lnTo>
                <a:lnTo>
                  <a:pt x="0" y="672999"/>
                </a:lnTo>
                <a:close/>
              </a:path>
            </a:pathLst>
          </a:custGeom>
          <a:solidFill>
            <a:srgbClr val="F4CD96">
              <a:alpha val="12000"/>
            </a:srgbClr>
          </a:solidFill>
          <a:ln w="22225">
            <a:solidFill>
              <a:srgbClr val="E3A3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Freeform 8"/>
          <p:cNvSpPr/>
          <p:nvPr/>
        </p:nvSpPr>
        <p:spPr>
          <a:xfrm>
            <a:off x="8149132" y="2741371"/>
            <a:ext cx="1177748" cy="2018995"/>
          </a:xfrm>
          <a:custGeom>
            <a:avLst/>
            <a:gdLst/>
            <a:ahLst/>
            <a:cxnLst/>
            <a:rect l="l" t="t" r="r" b="b"/>
            <a:pathLst>
              <a:path w="1177748" h="2018995">
                <a:moveTo>
                  <a:pt x="0" y="0"/>
                </a:moveTo>
                <a:lnTo>
                  <a:pt x="1177748" y="672998"/>
                </a:lnTo>
                <a:lnTo>
                  <a:pt x="1177748" y="2018995"/>
                </a:lnTo>
                <a:lnTo>
                  <a:pt x="0" y="1345997"/>
                </a:lnTo>
                <a:close/>
              </a:path>
            </a:pathLst>
          </a:custGeom>
          <a:solidFill>
            <a:srgbClr val="E3A35A">
              <a:alpha val="6000"/>
            </a:srgbClr>
          </a:solidFill>
          <a:ln w="22225">
            <a:solidFill>
              <a:srgbClr val="E3A3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Freeform 9"/>
          <p:cNvSpPr/>
          <p:nvPr/>
        </p:nvSpPr>
        <p:spPr>
          <a:xfrm>
            <a:off x="9326880" y="2741371"/>
            <a:ext cx="1177747" cy="2018995"/>
          </a:xfrm>
          <a:custGeom>
            <a:avLst/>
            <a:gdLst/>
            <a:ahLst/>
            <a:cxnLst/>
            <a:rect l="l" t="t" r="r" b="b"/>
            <a:pathLst>
              <a:path w="1177747" h="2018995">
                <a:moveTo>
                  <a:pt x="1177747" y="0"/>
                </a:moveTo>
                <a:lnTo>
                  <a:pt x="0" y="672998"/>
                </a:lnTo>
                <a:lnTo>
                  <a:pt x="0" y="2018995"/>
                </a:lnTo>
                <a:lnTo>
                  <a:pt x="1177747" y="1345997"/>
                </a:lnTo>
                <a:close/>
              </a:path>
            </a:pathLst>
          </a:custGeom>
          <a:solidFill>
            <a:srgbClr val="E3A35A">
              <a:alpha val="15000"/>
            </a:srgbClr>
          </a:solidFill>
          <a:ln w="22225">
            <a:solidFill>
              <a:srgbClr val="E3A3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360919" y="1234439"/>
            <a:ext cx="91440" cy="91440"/>
          </a:xfrm>
          <a:prstGeom prst="ellipse">
            <a:avLst/>
          </a:prstGeom>
          <a:solidFill>
            <a:srgbClr val="F4CD96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Oval 11"/>
          <p:cNvSpPr/>
          <p:nvPr/>
        </p:nvSpPr>
        <p:spPr>
          <a:xfrm>
            <a:off x="11119104" y="1426464"/>
            <a:ext cx="73152" cy="73152"/>
          </a:xfrm>
          <a:prstGeom prst="ellipse">
            <a:avLst/>
          </a:prstGeom>
          <a:solidFill>
            <a:srgbClr val="F4CD96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Oval 12"/>
          <p:cNvSpPr/>
          <p:nvPr/>
        </p:nvSpPr>
        <p:spPr>
          <a:xfrm>
            <a:off x="7077456" y="4151376"/>
            <a:ext cx="109728" cy="109728"/>
          </a:xfrm>
          <a:prstGeom prst="ellipse">
            <a:avLst/>
          </a:prstGeom>
          <a:solidFill>
            <a:srgbClr val="F4CD96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Oval 13"/>
          <p:cNvSpPr/>
          <p:nvPr/>
        </p:nvSpPr>
        <p:spPr>
          <a:xfrm>
            <a:off x="11301984" y="3803904"/>
            <a:ext cx="73152" cy="73152"/>
          </a:xfrm>
          <a:prstGeom prst="ellipse">
            <a:avLst/>
          </a:prstGeom>
          <a:solidFill>
            <a:srgbClr val="F4CD96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Oval 14"/>
          <p:cNvSpPr/>
          <p:nvPr/>
        </p:nvSpPr>
        <p:spPr>
          <a:xfrm>
            <a:off x="8193024" y="877824"/>
            <a:ext cx="73152" cy="73152"/>
          </a:xfrm>
          <a:prstGeom prst="ellipse">
            <a:avLst/>
          </a:prstGeom>
          <a:solidFill>
            <a:srgbClr val="F4CD96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Oval 15"/>
          <p:cNvSpPr/>
          <p:nvPr/>
        </p:nvSpPr>
        <p:spPr>
          <a:xfrm>
            <a:off x="10561319" y="5623560"/>
            <a:ext cx="91440" cy="91440"/>
          </a:xfrm>
          <a:prstGeom prst="ellipse">
            <a:avLst/>
          </a:prstGeom>
          <a:solidFill>
            <a:srgbClr val="F4CD96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0F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502920"/>
            <a:ext cx="10454335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00" b="0">
                <a:solidFill>
                  <a:srgbClr val="E3A35A"/>
                </a:solidFill>
                <a:latin typeface="PingFang SC"/>
                <a:ea typeface="PingFang SC"/>
                <a:cs typeface="PingFang SC"/>
              </a:rPr>
              <a:t>产品定位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822960"/>
            <a:ext cx="10454335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3600" b="1">
                <a:solidFill>
                  <a:srgbClr val="F2ECE1"/>
                </a:solidFill>
                <a:latin typeface="Songti SC"/>
                <a:ea typeface="Songti SC"/>
                <a:cs typeface="Songti SC"/>
              </a:rPr>
              <a:t>本体是你，分身是你允许别人看到的你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691640"/>
            <a:ext cx="10454335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  <a:spcAft>
                <a:spcPts val="0"/>
              </a:spcAft>
            </a:pPr>
            <a:r>
              <a:rPr sz="1700" b="0">
                <a:solidFill>
                  <a:srgbClr val="BDB4A6"/>
                </a:solidFill>
                <a:latin typeface="PingFang SC"/>
                <a:ea typeface="PingFang SC"/>
                <a:cs typeface="PingFang SC"/>
              </a:rPr>
              <a:t>知君由两部分组成，都是核心。面向需要独自做重要判断、身边却没有人可以说真话的人。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8680" y="2880360"/>
            <a:ext cx="4572000" cy="3291840"/>
          </a:xfrm>
          <a:prstGeom prst="roundRect">
            <a:avLst>
              <a:gd name="adj" fmla="val 8000"/>
            </a:avLst>
          </a:prstGeom>
          <a:solidFill>
            <a:srgbClr val="2C251B"/>
          </a:solidFill>
          <a:ln w="12700">
            <a:solidFill>
              <a:srgbClr val="E3A3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234440" y="310896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>
                <a:solidFill>
                  <a:srgbClr val="7F776B"/>
                </a:solidFill>
                <a:latin typeface="PingFang SC"/>
                <a:ea typeface="PingFang SC"/>
                <a:cs typeface="PingFang SC"/>
              </a:rPr>
              <a:t>个人本体 · 认识自己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3383280"/>
            <a:ext cx="36576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400" b="1">
                <a:solidFill>
                  <a:srgbClr val="E3A35A"/>
                </a:solidFill>
                <a:latin typeface="Songti SC"/>
                <a:ea typeface="Songti SC"/>
                <a:cs typeface="Songti SC"/>
              </a:rPr>
              <a:t>本体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4206240"/>
            <a:ext cx="39319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400" b="0">
                <a:solidFill>
                  <a:srgbClr val="BDB4A6"/>
                </a:solidFill>
                <a:latin typeface="PingFang SC"/>
                <a:ea typeface="PingFang SC"/>
                <a:cs typeface="PingFang SC"/>
              </a:rPr>
              <a:t>在长期对话中形成对你的理解：在意什么、怎么做</a:t>
            </a:r>
          </a:p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400" b="0">
                <a:solidFill>
                  <a:srgbClr val="BDB4A6"/>
                </a:solidFill>
                <a:latin typeface="PingFang SC"/>
                <a:ea typeface="PingFang SC"/>
                <a:cs typeface="PingFang SC"/>
              </a:rPr>
              <a:t>决定、后来对不对。知己与导师，不是工作助理。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234440" y="5120640"/>
            <a:ext cx="3840480" cy="0"/>
          </a:xfrm>
          <a:prstGeom prst="line">
            <a:avLst/>
          </a:prstGeom>
          <a:ln w="9525">
            <a:solidFill>
              <a:srgbClr val="302B25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1234440" y="525780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>
                <a:solidFill>
                  <a:srgbClr val="7F776B"/>
                </a:solidFill>
                <a:latin typeface="PingFang SC"/>
                <a:ea typeface="PingFang SC"/>
                <a:cs typeface="PingFang SC"/>
              </a:rPr>
              <a:t>信任承诺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5532120"/>
            <a:ext cx="3931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2100" b="1">
                <a:solidFill>
                  <a:srgbClr val="F2ECE1"/>
                </a:solidFill>
                <a:latin typeface="Songti SC"/>
                <a:ea typeface="Songti SC"/>
                <a:cs typeface="Songti SC"/>
              </a:rPr>
              <a:t>没有人会看到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748272" y="2880360"/>
            <a:ext cx="4572000" cy="3291840"/>
          </a:xfrm>
          <a:prstGeom prst="roundRect">
            <a:avLst>
              <a:gd name="adj" fmla="val 8000"/>
            </a:avLst>
          </a:prstGeom>
          <a:solidFill>
            <a:srgbClr val="232825"/>
          </a:solidFill>
          <a:ln w="12700">
            <a:solidFill>
              <a:srgbClr val="82BB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7114032" y="310896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>
                <a:solidFill>
                  <a:srgbClr val="7F776B"/>
                </a:solidFill>
                <a:latin typeface="PingFang SC"/>
                <a:ea typeface="PingFang SC"/>
                <a:cs typeface="PingFang SC"/>
              </a:rPr>
              <a:t>个人分身 · 分享经验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14032" y="3383280"/>
            <a:ext cx="36576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400" b="1">
                <a:solidFill>
                  <a:srgbClr val="82BBAD"/>
                </a:solidFill>
                <a:latin typeface="Songti SC"/>
                <a:ea typeface="Songti SC"/>
                <a:cs typeface="Songti SC"/>
              </a:rPr>
              <a:t>分身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14032" y="4206240"/>
            <a:ext cx="39319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400" b="0">
                <a:solidFill>
                  <a:srgbClr val="BDB4A6"/>
                </a:solidFill>
                <a:latin typeface="PingFang SC"/>
                <a:ea typeface="PingFang SC"/>
                <a:cs typeface="PingFang SC"/>
              </a:rPr>
              <a:t>把本体中逐条确认过的经验交给分身，让你授权</a:t>
            </a:r>
          </a:p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400" b="0">
                <a:solidFill>
                  <a:srgbClr val="BDB4A6"/>
                </a:solidFill>
                <a:latin typeface="PingFang SC"/>
                <a:ea typeface="PingFang SC"/>
                <a:cs typeface="PingFang SC"/>
              </a:rPr>
              <a:t>的人随时可以问，复杂的再由你接续。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7114032" y="5120640"/>
            <a:ext cx="3840480" cy="0"/>
          </a:xfrm>
          <a:prstGeom prst="line">
            <a:avLst/>
          </a:prstGeom>
          <a:ln w="9525">
            <a:solidFill>
              <a:srgbClr val="302B25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7114032" y="525780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>
                <a:solidFill>
                  <a:srgbClr val="7F776B"/>
                </a:solidFill>
                <a:latin typeface="PingFang SC"/>
                <a:ea typeface="PingFang SC"/>
                <a:cs typeface="PingFang SC"/>
              </a:rPr>
              <a:t>信任承诺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14032" y="5532120"/>
            <a:ext cx="3931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2100" b="1">
                <a:solidFill>
                  <a:srgbClr val="F2ECE1"/>
                </a:solidFill>
                <a:latin typeface="Songti SC"/>
                <a:ea typeface="Songti SC"/>
                <a:cs typeface="Songti SC"/>
              </a:rPr>
              <a:t>被授权的人可以问</a:t>
            </a:r>
          </a:p>
        </p:txBody>
      </p:sp>
      <p:sp>
        <p:nvSpPr>
          <p:cNvPr id="19" name="Oval 18"/>
          <p:cNvSpPr/>
          <p:nvPr/>
        </p:nvSpPr>
        <p:spPr>
          <a:xfrm>
            <a:off x="5715000" y="3867912"/>
            <a:ext cx="768096" cy="768096"/>
          </a:xfrm>
          <a:prstGeom prst="ellipse">
            <a:avLst/>
          </a:prstGeom>
          <a:noFill/>
          <a:ln w="19050">
            <a:solidFill>
              <a:srgbClr val="E3A3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Freeform 19"/>
          <p:cNvSpPr/>
          <p:nvPr/>
        </p:nvSpPr>
        <p:spPr>
          <a:xfrm>
            <a:off x="5937747" y="4098340"/>
            <a:ext cx="238110" cy="307239"/>
          </a:xfrm>
          <a:custGeom>
            <a:avLst/>
            <a:gdLst/>
            <a:ahLst/>
            <a:cxnLst/>
            <a:rect l="l" t="t" r="r" b="b"/>
            <a:pathLst>
              <a:path w="238110" h="307239">
                <a:moveTo>
                  <a:pt x="0" y="0"/>
                </a:moveTo>
                <a:lnTo>
                  <a:pt x="238110" y="153620"/>
                </a:lnTo>
                <a:lnTo>
                  <a:pt x="0" y="307239"/>
                </a:lnTo>
                <a:close/>
              </a:path>
            </a:pathLst>
          </a:custGeom>
          <a:solidFill>
            <a:srgbClr val="E3A3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221943" y="4079138"/>
            <a:ext cx="49926" cy="345643"/>
          </a:xfrm>
          <a:prstGeom prst="roundRect">
            <a:avLst>
              <a:gd name="adj" fmla="val 50000"/>
            </a:avLst>
          </a:prstGeom>
          <a:solidFill>
            <a:srgbClr val="82BB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5440680" y="4754880"/>
            <a:ext cx="1325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300" b="0">
                <a:solidFill>
                  <a:srgbClr val="BDB4A6"/>
                </a:solidFill>
                <a:latin typeface="PingFang SC"/>
                <a:ea typeface="PingFang SC"/>
                <a:cs typeface="PingFang SC"/>
              </a:rPr>
              <a:t>单向阀门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0F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502920"/>
            <a:ext cx="10454335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00" b="0">
                <a:solidFill>
                  <a:srgbClr val="E3A35A"/>
                </a:solidFill>
                <a:latin typeface="PingFang SC"/>
                <a:ea typeface="PingFang SC"/>
                <a:cs typeface="PingFang SC"/>
              </a:rPr>
              <a:t>用户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868680"/>
            <a:ext cx="54864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3800" b="1">
                <a:solidFill>
                  <a:srgbClr val="F2ECE1"/>
                </a:solidFill>
                <a:latin typeface="Songti SC"/>
                <a:ea typeface="Songti SC"/>
                <a:cs typeface="Songti SC"/>
              </a:rPr>
              <a:t>孤独来自位置，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3800" b="1">
                <a:solidFill>
                  <a:srgbClr val="F2ECE1"/>
                </a:solidFill>
                <a:latin typeface="Songti SC"/>
                <a:ea typeface="Songti SC"/>
                <a:cs typeface="Songti SC"/>
              </a:rPr>
              <a:t>不是性格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2606040"/>
            <a:ext cx="53035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  <a:spcAft>
                <a:spcPts val="0"/>
              </a:spcAft>
            </a:pPr>
            <a:r>
              <a:rPr sz="1700" b="0">
                <a:solidFill>
                  <a:srgbClr val="BDB4A6"/>
                </a:solidFill>
                <a:latin typeface="PingFang SC"/>
                <a:ea typeface="PingFang SC"/>
                <a:cs typeface="PingFang SC"/>
              </a:rPr>
              <a:t>首批用户：</a:t>
            </a:r>
            <a:r>
              <a:rPr sz="1700" b="0">
                <a:solidFill>
                  <a:srgbClr val="E3A35A"/>
                </a:solidFill>
                <a:latin typeface="PingFang SC"/>
                <a:ea typeface="PingFang SC"/>
                <a:cs typeface="PingFang SC"/>
              </a:rPr>
              <a:t>企业经营者、高管、独立顾问</a:t>
            </a:r>
            <a:r>
              <a:rPr sz="1700" b="0">
                <a:solidFill>
                  <a:srgbClr val="BDB4A6"/>
                </a:solidFill>
                <a:latin typeface="PingFang SC"/>
                <a:ea typeface="PingFang SC"/>
                <a:cs typeface="PingFang SC"/>
              </a:rPr>
              <a:t>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3429000"/>
            <a:ext cx="53035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  <a:spcAft>
                <a:spcPts val="0"/>
              </a:spcAft>
            </a:pPr>
            <a:r>
              <a:rPr sz="1700" b="0">
                <a:solidFill>
                  <a:srgbClr val="BDB4A6"/>
                </a:solidFill>
                <a:latin typeface="PingFang SC"/>
                <a:ea typeface="PingFang SC"/>
                <a:cs typeface="PingFang SC"/>
              </a:rPr>
              <a:t>身边每个人都和这件事有利害关系。</a:t>
            </a:r>
          </a:p>
          <a:p>
            <a:pPr algn="l">
              <a:lnSpc>
                <a:spcPct val="155000"/>
              </a:lnSpc>
              <a:spcAft>
                <a:spcPts val="0"/>
              </a:spcAft>
            </a:pPr>
            <a:r>
              <a:rPr sz="1700" b="0">
                <a:solidFill>
                  <a:srgbClr val="BDB4A6"/>
                </a:solidFill>
                <a:latin typeface="PingFang SC"/>
                <a:ea typeface="PingFang SC"/>
                <a:cs typeface="PingFang SC"/>
              </a:rPr>
              <a:t>真正的顾虑说不出口，</a:t>
            </a:r>
          </a:p>
          <a:p>
            <a:pPr algn="l">
              <a:lnSpc>
                <a:spcPct val="155000"/>
              </a:lnSpc>
              <a:spcAft>
                <a:spcPts val="0"/>
              </a:spcAft>
            </a:pPr>
            <a:r>
              <a:rPr sz="1700" b="0">
                <a:solidFill>
                  <a:srgbClr val="BDB4A6"/>
                </a:solidFill>
                <a:latin typeface="PingFang SC"/>
                <a:ea typeface="PingFang SC"/>
                <a:cs typeface="PingFang SC"/>
              </a:rPr>
              <a:t>说出口的又不是真话。</a:t>
            </a:r>
          </a:p>
        </p:txBody>
      </p:sp>
      <p:cxnSp>
        <p:nvCxnSpPr>
          <p:cNvPr id="6" name="Connector 5"/>
          <p:cNvCxnSpPr/>
          <p:nvPr/>
        </p:nvCxnSpPr>
        <p:spPr>
          <a:xfrm flipV="1">
            <a:off x="9052560" y="1645920"/>
            <a:ext cx="0" cy="1965960"/>
          </a:xfrm>
          <a:prstGeom prst="line">
            <a:avLst/>
          </a:prstGeom>
          <a:ln w="15875">
            <a:solidFill>
              <a:srgbClr val="7F776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9052560" y="3611880"/>
            <a:ext cx="1965960" cy="0"/>
          </a:xfrm>
          <a:prstGeom prst="line">
            <a:avLst/>
          </a:prstGeom>
          <a:ln w="15875">
            <a:solidFill>
              <a:srgbClr val="7F776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9052560" y="3611880"/>
            <a:ext cx="0" cy="1965960"/>
          </a:xfrm>
          <a:prstGeom prst="line">
            <a:avLst/>
          </a:prstGeom>
          <a:ln w="15875">
            <a:solidFill>
              <a:srgbClr val="7F776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H="1">
            <a:off x="7086600" y="3611880"/>
            <a:ext cx="1965960" cy="0"/>
          </a:xfrm>
          <a:prstGeom prst="line">
            <a:avLst/>
          </a:prstGeom>
          <a:ln w="15875">
            <a:solidFill>
              <a:srgbClr val="7F776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9144000" y="242316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>
                <a:solidFill>
                  <a:srgbClr val="D98C7C"/>
                </a:solidFill>
                <a:latin typeface="PingFang SC"/>
                <a:ea typeface="PingFang SC"/>
                <a:cs typeface="PingFang SC"/>
              </a:rPr>
              <a:t>利害关系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829800" y="326440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>
                <a:solidFill>
                  <a:srgbClr val="D98C7C"/>
                </a:solidFill>
                <a:latin typeface="PingFang SC"/>
                <a:ea typeface="PingFang SC"/>
                <a:cs typeface="PingFang SC"/>
              </a:rPr>
              <a:t>利害关系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0" y="452628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>
                <a:solidFill>
                  <a:srgbClr val="D98C7C"/>
                </a:solidFill>
                <a:latin typeface="PingFang SC"/>
                <a:ea typeface="PingFang SC"/>
                <a:cs typeface="PingFang SC"/>
              </a:rPr>
              <a:t>利害关系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43800" y="326440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>
                <a:solidFill>
                  <a:srgbClr val="D98C7C"/>
                </a:solidFill>
                <a:latin typeface="PingFang SC"/>
                <a:ea typeface="PingFang SC"/>
                <a:cs typeface="PingFang SC"/>
              </a:rPr>
              <a:t>利害关系</a:t>
            </a:r>
          </a:p>
        </p:txBody>
      </p:sp>
      <p:sp>
        <p:nvSpPr>
          <p:cNvPr id="14" name="Oval 13"/>
          <p:cNvSpPr/>
          <p:nvPr/>
        </p:nvSpPr>
        <p:spPr>
          <a:xfrm>
            <a:off x="8485632" y="3044952"/>
            <a:ext cx="1133856" cy="1133856"/>
          </a:xfrm>
          <a:prstGeom prst="ellipse">
            <a:avLst/>
          </a:prstGeom>
          <a:solidFill>
            <a:srgbClr val="2C251B"/>
          </a:solidFill>
          <a:ln w="19050">
            <a:solidFill>
              <a:srgbClr val="E3A3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8503920" y="3337560"/>
            <a:ext cx="10972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2400" b="0">
                <a:solidFill>
                  <a:srgbClr val="F4CD96"/>
                </a:solidFill>
                <a:latin typeface="PingFang SC"/>
                <a:ea typeface="PingFang SC"/>
                <a:cs typeface="PingFang SC"/>
              </a:rPr>
              <a:t>你</a:t>
            </a:r>
          </a:p>
        </p:txBody>
      </p:sp>
      <p:sp>
        <p:nvSpPr>
          <p:cNvPr id="16" name="Oval 15"/>
          <p:cNvSpPr/>
          <p:nvPr/>
        </p:nvSpPr>
        <p:spPr>
          <a:xfrm>
            <a:off x="8613648" y="1207008"/>
            <a:ext cx="877824" cy="877824"/>
          </a:xfrm>
          <a:prstGeom prst="ellipse">
            <a:avLst/>
          </a:prstGeom>
          <a:solidFill>
            <a:srgbClr val="1C1915"/>
          </a:solidFill>
          <a:ln w="12700">
            <a:solidFill>
              <a:srgbClr val="302B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595360" y="141732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500" b="0">
                <a:solidFill>
                  <a:srgbClr val="BDB4A6"/>
                </a:solidFill>
                <a:latin typeface="PingFang SC"/>
                <a:ea typeface="PingFang SC"/>
                <a:cs typeface="PingFang SC"/>
              </a:rPr>
              <a:t>员工</a:t>
            </a:r>
          </a:p>
        </p:txBody>
      </p:sp>
      <p:sp>
        <p:nvSpPr>
          <p:cNvPr id="18" name="Oval 17"/>
          <p:cNvSpPr/>
          <p:nvPr/>
        </p:nvSpPr>
        <p:spPr>
          <a:xfrm>
            <a:off x="10579608" y="3172968"/>
            <a:ext cx="877824" cy="877824"/>
          </a:xfrm>
          <a:prstGeom prst="ellipse">
            <a:avLst/>
          </a:prstGeom>
          <a:solidFill>
            <a:srgbClr val="1C1915"/>
          </a:solidFill>
          <a:ln w="12700">
            <a:solidFill>
              <a:srgbClr val="302B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10561320" y="338328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500" b="0">
                <a:solidFill>
                  <a:srgbClr val="BDB4A6"/>
                </a:solidFill>
                <a:latin typeface="PingFang SC"/>
                <a:ea typeface="PingFang SC"/>
                <a:cs typeface="PingFang SC"/>
              </a:rPr>
              <a:t>合伙人</a:t>
            </a:r>
          </a:p>
        </p:txBody>
      </p:sp>
      <p:sp>
        <p:nvSpPr>
          <p:cNvPr id="20" name="Oval 19"/>
          <p:cNvSpPr/>
          <p:nvPr/>
        </p:nvSpPr>
        <p:spPr>
          <a:xfrm>
            <a:off x="8613648" y="5138927"/>
            <a:ext cx="877824" cy="877824"/>
          </a:xfrm>
          <a:prstGeom prst="ellipse">
            <a:avLst/>
          </a:prstGeom>
          <a:solidFill>
            <a:srgbClr val="1C1915"/>
          </a:solidFill>
          <a:ln w="12700">
            <a:solidFill>
              <a:srgbClr val="302B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595360" y="534924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500" b="0">
                <a:solidFill>
                  <a:srgbClr val="BDB4A6"/>
                </a:solidFill>
                <a:latin typeface="PingFang SC"/>
                <a:ea typeface="PingFang SC"/>
                <a:cs typeface="PingFang SC"/>
              </a:rPr>
              <a:t>家人</a:t>
            </a:r>
          </a:p>
        </p:txBody>
      </p:sp>
      <p:sp>
        <p:nvSpPr>
          <p:cNvPr id="22" name="Oval 21"/>
          <p:cNvSpPr/>
          <p:nvPr/>
        </p:nvSpPr>
        <p:spPr>
          <a:xfrm>
            <a:off x="6647688" y="3172968"/>
            <a:ext cx="877824" cy="877824"/>
          </a:xfrm>
          <a:prstGeom prst="ellipse">
            <a:avLst/>
          </a:prstGeom>
          <a:solidFill>
            <a:srgbClr val="1C1915"/>
          </a:solidFill>
          <a:ln w="12700">
            <a:solidFill>
              <a:srgbClr val="302B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6629400" y="338328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500" b="0">
                <a:solidFill>
                  <a:srgbClr val="BDB4A6"/>
                </a:solidFill>
                <a:latin typeface="PingFang SC"/>
                <a:ea typeface="PingFang SC"/>
                <a:cs typeface="PingFang SC"/>
              </a:rPr>
              <a:t>客户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0F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502920"/>
            <a:ext cx="10454335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00" b="0">
                <a:solidFill>
                  <a:srgbClr val="E3A35A"/>
                </a:solidFill>
                <a:latin typeface="PingFang SC"/>
                <a:ea typeface="PingFang SC"/>
                <a:cs typeface="PingFang SC"/>
              </a:rPr>
              <a:t>痛点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822960"/>
            <a:ext cx="10454335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3600" b="1">
                <a:solidFill>
                  <a:srgbClr val="F2ECE1"/>
                </a:solidFill>
                <a:latin typeface="Songti SC"/>
                <a:ea typeface="Songti SC"/>
                <a:cs typeface="Songti SC"/>
              </a:rPr>
              <a:t>对判断影响最大的东西，最没有地方说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68680" y="1874519"/>
            <a:ext cx="5120640" cy="2011680"/>
          </a:xfrm>
          <a:prstGeom prst="roundRect">
            <a:avLst>
              <a:gd name="adj" fmla="val 8000"/>
            </a:avLst>
          </a:prstGeom>
          <a:solidFill>
            <a:srgbClr val="1C1915"/>
          </a:solidFill>
          <a:ln w="12700">
            <a:solidFill>
              <a:srgbClr val="302B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1188719" y="2130552"/>
            <a:ext cx="914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3200" b="0">
                <a:solidFill>
                  <a:srgbClr val="E3A35A"/>
                </a:solidFill>
                <a:latin typeface="Songti SC"/>
                <a:ea typeface="Songti SC"/>
                <a:cs typeface="Songti SC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03120" y="2194560"/>
            <a:ext cx="3657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900" b="1">
                <a:solidFill>
                  <a:srgbClr val="F2ECE1"/>
                </a:solidFill>
                <a:latin typeface="Songti SC"/>
                <a:ea typeface="Songti SC"/>
                <a:cs typeface="Songti SC"/>
              </a:rPr>
              <a:t>判断无处商量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03120" y="2743200"/>
            <a:ext cx="361188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400" b="0">
                <a:solidFill>
                  <a:srgbClr val="BDB4A6"/>
                </a:solidFill>
                <a:latin typeface="PingFang SC"/>
                <a:ea typeface="PingFang SC"/>
                <a:cs typeface="PingFang SC"/>
              </a:rPr>
              <a:t>员工、合伙人、家人、客户，都和这件事有利害关系。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874519"/>
            <a:ext cx="5120640" cy="2011680"/>
          </a:xfrm>
          <a:prstGeom prst="roundRect">
            <a:avLst>
              <a:gd name="adj" fmla="val 8000"/>
            </a:avLst>
          </a:prstGeom>
          <a:solidFill>
            <a:srgbClr val="1C1915"/>
          </a:solidFill>
          <a:ln w="12700">
            <a:solidFill>
              <a:srgbClr val="302B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537959" y="2130552"/>
            <a:ext cx="914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3200" b="0">
                <a:solidFill>
                  <a:srgbClr val="E3A35A"/>
                </a:solidFill>
                <a:latin typeface="Songti SC"/>
                <a:ea typeface="Songti SC"/>
                <a:cs typeface="Songti SC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52360" y="2194560"/>
            <a:ext cx="3657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900" b="1">
                <a:solidFill>
                  <a:srgbClr val="F2ECE1"/>
                </a:solidFill>
                <a:latin typeface="Songti SC"/>
                <a:ea typeface="Songti SC"/>
                <a:cs typeface="Songti SC"/>
              </a:rPr>
              <a:t>判断没有回路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52360" y="2743200"/>
            <a:ext cx="361188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400" b="0">
                <a:solidFill>
                  <a:srgbClr val="BDB4A6"/>
                </a:solidFill>
                <a:latin typeface="PingFang SC"/>
                <a:ea typeface="PingFang SC"/>
                <a:cs typeface="PingFang SC"/>
              </a:rPr>
              <a:t>当时为什么这样选、预期是什么、后来对不对，很少有人回头看。同样的错会以新的形式再来一次。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68680" y="4114800"/>
            <a:ext cx="5120640" cy="2011680"/>
          </a:xfrm>
          <a:prstGeom prst="roundRect">
            <a:avLst>
              <a:gd name="adj" fmla="val 8000"/>
            </a:avLst>
          </a:prstGeom>
          <a:solidFill>
            <a:srgbClr val="1C1915"/>
          </a:solidFill>
          <a:ln w="12700">
            <a:solidFill>
              <a:srgbClr val="302B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1188719" y="4370832"/>
            <a:ext cx="914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3200" b="0">
                <a:solidFill>
                  <a:srgbClr val="E3A35A"/>
                </a:solidFill>
                <a:latin typeface="Songti SC"/>
                <a:ea typeface="Songti SC"/>
                <a:cs typeface="Songti SC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03120" y="4434840"/>
            <a:ext cx="3657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900" b="1">
                <a:solidFill>
                  <a:srgbClr val="F2ECE1"/>
                </a:solidFill>
                <a:latin typeface="Songti SC"/>
                <a:ea typeface="Songti SC"/>
                <a:cs typeface="Songti SC"/>
              </a:rPr>
              <a:t>心里的事没有地方放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03120" y="4983480"/>
            <a:ext cx="361188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400" b="0">
                <a:solidFill>
                  <a:srgbClr val="BDB4A6"/>
                </a:solidFill>
                <a:latin typeface="PingFang SC"/>
                <a:ea typeface="PingFang SC"/>
                <a:cs typeface="PingFang SC"/>
              </a:rPr>
              <a:t>压力、自我怀疑、对自己的看法，最不适合讲给任何利益相关的人。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4114800"/>
            <a:ext cx="5120640" cy="2011680"/>
          </a:xfrm>
          <a:prstGeom prst="roundRect">
            <a:avLst>
              <a:gd name="adj" fmla="val 8000"/>
            </a:avLst>
          </a:prstGeom>
          <a:solidFill>
            <a:srgbClr val="1C1915"/>
          </a:solidFill>
          <a:ln w="12700">
            <a:solidFill>
              <a:srgbClr val="302B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537959" y="4370832"/>
            <a:ext cx="914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3200" b="0">
                <a:solidFill>
                  <a:srgbClr val="82BBAD"/>
                </a:solidFill>
                <a:latin typeface="Songti SC"/>
                <a:ea typeface="Songti SC"/>
                <a:cs typeface="Songti SC"/>
              </a:rPr>
              <a:t>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52360" y="4434840"/>
            <a:ext cx="3657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900" b="1">
                <a:solidFill>
                  <a:srgbClr val="F2ECE1"/>
                </a:solidFill>
                <a:latin typeface="Songti SC"/>
                <a:ea typeface="Songti SC"/>
                <a:cs typeface="Songti SC"/>
              </a:rPr>
              <a:t>经验困在自己身上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616440" y="4453128"/>
            <a:ext cx="862584" cy="310896"/>
          </a:xfrm>
          <a:prstGeom prst="roundRect">
            <a:avLst>
              <a:gd name="adj" fmla="val 30000"/>
            </a:avLst>
          </a:prstGeom>
          <a:solidFill>
            <a:srgbClr val="232825"/>
          </a:solidFill>
          <a:ln w="9525">
            <a:solidFill>
              <a:srgbClr val="82BB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616440" y="4453128"/>
            <a:ext cx="86258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100" b="0">
                <a:solidFill>
                  <a:srgbClr val="82BBAD"/>
                </a:solidFill>
                <a:latin typeface="PingFang SC"/>
                <a:ea typeface="PingFang SC"/>
                <a:cs typeface="PingFang SC"/>
              </a:rPr>
              <a:t>分身解决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52360" y="4983480"/>
            <a:ext cx="361188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400" b="0">
                <a:solidFill>
                  <a:srgbClr val="BDB4A6"/>
                </a:solidFill>
                <a:latin typeface="PingFang SC"/>
                <a:ea typeface="PingFang SC"/>
                <a:cs typeface="PingFang SC"/>
              </a:rPr>
              <a:t>最有价值的判断方法藏在经历里，只能靠本人一次次亲自解释。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0F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502920"/>
            <a:ext cx="10454335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00" b="0">
                <a:solidFill>
                  <a:srgbClr val="E3A35A"/>
                </a:solidFill>
                <a:latin typeface="PingFang SC"/>
                <a:ea typeface="PingFang SC"/>
                <a:cs typeface="PingFang SC"/>
              </a:rPr>
              <a:t>个人本体 · 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822960"/>
            <a:ext cx="10454335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3600" b="1">
                <a:solidFill>
                  <a:srgbClr val="F2ECE1"/>
                </a:solidFill>
                <a:latin typeface="Songti SC"/>
                <a:ea typeface="Songti SC"/>
                <a:cs typeface="Songti SC"/>
              </a:rPr>
              <a:t>通过对话形成个人本体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600200"/>
            <a:ext cx="10454335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  <a:spcAft>
                <a:spcPts val="0"/>
              </a:spcAft>
            </a:pPr>
            <a:r>
              <a:rPr sz="1700" b="0">
                <a:solidFill>
                  <a:srgbClr val="BDB4A6"/>
                </a:solidFill>
                <a:latin typeface="PingFang SC"/>
                <a:ea typeface="PingFang SC"/>
                <a:cs typeface="PingFang SC"/>
              </a:rPr>
              <a:t>对话是构建本体的主要方式，资料导入只用来加速。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8680" y="2514600"/>
            <a:ext cx="5120640" cy="914400"/>
          </a:xfrm>
          <a:prstGeom prst="roundRect">
            <a:avLst>
              <a:gd name="adj" fmla="val 8000"/>
            </a:avLst>
          </a:prstGeom>
          <a:solidFill>
            <a:srgbClr val="2C251B"/>
          </a:solidFill>
          <a:ln w="12700">
            <a:solidFill>
              <a:srgbClr val="E3A3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188719" y="2642616"/>
            <a:ext cx="45720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900" b="1">
                <a:solidFill>
                  <a:srgbClr val="E3A35A"/>
                </a:solidFill>
                <a:latin typeface="Songti SC"/>
                <a:ea typeface="Songti SC"/>
                <a:cs typeface="Songti SC"/>
              </a:rPr>
              <a:t>已确认本体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19" y="3044952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00" b="0">
                <a:solidFill>
                  <a:srgbClr val="7F776B"/>
                </a:solidFill>
                <a:latin typeface="PingFang SC"/>
                <a:ea typeface="PingFang SC"/>
                <a:cs typeface="PingFang SC"/>
              </a:rPr>
              <a:t>本人确认后，才成为本体的一部分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68680" y="3611880"/>
            <a:ext cx="5120640" cy="914400"/>
          </a:xfrm>
          <a:prstGeom prst="roundRect">
            <a:avLst>
              <a:gd name="adj" fmla="val 8000"/>
            </a:avLst>
          </a:prstGeom>
          <a:solidFill>
            <a:srgbClr val="1C1915"/>
          </a:solidFill>
          <a:ln w="12700">
            <a:solidFill>
              <a:srgbClr val="302B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188719" y="3739896"/>
            <a:ext cx="45720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900" b="1">
                <a:solidFill>
                  <a:srgbClr val="F2ECE1"/>
                </a:solidFill>
                <a:latin typeface="Songti SC"/>
                <a:ea typeface="Songti SC"/>
                <a:cs typeface="Songti SC"/>
              </a:rPr>
              <a:t>工作理解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19" y="4142232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00" b="0">
                <a:solidFill>
                  <a:srgbClr val="7F776B"/>
                </a:solidFill>
                <a:latin typeface="PingFang SC"/>
                <a:ea typeface="PingFang SC"/>
                <a:cs typeface="PingFang SC"/>
              </a:rPr>
              <a:t>知君推测出的理解，只带着保留语气在对话中使用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4709160"/>
            <a:ext cx="5120640" cy="914400"/>
          </a:xfrm>
          <a:prstGeom prst="roundRect">
            <a:avLst>
              <a:gd name="adj" fmla="val 8000"/>
            </a:avLst>
          </a:prstGeom>
          <a:solidFill>
            <a:srgbClr val="1C1915"/>
          </a:solidFill>
          <a:ln w="12700">
            <a:solidFill>
              <a:srgbClr val="302B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1188719" y="4837176"/>
            <a:ext cx="45720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900" b="1">
                <a:solidFill>
                  <a:srgbClr val="F2ECE1"/>
                </a:solidFill>
                <a:latin typeface="Songti SC"/>
                <a:ea typeface="Songti SC"/>
                <a:cs typeface="Songti SC"/>
              </a:rPr>
              <a:t>对话记录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19" y="5239512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00" b="0">
                <a:solidFill>
                  <a:srgbClr val="7F776B"/>
                </a:solidFill>
                <a:latin typeface="PingFang SC"/>
                <a:ea typeface="PingFang SC"/>
                <a:cs typeface="PingFang SC"/>
              </a:rPr>
              <a:t>原样保存，不改写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80760" y="2926080"/>
            <a:ext cx="36576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600" b="0">
                <a:solidFill>
                  <a:srgbClr val="7F776B"/>
                </a:solidFill>
                <a:latin typeface="PingFang SC"/>
                <a:ea typeface="PingFang SC"/>
                <a:cs typeface="PingFang SC"/>
              </a:rPr>
              <a:t>↑</a:t>
            </a:r>
          </a:p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600" b="0">
                <a:solidFill>
                  <a:srgbClr val="7F776B"/>
                </a:solidFill>
                <a:latin typeface="PingFang SC"/>
                <a:ea typeface="PingFang SC"/>
                <a:cs typeface="PingFang SC"/>
              </a:rPr>
              <a:t/>
            </a:r>
          </a:p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600" b="0">
                <a:solidFill>
                  <a:srgbClr val="7F776B"/>
                </a:solidFill>
                <a:latin typeface="PingFang SC"/>
                <a:ea typeface="PingFang SC"/>
                <a:cs typeface="PingFang SC"/>
              </a:rPr>
              <a:t>↑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75120" y="246888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00" b="0">
                <a:solidFill>
                  <a:srgbClr val="7F776B"/>
                </a:solidFill>
                <a:latin typeface="PingFang SC"/>
                <a:ea typeface="PingFang SC"/>
                <a:cs typeface="PingFang SC"/>
              </a:rPr>
              <a:t>每一条都标明来源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675120" y="2834640"/>
            <a:ext cx="2194560" cy="512064"/>
          </a:xfrm>
          <a:prstGeom prst="roundRect">
            <a:avLst>
              <a:gd name="adj" fmla="val 8000"/>
            </a:avLst>
          </a:prstGeom>
          <a:solidFill>
            <a:srgbClr val="1C1915"/>
          </a:solidFill>
          <a:ln w="12700">
            <a:solidFill>
              <a:srgbClr val="302B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675120" y="2834640"/>
            <a:ext cx="219456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900" b="0">
                <a:solidFill>
                  <a:srgbClr val="E3A35A"/>
                </a:solidFill>
                <a:latin typeface="Songti SC"/>
                <a:ea typeface="Songti SC"/>
                <a:cs typeface="Songti SC"/>
              </a:rPr>
              <a:t>【</a:t>
            </a:r>
            <a:r>
              <a:rPr sz="1900" b="0">
                <a:solidFill>
                  <a:srgbClr val="F2ECE1"/>
                </a:solidFill>
                <a:latin typeface="Songti SC"/>
                <a:ea typeface="Songti SC"/>
                <a:cs typeface="Songti SC"/>
              </a:rPr>
              <a:t>你告诉我的</a:t>
            </a:r>
            <a:r>
              <a:rPr sz="1900" b="0">
                <a:solidFill>
                  <a:srgbClr val="E3A35A"/>
                </a:solidFill>
                <a:latin typeface="Songti SC"/>
                <a:ea typeface="Songti SC"/>
                <a:cs typeface="Songti SC"/>
              </a:rPr>
              <a:t>】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675120" y="3474720"/>
            <a:ext cx="2468879" cy="512064"/>
          </a:xfrm>
          <a:prstGeom prst="roundRect">
            <a:avLst>
              <a:gd name="adj" fmla="val 8000"/>
            </a:avLst>
          </a:prstGeom>
          <a:solidFill>
            <a:srgbClr val="1C1915"/>
          </a:solidFill>
          <a:ln w="12700">
            <a:solidFill>
              <a:srgbClr val="302B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6675120" y="3474720"/>
            <a:ext cx="2468879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900" b="0">
                <a:solidFill>
                  <a:srgbClr val="E3A35A"/>
                </a:solidFill>
                <a:latin typeface="Songti SC"/>
                <a:ea typeface="Songti SC"/>
                <a:cs typeface="Songti SC"/>
              </a:rPr>
              <a:t>【</a:t>
            </a:r>
            <a:r>
              <a:rPr sz="1900" b="0">
                <a:solidFill>
                  <a:srgbClr val="F2ECE1"/>
                </a:solidFill>
                <a:latin typeface="Songti SC"/>
                <a:ea typeface="Songti SC"/>
                <a:cs typeface="Songti SC"/>
              </a:rPr>
              <a:t>资料里看到的</a:t>
            </a:r>
            <a:r>
              <a:rPr sz="1900" b="0">
                <a:solidFill>
                  <a:srgbClr val="E3A35A"/>
                </a:solidFill>
                <a:latin typeface="Songti SC"/>
                <a:ea typeface="Songti SC"/>
                <a:cs typeface="Songti SC"/>
              </a:rPr>
              <a:t>】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675120" y="4114800"/>
            <a:ext cx="1920240" cy="512064"/>
          </a:xfrm>
          <a:prstGeom prst="roundRect">
            <a:avLst>
              <a:gd name="adj" fmla="val 8000"/>
            </a:avLst>
          </a:prstGeom>
          <a:solidFill>
            <a:srgbClr val="1C1915"/>
          </a:solidFill>
          <a:ln w="12700">
            <a:solidFill>
              <a:srgbClr val="302B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6675120" y="4114800"/>
            <a:ext cx="192024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900" b="0">
                <a:solidFill>
                  <a:srgbClr val="E3A35A"/>
                </a:solidFill>
                <a:latin typeface="Songti SC"/>
                <a:ea typeface="Songti SC"/>
                <a:cs typeface="Songti SC"/>
              </a:rPr>
              <a:t>【</a:t>
            </a:r>
            <a:r>
              <a:rPr sz="1900" b="0">
                <a:solidFill>
                  <a:srgbClr val="F2ECE1"/>
                </a:solidFill>
                <a:latin typeface="Songti SC"/>
                <a:ea typeface="Songti SC"/>
                <a:cs typeface="Songti SC"/>
              </a:rPr>
              <a:t>我推测的</a:t>
            </a:r>
            <a:r>
              <a:rPr sz="1900" b="0">
                <a:solidFill>
                  <a:srgbClr val="E3A35A"/>
                </a:solidFill>
                <a:latin typeface="Songti SC"/>
                <a:ea typeface="Songti SC"/>
                <a:cs typeface="Songti SC"/>
              </a:rPr>
              <a:t>】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675120" y="4754879"/>
            <a:ext cx="2194560" cy="512064"/>
          </a:xfrm>
          <a:prstGeom prst="roundRect">
            <a:avLst>
              <a:gd name="adj" fmla="val 8000"/>
            </a:avLst>
          </a:prstGeom>
          <a:solidFill>
            <a:srgbClr val="1C1915"/>
          </a:solidFill>
          <a:ln w="12700">
            <a:solidFill>
              <a:srgbClr val="302B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6675120" y="4754879"/>
            <a:ext cx="219456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900" b="0">
                <a:solidFill>
                  <a:srgbClr val="E3A35A"/>
                </a:solidFill>
                <a:latin typeface="Songti SC"/>
                <a:ea typeface="Songti SC"/>
                <a:cs typeface="Songti SC"/>
              </a:rPr>
              <a:t>【</a:t>
            </a:r>
            <a:r>
              <a:rPr sz="1900" b="0">
                <a:solidFill>
                  <a:srgbClr val="F2ECE1"/>
                </a:solidFill>
                <a:latin typeface="Songti SC"/>
                <a:ea typeface="Songti SC"/>
                <a:cs typeface="Songti SC"/>
              </a:rPr>
              <a:t>知君的看法</a:t>
            </a:r>
            <a:r>
              <a:rPr sz="1900" b="0">
                <a:solidFill>
                  <a:srgbClr val="E3A35A"/>
                </a:solidFill>
                <a:latin typeface="Songti SC"/>
                <a:ea typeface="Songti SC"/>
                <a:cs typeface="Songti SC"/>
              </a:rPr>
              <a:t>】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675120" y="5522976"/>
            <a:ext cx="36576" cy="475488"/>
          </a:xfrm>
          <a:prstGeom prst="rect">
            <a:avLst/>
          </a:prstGeom>
          <a:solidFill>
            <a:srgbClr val="E3A3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6876288" y="5486400"/>
            <a:ext cx="4462272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400" b="0">
                <a:solidFill>
                  <a:srgbClr val="BDB4A6"/>
                </a:solidFill>
                <a:latin typeface="PingFang SC"/>
                <a:ea typeface="PingFang SC"/>
                <a:cs typeface="PingFang SC"/>
              </a:rPr>
              <a:t>亲口说的事实直接记住，随时可以撤回。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0F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502920"/>
            <a:ext cx="10454335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00" b="0">
                <a:solidFill>
                  <a:srgbClr val="E3A35A"/>
                </a:solidFill>
                <a:latin typeface="PingFang SC"/>
                <a:ea typeface="PingFang SC"/>
                <a:cs typeface="PingFang SC"/>
              </a:rPr>
              <a:t>个人本体 · 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822960"/>
            <a:ext cx="10454335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3600" b="1">
                <a:solidFill>
                  <a:srgbClr val="F2ECE1"/>
                </a:solidFill>
                <a:latin typeface="Songti SC"/>
                <a:ea typeface="Songti SC"/>
                <a:cs typeface="Songti SC"/>
              </a:rPr>
              <a:t>当下商量，判断回访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600200"/>
            <a:ext cx="10454335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  <a:spcAft>
                <a:spcPts val="0"/>
              </a:spcAft>
            </a:pPr>
            <a:r>
              <a:rPr sz="1700" b="0">
                <a:solidFill>
                  <a:srgbClr val="BDB4A6"/>
                </a:solidFill>
                <a:latin typeface="PingFang SC"/>
                <a:ea typeface="PingFang SC"/>
                <a:cs typeface="PingFang SC"/>
              </a:rPr>
              <a:t>判断的回路，是本体最核心的循环。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1280160" y="3429000"/>
            <a:ext cx="5303520" cy="0"/>
          </a:xfrm>
          <a:prstGeom prst="line">
            <a:avLst/>
          </a:prstGeom>
          <a:ln w="28575">
            <a:solidFill>
              <a:srgbClr val="E3A3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6583680" y="3429000"/>
            <a:ext cx="4297680" cy="0"/>
          </a:xfrm>
          <a:prstGeom prst="line">
            <a:avLst/>
          </a:prstGeom>
          <a:ln w="28575">
            <a:solidFill>
              <a:srgbClr val="7F776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152143" y="3300984"/>
            <a:ext cx="256032" cy="256032"/>
          </a:xfrm>
          <a:prstGeom prst="ellipse">
            <a:avLst/>
          </a:prstGeom>
          <a:solidFill>
            <a:srgbClr val="100F0D"/>
          </a:solidFill>
          <a:ln w="25400">
            <a:solidFill>
              <a:srgbClr val="E3A3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-91440" y="2651760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800" b="0">
                <a:solidFill>
                  <a:srgbClr val="F2ECE1"/>
                </a:solidFill>
                <a:latin typeface="PingFang SC"/>
                <a:ea typeface="PingFang SC"/>
                <a:cs typeface="PingFang SC"/>
              </a:rPr>
              <a:t>要拿主意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-91440" y="3721608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200" b="0">
                <a:solidFill>
                  <a:srgbClr val="7F776B"/>
                </a:solidFill>
                <a:latin typeface="PingFang SC"/>
                <a:ea typeface="PingFang SC"/>
                <a:cs typeface="PingFang SC"/>
              </a:rPr>
              <a:t>调用原则、相似经历、相关的人</a:t>
            </a:r>
          </a:p>
        </p:txBody>
      </p:sp>
      <p:sp>
        <p:nvSpPr>
          <p:cNvPr id="10" name="Oval 9"/>
          <p:cNvSpPr/>
          <p:nvPr/>
        </p:nvSpPr>
        <p:spPr>
          <a:xfrm>
            <a:off x="3803904" y="3300984"/>
            <a:ext cx="256032" cy="256032"/>
          </a:xfrm>
          <a:prstGeom prst="ellipse">
            <a:avLst/>
          </a:prstGeom>
          <a:solidFill>
            <a:srgbClr val="100F0D"/>
          </a:solidFill>
          <a:ln w="25400">
            <a:solidFill>
              <a:srgbClr val="E3A3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2560320" y="2651760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800" b="0">
                <a:solidFill>
                  <a:srgbClr val="F2ECE1"/>
                </a:solidFill>
                <a:latin typeface="PingFang SC"/>
                <a:ea typeface="PingFang SC"/>
                <a:cs typeface="PingFang SC"/>
              </a:rPr>
              <a:t>记下决定与预期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60320" y="3721608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200" b="0">
                <a:solidFill>
                  <a:srgbClr val="7F776B"/>
                </a:solidFill>
                <a:latin typeface="PingFang SC"/>
                <a:ea typeface="PingFang SC"/>
                <a:cs typeface="PingFang SC"/>
              </a:rPr>
              <a:t>当时为什么这样选</a:t>
            </a:r>
          </a:p>
        </p:txBody>
      </p:sp>
      <p:sp>
        <p:nvSpPr>
          <p:cNvPr id="13" name="Oval 12"/>
          <p:cNvSpPr/>
          <p:nvPr/>
        </p:nvSpPr>
        <p:spPr>
          <a:xfrm>
            <a:off x="10753344" y="3300984"/>
            <a:ext cx="256032" cy="256032"/>
          </a:xfrm>
          <a:prstGeom prst="ellipse">
            <a:avLst/>
          </a:prstGeom>
          <a:solidFill>
            <a:srgbClr val="E3A35A"/>
          </a:solidFill>
          <a:ln w="25400">
            <a:solidFill>
              <a:srgbClr val="E3A3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714232" y="2651760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  <a:spcAft>
                <a:spcPts val="0"/>
              </a:spcAft>
            </a:pPr>
            <a:r>
              <a:rPr sz="1800" b="0">
                <a:solidFill>
                  <a:srgbClr val="F2ECE1"/>
                </a:solidFill>
                <a:latin typeface="PingFang SC"/>
                <a:ea typeface="PingFang SC"/>
                <a:cs typeface="PingFang SC"/>
              </a:rPr>
              <a:t>现在回看，怎么样？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14232" y="3721608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  <a:spcAft>
                <a:spcPts val="0"/>
              </a:spcAft>
            </a:pPr>
            <a:r>
              <a:rPr sz="1200" b="0">
                <a:solidFill>
                  <a:srgbClr val="7F776B"/>
                </a:solidFill>
                <a:latin typeface="PingFang SC"/>
                <a:ea typeface="PingFang SC"/>
                <a:cs typeface="PingFang SC"/>
              </a:rPr>
              <a:t>知君主动回来问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63840" y="2971800"/>
            <a:ext cx="1828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200" b="0">
                <a:solidFill>
                  <a:srgbClr val="7F776B"/>
                </a:solidFill>
                <a:latin typeface="PingFang SC"/>
                <a:ea typeface="PingFang SC"/>
                <a:cs typeface="PingFang SC"/>
              </a:rPr>
              <a:t>几周后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8680" y="4572000"/>
            <a:ext cx="5120640" cy="1417320"/>
          </a:xfrm>
          <a:prstGeom prst="roundRect">
            <a:avLst>
              <a:gd name="adj" fmla="val 8000"/>
            </a:avLst>
          </a:prstGeom>
          <a:solidFill>
            <a:srgbClr val="1C1915"/>
          </a:solidFill>
          <a:ln w="12700">
            <a:solidFill>
              <a:srgbClr val="302B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1188719" y="4846320"/>
            <a:ext cx="448055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900" b="1">
                <a:solidFill>
                  <a:srgbClr val="F2ECE1"/>
                </a:solidFill>
                <a:latin typeface="Songti SC"/>
                <a:ea typeface="Songti SC"/>
                <a:cs typeface="Songti SC"/>
              </a:rPr>
              <a:t>当下商量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88719" y="5376672"/>
            <a:ext cx="4480559" cy="4297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1400" b="0">
                <a:solidFill>
                  <a:srgbClr val="BDB4A6"/>
                </a:solidFill>
                <a:latin typeface="PingFang SC"/>
                <a:ea typeface="PingFang SC"/>
                <a:cs typeface="PingFang SC"/>
              </a:rPr>
              <a:t>帮本人把顾虑说清楚。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17920" y="4572000"/>
            <a:ext cx="5120640" cy="1417320"/>
          </a:xfrm>
          <a:prstGeom prst="roundRect">
            <a:avLst>
              <a:gd name="adj" fmla="val 8000"/>
            </a:avLst>
          </a:prstGeom>
          <a:solidFill>
            <a:srgbClr val="1C1915"/>
          </a:solidFill>
          <a:ln w="12700">
            <a:solidFill>
              <a:srgbClr val="302B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6537959" y="4846320"/>
            <a:ext cx="448055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900" b="1">
                <a:solidFill>
                  <a:srgbClr val="F2ECE1"/>
                </a:solidFill>
                <a:latin typeface="Songti SC"/>
                <a:ea typeface="Songti SC"/>
                <a:cs typeface="Songti SC"/>
              </a:rPr>
              <a:t>知君可以有看法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37959" y="5376672"/>
            <a:ext cx="4480559" cy="4297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1400" b="0">
                <a:solidFill>
                  <a:srgbClr val="BDB4A6"/>
                </a:solidFill>
                <a:latin typeface="PingFang SC"/>
                <a:ea typeface="PingFang SC"/>
                <a:cs typeface="PingFang SC"/>
              </a:rPr>
              <a:t>但看法永远只是看法，不替人做决定。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0F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502920"/>
            <a:ext cx="10454335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00" b="0">
                <a:solidFill>
                  <a:srgbClr val="E3A35A"/>
                </a:solidFill>
                <a:latin typeface="PingFang SC"/>
                <a:ea typeface="PingFang SC"/>
                <a:cs typeface="PingFang SC"/>
              </a:rPr>
              <a:t>个人本体 · 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822960"/>
            <a:ext cx="10454335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3600" b="1">
                <a:solidFill>
                  <a:srgbClr val="F2ECE1"/>
                </a:solidFill>
                <a:latin typeface="Songti SC"/>
                <a:ea typeface="Songti SC"/>
                <a:cs typeface="Songti SC"/>
              </a:rPr>
              <a:t>内观：帮人看见自己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600200"/>
            <a:ext cx="54864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  <a:spcAft>
                <a:spcPts val="0"/>
              </a:spcAft>
            </a:pPr>
            <a:r>
              <a:rPr sz="1700" b="0">
                <a:solidFill>
                  <a:srgbClr val="BDB4A6"/>
                </a:solidFill>
                <a:latin typeface="PingFang SC"/>
                <a:ea typeface="PingFang SC"/>
                <a:cs typeface="PingFang SC"/>
              </a:rPr>
              <a:t>本体里有两个只属于本人的分区。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8680" y="2331720"/>
            <a:ext cx="2331720" cy="594360"/>
          </a:xfrm>
          <a:prstGeom prst="roundRect">
            <a:avLst>
              <a:gd name="adj" fmla="val 8000"/>
            </a:avLst>
          </a:prstGeom>
          <a:solidFill>
            <a:srgbClr val="1C1915"/>
          </a:solidFill>
          <a:ln w="12700">
            <a:solidFill>
              <a:srgbClr val="302B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68680" y="2331720"/>
            <a:ext cx="233172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700" b="0">
                <a:solidFill>
                  <a:srgbClr val="F2ECE1"/>
                </a:solidFill>
                <a:latin typeface="PingFang SC"/>
                <a:ea typeface="PingFang SC"/>
                <a:cs typeface="PingFang SC"/>
              </a:rPr>
              <a:t>🔒 心里的事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83280" y="2331720"/>
            <a:ext cx="2331720" cy="594360"/>
          </a:xfrm>
          <a:prstGeom prst="roundRect">
            <a:avLst>
              <a:gd name="adj" fmla="val 8000"/>
            </a:avLst>
          </a:prstGeom>
          <a:solidFill>
            <a:srgbClr val="1C1915"/>
          </a:solidFill>
          <a:ln w="12700">
            <a:solidFill>
              <a:srgbClr val="302B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3383280" y="2331720"/>
            <a:ext cx="233172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700" b="0">
                <a:solidFill>
                  <a:srgbClr val="F2ECE1"/>
                </a:solidFill>
                <a:latin typeface="PingFang SC"/>
                <a:ea typeface="PingFang SC"/>
                <a:cs typeface="PingFang SC"/>
              </a:rPr>
              <a:t>🔒 我眼中的我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3337560"/>
            <a:ext cx="53035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  <a:spcAft>
                <a:spcPts val="0"/>
              </a:spcAft>
            </a:pPr>
            <a:r>
              <a:rPr sz="1700" b="0">
                <a:solidFill>
                  <a:srgbClr val="BDB4A6"/>
                </a:solidFill>
                <a:latin typeface="PingFang SC"/>
                <a:ea typeface="PingFang SC"/>
                <a:cs typeface="PingFang SC"/>
              </a:rPr>
              <a:t>知君把本人对自己的看法，与实际行为中观察到的模式对照，</a:t>
            </a:r>
            <a:r>
              <a:rPr sz="1700" b="0">
                <a:solidFill>
                  <a:srgbClr val="E3A35A"/>
                </a:solidFill>
                <a:latin typeface="PingFang SC"/>
                <a:ea typeface="PingFang SC"/>
                <a:cs typeface="PingFang SC"/>
              </a:rPr>
              <a:t>指出其中的张力</a:t>
            </a:r>
            <a:r>
              <a:rPr sz="1700" b="0">
                <a:solidFill>
                  <a:srgbClr val="BDB4A6"/>
                </a:solidFill>
                <a:latin typeface="PingFang SC"/>
                <a:ea typeface="PingFang SC"/>
                <a:cs typeface="PingFang SC"/>
              </a:rPr>
              <a:t>。</a:t>
            </a:r>
          </a:p>
        </p:txBody>
      </p:sp>
      <p:sp>
        <p:nvSpPr>
          <p:cNvPr id="10" name="Oval 9"/>
          <p:cNvSpPr/>
          <p:nvPr/>
        </p:nvSpPr>
        <p:spPr>
          <a:xfrm>
            <a:off x="6629400" y="2057400"/>
            <a:ext cx="3200400" cy="3200400"/>
          </a:xfrm>
          <a:prstGeom prst="ellipse">
            <a:avLst/>
          </a:prstGeom>
          <a:solidFill>
            <a:srgbClr val="E3A35A">
              <a:alpha val="10000"/>
            </a:srgbClr>
          </a:solidFill>
          <a:ln w="19050">
            <a:solidFill>
              <a:srgbClr val="E3A3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7909560" y="2057400"/>
            <a:ext cx="3200400" cy="3200400"/>
          </a:xfrm>
          <a:prstGeom prst="ellipse">
            <a:avLst/>
          </a:prstGeom>
          <a:solidFill>
            <a:srgbClr val="82BBAD">
              <a:alpha val="10000"/>
            </a:srgbClr>
          </a:solidFill>
          <a:ln w="19050">
            <a:solidFill>
              <a:srgbClr val="82BB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400800" y="3474720"/>
            <a:ext cx="1737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600" b="0">
                <a:solidFill>
                  <a:srgbClr val="F4CD96"/>
                </a:solidFill>
                <a:latin typeface="PingFang SC"/>
                <a:ea typeface="PingFang SC"/>
                <a:cs typeface="PingFang SC"/>
              </a:rPr>
              <a:t>我眼中的我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3474720"/>
            <a:ext cx="1737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600" b="0">
                <a:solidFill>
                  <a:srgbClr val="82BBAD"/>
                </a:solidFill>
                <a:latin typeface="PingFang SC"/>
                <a:ea typeface="PingFang SC"/>
                <a:cs typeface="PingFang SC"/>
              </a:rPr>
              <a:t>行为中的模式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0" y="342900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900" b="0">
                <a:solidFill>
                  <a:srgbClr val="F2ECE1"/>
                </a:solidFill>
                <a:latin typeface="PingFang SC"/>
                <a:ea typeface="PingFang SC"/>
                <a:cs typeface="PingFang SC"/>
              </a:rPr>
              <a:t>张力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0F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502920"/>
            <a:ext cx="10454335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00" b="0">
                <a:solidFill>
                  <a:srgbClr val="E3A35A"/>
                </a:solidFill>
                <a:latin typeface="PingFang SC"/>
                <a:ea typeface="PingFang SC"/>
                <a:cs typeface="PingFang SC"/>
              </a:rPr>
              <a:t>个人本体 · 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822960"/>
            <a:ext cx="10454335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3600" b="1">
                <a:solidFill>
                  <a:srgbClr val="F2ECE1"/>
                </a:solidFill>
                <a:latin typeface="Songti SC"/>
                <a:ea typeface="Songti SC"/>
                <a:cs typeface="Songti SC"/>
              </a:rPr>
              <a:t>有边界的知己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68680" y="1828800"/>
            <a:ext cx="5120640" cy="4389120"/>
          </a:xfrm>
          <a:prstGeom prst="roundRect">
            <a:avLst>
              <a:gd name="adj" fmla="val 8000"/>
            </a:avLst>
          </a:prstGeom>
          <a:solidFill>
            <a:srgbClr val="1C1915"/>
          </a:solidFill>
          <a:ln w="12700">
            <a:solidFill>
              <a:srgbClr val="302B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1234440" y="2103120"/>
            <a:ext cx="4572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2100" b="1">
                <a:solidFill>
                  <a:srgbClr val="F2ECE1"/>
                </a:solidFill>
                <a:latin typeface="Songti SC"/>
                <a:ea typeface="Songti SC"/>
                <a:cs typeface="Songti SC"/>
              </a:rPr>
              <a:t>把人推回人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234440" y="2788920"/>
            <a:ext cx="4389120" cy="914400"/>
          </a:xfrm>
          <a:prstGeom prst="roundRect">
            <a:avLst>
              <a:gd name="adj" fmla="val 20000"/>
            </a:avLst>
          </a:prstGeom>
          <a:solidFill>
            <a:srgbClr val="100F0D"/>
          </a:solidFill>
          <a:ln w="12700">
            <a:solidFill>
              <a:srgbClr val="302B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34440" y="2788920"/>
            <a:ext cx="438912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2100" b="0">
                <a:solidFill>
                  <a:srgbClr val="F2ECE1"/>
                </a:solidFill>
                <a:latin typeface="Songti SC"/>
                <a:ea typeface="Songti SC"/>
                <a:cs typeface="Songti SC"/>
              </a:rPr>
              <a:t>「这件事，你该和他谈。」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4023360"/>
            <a:ext cx="43891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00"/>
              </a:lnSpc>
              <a:spcAft>
                <a:spcPts val="0"/>
              </a:spcAft>
            </a:pPr>
            <a:r>
              <a:rPr sz="1500" b="0">
                <a:solidFill>
                  <a:srgbClr val="BDB4A6"/>
                </a:solidFill>
                <a:latin typeface="PingFang SC"/>
                <a:ea typeface="PingFang SC"/>
                <a:cs typeface="PingFang SC"/>
              </a:rPr>
              <a:t>知君要减少孤独，不是替代人。</a:t>
            </a:r>
          </a:p>
          <a:p>
            <a:pPr algn="l">
              <a:lnSpc>
                <a:spcPct val="160000"/>
              </a:lnSpc>
              <a:spcAft>
                <a:spcPts val="0"/>
              </a:spcAft>
            </a:pPr>
            <a:r>
              <a:rPr sz="1500" b="0">
                <a:solidFill>
                  <a:srgbClr val="E3A35A"/>
                </a:solidFill>
                <a:latin typeface="PingFang SC"/>
                <a:ea typeface="PingFang SC"/>
                <a:cs typeface="PingFang SC"/>
              </a:rPr>
              <a:t>这条原则不可关闭。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828800"/>
            <a:ext cx="5120640" cy="4389120"/>
          </a:xfrm>
          <a:prstGeom prst="roundRect">
            <a:avLst>
              <a:gd name="adj" fmla="val 8000"/>
            </a:avLst>
          </a:prstGeom>
          <a:solidFill>
            <a:srgbClr val="1C1915"/>
          </a:solidFill>
          <a:ln w="12700">
            <a:solidFill>
              <a:srgbClr val="302B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6583680" y="2103120"/>
            <a:ext cx="4572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2100" b="1">
                <a:solidFill>
                  <a:srgbClr val="F2ECE1"/>
                </a:solidFill>
                <a:latin typeface="Songti SC"/>
                <a:ea typeface="Songti SC"/>
                <a:cs typeface="Songti SC"/>
              </a:rPr>
              <a:t>接住危机</a:t>
            </a:r>
          </a:p>
        </p:txBody>
      </p:sp>
      <p:sp>
        <p:nvSpPr>
          <p:cNvPr id="11" name="Oval 10"/>
          <p:cNvSpPr/>
          <p:nvPr/>
        </p:nvSpPr>
        <p:spPr>
          <a:xfrm>
            <a:off x="6601968" y="2743200"/>
            <a:ext cx="365760" cy="365760"/>
          </a:xfrm>
          <a:prstGeom prst="ellipse">
            <a:avLst/>
          </a:prstGeom>
          <a:noFill/>
          <a:ln w="12700">
            <a:solidFill>
              <a:srgbClr val="D98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601968" y="2743200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100" b="0">
                <a:solidFill>
                  <a:srgbClr val="D98C7C"/>
                </a:solidFill>
                <a:latin typeface="PingFang SC"/>
                <a:ea typeface="PingFang SC"/>
                <a:cs typeface="PingFang SC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32320" y="2743200"/>
            <a:ext cx="38404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600" b="0">
                <a:solidFill>
                  <a:srgbClr val="BDB4A6"/>
                </a:solidFill>
                <a:latin typeface="PingFang SC"/>
                <a:ea typeface="PingFang SC"/>
                <a:cs typeface="PingFang SC"/>
              </a:rPr>
              <a:t>接住</a:t>
            </a:r>
          </a:p>
        </p:txBody>
      </p:sp>
      <p:sp>
        <p:nvSpPr>
          <p:cNvPr id="14" name="Oval 13"/>
          <p:cNvSpPr/>
          <p:nvPr/>
        </p:nvSpPr>
        <p:spPr>
          <a:xfrm>
            <a:off x="6601968" y="3310128"/>
            <a:ext cx="365760" cy="365760"/>
          </a:xfrm>
          <a:prstGeom prst="ellipse">
            <a:avLst/>
          </a:prstGeom>
          <a:noFill/>
          <a:ln w="12700">
            <a:solidFill>
              <a:srgbClr val="D98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6601968" y="3310128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100" b="0">
                <a:solidFill>
                  <a:srgbClr val="D98C7C"/>
                </a:solidFill>
                <a:latin typeface="PingFang SC"/>
                <a:ea typeface="PingFang SC"/>
                <a:cs typeface="PingFang SC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32320" y="3310128"/>
            <a:ext cx="38404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600" b="0">
                <a:solidFill>
                  <a:srgbClr val="BDB4A6"/>
                </a:solidFill>
                <a:latin typeface="PingFang SC"/>
                <a:ea typeface="PingFang SC"/>
                <a:cs typeface="PingFang SC"/>
              </a:rPr>
              <a:t>不追问</a:t>
            </a:r>
          </a:p>
        </p:txBody>
      </p:sp>
      <p:sp>
        <p:nvSpPr>
          <p:cNvPr id="17" name="Oval 16"/>
          <p:cNvSpPr/>
          <p:nvPr/>
        </p:nvSpPr>
        <p:spPr>
          <a:xfrm>
            <a:off x="6601968" y="3877056"/>
            <a:ext cx="365760" cy="365760"/>
          </a:xfrm>
          <a:prstGeom prst="ellipse">
            <a:avLst/>
          </a:prstGeom>
          <a:noFill/>
          <a:ln w="12700">
            <a:solidFill>
              <a:srgbClr val="D98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6601968" y="3877056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100" b="0">
                <a:solidFill>
                  <a:srgbClr val="D98C7C"/>
                </a:solidFill>
                <a:latin typeface="PingFang SC"/>
                <a:ea typeface="PingFang SC"/>
                <a:cs typeface="PingFang SC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32320" y="3877056"/>
            <a:ext cx="38404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600" b="0">
                <a:solidFill>
                  <a:srgbClr val="BDB4A6"/>
                </a:solidFill>
                <a:latin typeface="PingFang SC"/>
                <a:ea typeface="PingFang SC"/>
                <a:cs typeface="PingFang SC"/>
              </a:rPr>
              <a:t>提供真实可用的求助渠道</a:t>
            </a:r>
          </a:p>
        </p:txBody>
      </p:sp>
      <p:sp>
        <p:nvSpPr>
          <p:cNvPr id="20" name="Oval 19"/>
          <p:cNvSpPr/>
          <p:nvPr/>
        </p:nvSpPr>
        <p:spPr>
          <a:xfrm>
            <a:off x="6601968" y="4443983"/>
            <a:ext cx="365760" cy="365760"/>
          </a:xfrm>
          <a:prstGeom prst="ellipse">
            <a:avLst/>
          </a:prstGeom>
          <a:noFill/>
          <a:ln w="12700">
            <a:solidFill>
              <a:srgbClr val="D98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6601968" y="4443983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100" b="0">
                <a:solidFill>
                  <a:srgbClr val="D98C7C"/>
                </a:solidFill>
                <a:latin typeface="PingFang SC"/>
                <a:ea typeface="PingFang SC"/>
                <a:cs typeface="PingFang SC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32320" y="4443983"/>
            <a:ext cx="38404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600" b="0">
                <a:solidFill>
                  <a:srgbClr val="BDB4A6"/>
                </a:solidFill>
                <a:latin typeface="PingFang SC"/>
                <a:ea typeface="PingFang SC"/>
                <a:cs typeface="PingFang SC"/>
              </a:rPr>
              <a:t>明确说明自己不是心理治疗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583680" y="5257800"/>
            <a:ext cx="3291840" cy="502920"/>
          </a:xfrm>
          <a:prstGeom prst="roundRect">
            <a:avLst>
              <a:gd name="adj" fmla="val 20000"/>
            </a:avLst>
          </a:prstGeom>
          <a:solidFill>
            <a:srgbClr val="2A1D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6583680" y="5257800"/>
            <a:ext cx="32918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400" b="0">
                <a:solidFill>
                  <a:srgbClr val="D98C7C"/>
                </a:solidFill>
                <a:latin typeface="PingFang SC"/>
                <a:ea typeface="PingFang SC"/>
                <a:cs typeface="PingFang SC"/>
              </a:rPr>
              <a:t>这段对话完全不进入记忆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0F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502920"/>
            <a:ext cx="10454335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00" b="0">
                <a:solidFill>
                  <a:srgbClr val="E3A35A"/>
                </a:solidFill>
                <a:latin typeface="PingFang SC"/>
                <a:ea typeface="PingFang SC"/>
                <a:cs typeface="PingFang SC"/>
              </a:rPr>
              <a:t>为什么是盒子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868680"/>
            <a:ext cx="10454335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3000" b="1">
                <a:solidFill>
                  <a:srgbClr val="F2ECE1"/>
                </a:solidFill>
                <a:latin typeface="Songti SC"/>
                <a:ea typeface="Songti SC"/>
                <a:cs typeface="Songti SC"/>
              </a:rPr>
              <a:t>本地优先不是隐私功能，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3000" b="1">
                <a:solidFill>
                  <a:srgbClr val="E3A35A"/>
                </a:solidFill>
                <a:latin typeface="Songti SC"/>
                <a:ea typeface="Songti SC"/>
                <a:cs typeface="Songti SC"/>
              </a:rPr>
              <a:t>是袒露心声的前提。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2148840"/>
            <a:ext cx="10454335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  <a:spcAft>
                <a:spcPts val="0"/>
              </a:spcAft>
            </a:pPr>
            <a:r>
              <a:rPr sz="1700" b="0">
                <a:solidFill>
                  <a:srgbClr val="BDB4A6"/>
                </a:solidFill>
                <a:latin typeface="PingFang SC"/>
                <a:ea typeface="PingFang SC"/>
                <a:cs typeface="PingFang SC"/>
              </a:rPr>
              <a:t>一个人只有确信内容不会流到别处，才会说真话。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8680" y="2788920"/>
            <a:ext cx="4846320" cy="2788920"/>
          </a:xfrm>
          <a:prstGeom prst="roundRect">
            <a:avLst>
              <a:gd name="adj" fmla="val 6000"/>
            </a:avLst>
          </a:prstGeom>
          <a:noFill/>
          <a:ln w="15875">
            <a:solidFill>
              <a:srgbClr val="E3A35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097280" y="2898648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>
                <a:solidFill>
                  <a:srgbClr val="E3A35A"/>
                </a:solidFill>
                <a:latin typeface="PingFang SC"/>
                <a:ea typeface="PingFang SC"/>
                <a:cs typeface="PingFang SC"/>
              </a:rPr>
              <a:t>原件不出设备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280160" y="3291840"/>
            <a:ext cx="4023360" cy="2011680"/>
          </a:xfrm>
          <a:prstGeom prst="roundRect">
            <a:avLst>
              <a:gd name="adj" fmla="val 8000"/>
            </a:avLst>
          </a:prstGeom>
          <a:solidFill>
            <a:srgbClr val="1C1915"/>
          </a:solidFill>
          <a:ln w="12700">
            <a:solidFill>
              <a:srgbClr val="302B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280160" y="3474720"/>
            <a:ext cx="40233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2100" b="1">
                <a:solidFill>
                  <a:srgbClr val="F2ECE1"/>
                </a:solidFill>
                <a:latin typeface="Songti SC"/>
                <a:ea typeface="Songti SC"/>
                <a:cs typeface="Songti SC"/>
              </a:rPr>
              <a:t>你的盒子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80160" y="4069080"/>
            <a:ext cx="4023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400" b="0">
                <a:solidFill>
                  <a:srgbClr val="BDB4A6"/>
                </a:solidFill>
                <a:latin typeface="PingFang SC"/>
                <a:ea typeface="PingFang SC"/>
                <a:cs typeface="PingFang SC"/>
              </a:rPr>
              <a:t>个人本体 · 全部对话 · 判断记录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4572000"/>
            <a:ext cx="4023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100" b="0">
                <a:solidFill>
                  <a:srgbClr val="7F776B"/>
                </a:solidFill>
                <a:latin typeface="PingFang SC"/>
                <a:ea typeface="PingFang SC"/>
                <a:cs typeface="PingFang SC"/>
              </a:rPr>
              <a:t>专用设备，不运行别的软件，不随人移动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897880" y="4206240"/>
            <a:ext cx="2651760" cy="0"/>
          </a:xfrm>
          <a:prstGeom prst="line">
            <a:avLst/>
          </a:prstGeom>
          <a:ln w="19050">
            <a:solidFill>
              <a:srgbClr val="7F776B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6309360" y="4133087"/>
            <a:ext cx="201168" cy="146304"/>
          </a:xfrm>
          <a:prstGeom prst="roundRect">
            <a:avLst>
              <a:gd name="adj" fmla="val 20000"/>
            </a:avLst>
          </a:prstGeom>
          <a:solidFill>
            <a:srgbClr val="F4CD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949440" y="4133087"/>
            <a:ext cx="128016" cy="146304"/>
          </a:xfrm>
          <a:prstGeom prst="roundRect">
            <a:avLst>
              <a:gd name="adj" fmla="val 20000"/>
            </a:avLst>
          </a:prstGeom>
          <a:solidFill>
            <a:srgbClr val="F4CD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ounded Rectangle 13"/>
          <p:cNvSpPr/>
          <p:nvPr/>
        </p:nvSpPr>
        <p:spPr>
          <a:xfrm>
            <a:off x="7589520" y="4133087"/>
            <a:ext cx="164592" cy="146304"/>
          </a:xfrm>
          <a:prstGeom prst="roundRect">
            <a:avLst>
              <a:gd name="adj" fmla="val 20000"/>
            </a:avLst>
          </a:prstGeom>
          <a:solidFill>
            <a:srgbClr val="F4CD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5760720" y="3657600"/>
            <a:ext cx="29260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500" b="0">
                <a:solidFill>
                  <a:srgbClr val="F2ECE1"/>
                </a:solidFill>
                <a:latin typeface="PingFang SC"/>
                <a:ea typeface="PingFang SC"/>
                <a:cs typeface="PingFang SC"/>
              </a:rPr>
              <a:t>只送必要片段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577840" y="4434840"/>
            <a:ext cx="32918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100" b="0">
                <a:solidFill>
                  <a:srgbClr val="7F776B"/>
                </a:solidFill>
                <a:latin typeface="PingFang SC"/>
                <a:ea typeface="PingFang SC"/>
                <a:cs typeface="PingFang SC"/>
              </a:rPr>
              <a:t>本人选择开启 · 发送内容可见 · 可审计</a:t>
            </a:r>
          </a:p>
        </p:txBody>
      </p:sp>
      <p:sp>
        <p:nvSpPr>
          <p:cNvPr id="17" name="Cloud 16"/>
          <p:cNvSpPr/>
          <p:nvPr/>
        </p:nvSpPr>
        <p:spPr>
          <a:xfrm>
            <a:off x="8732520" y="3429000"/>
            <a:ext cx="2651760" cy="1600200"/>
          </a:xfrm>
          <a:prstGeom prst="cloud">
            <a:avLst/>
          </a:prstGeom>
          <a:solidFill>
            <a:srgbClr val="1C1915"/>
          </a:solidFill>
          <a:ln w="12700">
            <a:solidFill>
              <a:srgbClr val="302B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732520" y="3429000"/>
            <a:ext cx="2651760" cy="1600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400" b="0">
                <a:solidFill>
                  <a:srgbClr val="BDB4A6"/>
                </a:solidFill>
                <a:latin typeface="PingFang SC"/>
                <a:ea typeface="PingFang SC"/>
                <a:cs typeface="PingFang SC"/>
              </a:rPr>
              <a:t>外部模型（可选）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5897880"/>
            <a:ext cx="10454335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00" b="0">
                <a:solidFill>
                  <a:srgbClr val="7F776B"/>
                </a:solidFill>
                <a:latin typeface="PingFang SC"/>
                <a:ea typeface="PingFang SC"/>
                <a:cs typeface="PingFang SC"/>
              </a:rPr>
              <a:t>同时保留独立部署版本，供不需要硬件的用户使用。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0F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502920"/>
            <a:ext cx="10454335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00" b="0">
                <a:solidFill>
                  <a:srgbClr val="E3A35A"/>
                </a:solidFill>
                <a:latin typeface="PingFang SC"/>
                <a:ea typeface="PingFang SC"/>
                <a:cs typeface="PingFang SC"/>
              </a:rPr>
              <a:t>产品形态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822960"/>
            <a:ext cx="10454335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3600" b="1">
                <a:solidFill>
                  <a:srgbClr val="F2ECE1"/>
                </a:solidFill>
                <a:latin typeface="Songti SC"/>
                <a:ea typeface="Songti SC"/>
                <a:cs typeface="Songti SC"/>
              </a:rPr>
              <a:t>软硬件一体交付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68680" y="1691640"/>
            <a:ext cx="862584" cy="310896"/>
          </a:xfrm>
          <a:prstGeom prst="roundRect">
            <a:avLst>
              <a:gd name="adj" fmla="val 30000"/>
            </a:avLst>
          </a:prstGeom>
          <a:solidFill>
            <a:srgbClr val="2C251B"/>
          </a:solidFill>
          <a:ln w="9525">
            <a:solidFill>
              <a:srgbClr val="E3A3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868680" y="1691640"/>
            <a:ext cx="86258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100" b="0">
                <a:solidFill>
                  <a:srgbClr val="E3A35A"/>
                </a:solidFill>
                <a:latin typeface="PingFang SC"/>
                <a:ea typeface="PingFang SC"/>
                <a:cs typeface="PingFang SC"/>
              </a:rPr>
              <a:t>个人本体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68680" y="2148840"/>
            <a:ext cx="5577840" cy="1188720"/>
          </a:xfrm>
          <a:prstGeom prst="roundRect">
            <a:avLst>
              <a:gd name="adj" fmla="val 8000"/>
            </a:avLst>
          </a:prstGeom>
          <a:solidFill>
            <a:srgbClr val="1C1915"/>
          </a:solidFill>
          <a:ln w="12700">
            <a:solidFill>
              <a:srgbClr val="302B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188719" y="2423160"/>
            <a:ext cx="493775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900" b="1">
                <a:solidFill>
                  <a:srgbClr val="F2ECE1"/>
                </a:solidFill>
                <a:latin typeface="Songti SC"/>
                <a:ea typeface="Songti SC"/>
                <a:cs typeface="Songti SC"/>
              </a:rPr>
              <a:t>私人记忆盒子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19" y="2953512"/>
            <a:ext cx="493775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1400" b="0">
                <a:solidFill>
                  <a:srgbClr val="BDB4A6"/>
                </a:solidFill>
                <a:latin typeface="PingFang SC"/>
                <a:ea typeface="PingFang SC"/>
                <a:cs typeface="PingFang SC"/>
              </a:rPr>
              <a:t>保存个人本体、对话和判断记录。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68680" y="3474720"/>
            <a:ext cx="5577840" cy="1188720"/>
          </a:xfrm>
          <a:prstGeom prst="roundRect">
            <a:avLst>
              <a:gd name="adj" fmla="val 8000"/>
            </a:avLst>
          </a:prstGeom>
          <a:solidFill>
            <a:srgbClr val="1C1915"/>
          </a:solidFill>
          <a:ln w="12700">
            <a:solidFill>
              <a:srgbClr val="302B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1188719" y="3749039"/>
            <a:ext cx="493775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900" b="1">
                <a:solidFill>
                  <a:srgbClr val="F2ECE1"/>
                </a:solidFill>
                <a:latin typeface="Songti SC"/>
                <a:ea typeface="Songti SC"/>
                <a:cs typeface="Songti SC"/>
              </a:rPr>
              <a:t>本人客户端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19" y="4279392"/>
            <a:ext cx="493775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1400" b="0">
                <a:solidFill>
                  <a:srgbClr val="BDB4A6"/>
                </a:solidFill>
                <a:latin typeface="PingFang SC"/>
                <a:ea typeface="PingFang SC"/>
                <a:cs typeface="PingFang SC"/>
              </a:rPr>
              <a:t>没有复杂导航，只有一条按天展开的对话。知君每天先开口。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68680" y="4892040"/>
            <a:ext cx="862584" cy="310896"/>
          </a:xfrm>
          <a:prstGeom prst="roundRect">
            <a:avLst>
              <a:gd name="adj" fmla="val 30000"/>
            </a:avLst>
          </a:prstGeom>
          <a:solidFill>
            <a:srgbClr val="232825"/>
          </a:solidFill>
          <a:ln w="9525">
            <a:solidFill>
              <a:srgbClr val="82BB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68680" y="4892040"/>
            <a:ext cx="86258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100" b="0">
                <a:solidFill>
                  <a:srgbClr val="82BBAD"/>
                </a:solidFill>
                <a:latin typeface="PingFang SC"/>
                <a:ea typeface="PingFang SC"/>
                <a:cs typeface="PingFang SC"/>
              </a:rPr>
              <a:t>个人分身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68680" y="5321808"/>
            <a:ext cx="2697480" cy="960120"/>
          </a:xfrm>
          <a:prstGeom prst="roundRect">
            <a:avLst>
              <a:gd name="adj" fmla="val 8000"/>
            </a:avLst>
          </a:prstGeom>
          <a:solidFill>
            <a:srgbClr val="1C1915"/>
          </a:solidFill>
          <a:ln w="12700">
            <a:solidFill>
              <a:srgbClr val="302B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1097280" y="5440680"/>
            <a:ext cx="23774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400" b="1">
                <a:solidFill>
                  <a:srgbClr val="82BBAD"/>
                </a:solidFill>
                <a:latin typeface="PingFang SC"/>
                <a:ea typeface="PingFang SC"/>
                <a:cs typeface="PingFang SC"/>
              </a:rPr>
              <a:t>分身管理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5779008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>
                <a:solidFill>
                  <a:srgbClr val="BDB4A6"/>
                </a:solidFill>
                <a:latin typeface="PingFang SC"/>
                <a:ea typeface="PingFang SC"/>
                <a:cs typeface="PingFang SC"/>
              </a:rPr>
              <a:t>发布什么、开放哪个分身、授权给谁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703320" y="5321808"/>
            <a:ext cx="2697480" cy="960120"/>
          </a:xfrm>
          <a:prstGeom prst="roundRect">
            <a:avLst>
              <a:gd name="adj" fmla="val 8000"/>
            </a:avLst>
          </a:prstGeom>
          <a:solidFill>
            <a:srgbClr val="1C1915"/>
          </a:solidFill>
          <a:ln w="12700">
            <a:solidFill>
              <a:srgbClr val="302B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3931920" y="5440680"/>
            <a:ext cx="23774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400" b="1">
                <a:solidFill>
                  <a:srgbClr val="82BBAD"/>
                </a:solidFill>
                <a:latin typeface="PingFang SC"/>
                <a:ea typeface="PingFang SC"/>
                <a:cs typeface="PingFang SC"/>
              </a:rPr>
              <a:t>来访者入口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31920" y="5779008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>
                <a:solidFill>
                  <a:srgbClr val="BDB4A6"/>
                </a:solidFill>
                <a:latin typeface="PingFang SC"/>
                <a:ea typeface="PingFang SC"/>
                <a:cs typeface="PingFang SC"/>
              </a:rPr>
              <a:t>获授权者与分身对话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086600" y="914400"/>
            <a:ext cx="4251960" cy="5394960"/>
          </a:xfrm>
          <a:prstGeom prst="roundRect">
            <a:avLst>
              <a:gd name="adj" fmla="val 6000"/>
            </a:avLst>
          </a:prstGeom>
          <a:solidFill>
            <a:srgbClr val="141210"/>
          </a:solidFill>
          <a:ln w="12700">
            <a:solidFill>
              <a:srgbClr val="302B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7086600" y="1097280"/>
            <a:ext cx="4251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100" b="0">
                <a:solidFill>
                  <a:srgbClr val="7F776B"/>
                </a:solidFill>
                <a:latin typeface="PingFang SC"/>
                <a:ea typeface="PingFang SC"/>
                <a:cs typeface="PingFang SC"/>
              </a:rPr>
              <a:t>今天 · 示意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60920" y="1600200"/>
            <a:ext cx="2926080" cy="1234440"/>
          </a:xfrm>
          <a:prstGeom prst="roundRect">
            <a:avLst>
              <a:gd name="adj" fmla="val 15000"/>
            </a:avLst>
          </a:prstGeom>
          <a:solidFill>
            <a:srgbClr val="1C1915"/>
          </a:solidFill>
          <a:ln w="12700">
            <a:solidFill>
              <a:srgbClr val="302B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7543800" y="1709928"/>
            <a:ext cx="2560320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300" b="0">
                <a:solidFill>
                  <a:srgbClr val="F2ECE1"/>
                </a:solidFill>
                <a:latin typeface="Songti SC"/>
                <a:ea typeface="Songti SC"/>
                <a:cs typeface="Songti SC"/>
              </a:rPr>
              <a:t>上个月你决定先不扩招。当时你最担心的是现金流——现在回看，这个顾虑还在吗？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138160" y="3017520"/>
            <a:ext cx="2926080" cy="685800"/>
          </a:xfrm>
          <a:prstGeom prst="roundRect">
            <a:avLst>
              <a:gd name="adj" fmla="val 15000"/>
            </a:avLst>
          </a:prstGeom>
          <a:solidFill>
            <a:srgbClr val="3A2F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8321040" y="3127248"/>
            <a:ext cx="25603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300" b="0">
                <a:solidFill>
                  <a:srgbClr val="F2ECE1"/>
                </a:solidFill>
                <a:latin typeface="PingFang SC"/>
                <a:ea typeface="PingFang SC"/>
                <a:cs typeface="PingFang SC"/>
              </a:rPr>
              <a:t>还在。但另一件事更让我睡不着。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360920" y="3886200"/>
            <a:ext cx="2926080" cy="960120"/>
          </a:xfrm>
          <a:prstGeom prst="roundRect">
            <a:avLst>
              <a:gd name="adj" fmla="val 15000"/>
            </a:avLst>
          </a:prstGeom>
          <a:solidFill>
            <a:srgbClr val="1C1915"/>
          </a:solidFill>
          <a:ln w="12700">
            <a:solidFill>
              <a:srgbClr val="302B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7543800" y="3995928"/>
            <a:ext cx="256032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300" b="0">
                <a:solidFill>
                  <a:srgbClr val="F2ECE1"/>
                </a:solidFill>
                <a:latin typeface="Songti SC"/>
                <a:ea typeface="Songti SC"/>
                <a:cs typeface="Songti SC"/>
              </a:rPr>
              <a:t>愿意说说是哪件事吗？不急，想到哪儿说到哪儿。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60920" y="498348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>
                <a:solidFill>
                  <a:srgbClr val="7F776B"/>
                </a:solidFill>
                <a:latin typeface="PingFang SC"/>
                <a:ea typeface="PingFang SC"/>
                <a:cs typeface="PingFang SC"/>
              </a:rPr>
              <a:t>判断回访 · 第 3 周</a:t>
            </a:r>
          </a:p>
        </p:txBody>
      </p:sp>
    </p:spTree>
  </p:cSld>
  <p:clrMapOvr>
    <a:masterClrMapping/>
  </p:clrMapOvr>
  <p:transition spd="med">
    <p:fade/>
  </p:transition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0F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502920"/>
            <a:ext cx="10454335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00" b="0">
                <a:solidFill>
                  <a:srgbClr val="82BBAD"/>
                </a:solidFill>
                <a:latin typeface="PingFang SC"/>
                <a:ea typeface="PingFang SC"/>
                <a:cs typeface="PingFang SC"/>
              </a:rPr>
              <a:t>个人分身 · 从本体到分身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822960"/>
            <a:ext cx="10454335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3600" b="1">
                <a:solidFill>
                  <a:srgbClr val="F2ECE1"/>
                </a:solidFill>
                <a:latin typeface="Songti SC"/>
                <a:ea typeface="Songti SC"/>
                <a:cs typeface="Songti SC"/>
              </a:rPr>
              <a:t>单向阀门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600200"/>
            <a:ext cx="10454335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  <a:spcAft>
                <a:spcPts val="0"/>
              </a:spcAft>
            </a:pPr>
            <a:r>
              <a:rPr sz="1700" b="0">
                <a:solidFill>
                  <a:srgbClr val="BDB4A6"/>
                </a:solidFill>
                <a:latin typeface="PingFang SC"/>
                <a:ea typeface="PingFang SC"/>
                <a:cs typeface="PingFang SC"/>
              </a:rPr>
              <a:t>本体积累了一个人怎么做判断、后来对不对。分身把其中本人愿意分享的部分，变成授权的人可以随时提问的专业能力。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8680" y="2743200"/>
            <a:ext cx="4069080" cy="3017520"/>
          </a:xfrm>
          <a:prstGeom prst="roundRect">
            <a:avLst>
              <a:gd name="adj" fmla="val 8000"/>
            </a:avLst>
          </a:prstGeom>
          <a:solidFill>
            <a:srgbClr val="1C1915"/>
          </a:solidFill>
          <a:ln w="12700">
            <a:solidFill>
              <a:srgbClr val="E3A3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143000" y="2944368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2000" b="1">
                <a:solidFill>
                  <a:srgbClr val="E3A35A"/>
                </a:solidFill>
                <a:latin typeface="Songti SC"/>
                <a:ea typeface="Songti SC"/>
                <a:cs typeface="Songti SC"/>
              </a:rPr>
              <a:t>个人本体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33832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>
                <a:solidFill>
                  <a:srgbClr val="7F776B"/>
                </a:solidFill>
                <a:latin typeface="PingFang SC"/>
                <a:ea typeface="PingFang SC"/>
                <a:cs typeface="PingFang SC"/>
              </a:rPr>
              <a:t>默认私密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3794760"/>
            <a:ext cx="1691640" cy="457200"/>
          </a:xfrm>
          <a:prstGeom prst="roundRect">
            <a:avLst>
              <a:gd name="adj" fmla="val 15000"/>
            </a:avLst>
          </a:prstGeom>
          <a:solidFill>
            <a:srgbClr val="100F0D"/>
          </a:solidFill>
          <a:ln w="12700">
            <a:solidFill>
              <a:srgbClr val="302B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143000" y="3794760"/>
            <a:ext cx="16916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200" b="0">
                <a:solidFill>
                  <a:srgbClr val="BDB4A6"/>
                </a:solidFill>
                <a:latin typeface="PingFang SC"/>
                <a:ea typeface="PingFang SC"/>
                <a:cs typeface="PingFang SC"/>
              </a:rPr>
              <a:t>🔒 心里的事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926080" y="3794760"/>
            <a:ext cx="1691640" cy="457200"/>
          </a:xfrm>
          <a:prstGeom prst="roundRect">
            <a:avLst>
              <a:gd name="adj" fmla="val 15000"/>
            </a:avLst>
          </a:prstGeom>
          <a:solidFill>
            <a:srgbClr val="100F0D"/>
          </a:solidFill>
          <a:ln w="12700">
            <a:solidFill>
              <a:srgbClr val="302B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2926080" y="3794760"/>
            <a:ext cx="16916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200" b="0">
                <a:solidFill>
                  <a:srgbClr val="BDB4A6"/>
                </a:solidFill>
                <a:latin typeface="PingFang SC"/>
                <a:ea typeface="PingFang SC"/>
                <a:cs typeface="PingFang SC"/>
              </a:rPr>
              <a:t>🔒 我眼中的我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4361688"/>
            <a:ext cx="1691640" cy="457200"/>
          </a:xfrm>
          <a:prstGeom prst="roundRect">
            <a:avLst>
              <a:gd name="adj" fmla="val 15000"/>
            </a:avLst>
          </a:prstGeom>
          <a:solidFill>
            <a:srgbClr val="100F0D"/>
          </a:solidFill>
          <a:ln w="12700">
            <a:solidFill>
              <a:srgbClr val="302B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1143000" y="4361688"/>
            <a:ext cx="16916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200" b="0">
                <a:solidFill>
                  <a:srgbClr val="BDB4A6"/>
                </a:solidFill>
                <a:latin typeface="PingFang SC"/>
                <a:ea typeface="PingFang SC"/>
                <a:cs typeface="PingFang SC"/>
              </a:rPr>
              <a:t>🔒 情绪记录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926080" y="4361688"/>
            <a:ext cx="1691640" cy="457200"/>
          </a:xfrm>
          <a:prstGeom prst="roundRect">
            <a:avLst>
              <a:gd name="adj" fmla="val 15000"/>
            </a:avLst>
          </a:prstGeom>
          <a:solidFill>
            <a:srgbClr val="100F0D"/>
          </a:solidFill>
          <a:ln w="12700">
            <a:solidFill>
              <a:srgbClr val="302B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2926080" y="4361688"/>
            <a:ext cx="16916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200" b="0">
                <a:solidFill>
                  <a:srgbClr val="BDB4A6"/>
                </a:solidFill>
                <a:latin typeface="PingFang SC"/>
                <a:ea typeface="PingFang SC"/>
                <a:cs typeface="PingFang SC"/>
              </a:rPr>
              <a:t>🔒 危机对话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" y="4983480"/>
            <a:ext cx="35661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00" b="0">
                <a:solidFill>
                  <a:srgbClr val="D98C7C"/>
                </a:solidFill>
                <a:latin typeface="PingFang SC"/>
                <a:ea typeface="PingFang SC"/>
                <a:cs typeface="PingFang SC"/>
              </a:rPr>
              <a:t>永远不能发布——不是默认关闭，是不存在这个开关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983480" y="4251960"/>
            <a:ext cx="457200" cy="0"/>
          </a:xfrm>
          <a:prstGeom prst="line">
            <a:avLst/>
          </a:prstGeom>
          <a:ln w="22225">
            <a:solidFill>
              <a:srgbClr val="E3A3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5486400" y="3291840"/>
            <a:ext cx="1783080" cy="1920240"/>
          </a:xfrm>
          <a:prstGeom prst="roundRect">
            <a:avLst>
              <a:gd name="adj" fmla="val 8000"/>
            </a:avLst>
          </a:prstGeom>
          <a:solidFill>
            <a:srgbClr val="1C1915"/>
          </a:solidFill>
          <a:ln w="12700">
            <a:solidFill>
              <a:srgbClr val="302B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Oval 18"/>
          <p:cNvSpPr/>
          <p:nvPr/>
        </p:nvSpPr>
        <p:spPr>
          <a:xfrm>
            <a:off x="6085331" y="3502152"/>
            <a:ext cx="585216" cy="585216"/>
          </a:xfrm>
          <a:prstGeom prst="ellipse">
            <a:avLst/>
          </a:prstGeom>
          <a:noFill/>
          <a:ln w="19050">
            <a:solidFill>
              <a:srgbClr val="E3A3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Freeform 19"/>
          <p:cNvSpPr/>
          <p:nvPr/>
        </p:nvSpPr>
        <p:spPr>
          <a:xfrm>
            <a:off x="6255044" y="3677716"/>
            <a:ext cx="181417" cy="234087"/>
          </a:xfrm>
          <a:custGeom>
            <a:avLst/>
            <a:gdLst/>
            <a:ahLst/>
            <a:cxnLst/>
            <a:rect l="l" t="t" r="r" b="b"/>
            <a:pathLst>
              <a:path w="181417" h="234087">
                <a:moveTo>
                  <a:pt x="0" y="0"/>
                </a:moveTo>
                <a:lnTo>
                  <a:pt x="181417" y="117044"/>
                </a:lnTo>
                <a:lnTo>
                  <a:pt x="0" y="234087"/>
                </a:lnTo>
                <a:close/>
              </a:path>
            </a:pathLst>
          </a:custGeom>
          <a:solidFill>
            <a:srgbClr val="E3A3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471574" y="3663086"/>
            <a:ext cx="38039" cy="263347"/>
          </a:xfrm>
          <a:prstGeom prst="roundRect">
            <a:avLst>
              <a:gd name="adj" fmla="val 50000"/>
            </a:avLst>
          </a:prstGeom>
          <a:solidFill>
            <a:srgbClr val="82BB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5486400" y="4206240"/>
            <a:ext cx="1783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600" b="1">
                <a:solidFill>
                  <a:srgbClr val="F2ECE1"/>
                </a:solidFill>
                <a:latin typeface="Songti SC"/>
                <a:ea typeface="Songti SC"/>
                <a:cs typeface="Songti SC"/>
              </a:rPr>
              <a:t>逐条确认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0" y="4617720"/>
            <a:ext cx="17830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100" b="0">
                <a:solidFill>
                  <a:srgbClr val="7F776B"/>
                </a:solidFill>
                <a:latin typeface="PingFang SC"/>
                <a:ea typeface="PingFang SC"/>
                <a:cs typeface="PingFang SC"/>
              </a:rPr>
              <a:t>可暂停 · 可撤回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315200" y="4251960"/>
            <a:ext cx="365760" cy="0"/>
          </a:xfrm>
          <a:prstGeom prst="line">
            <a:avLst/>
          </a:prstGeom>
          <a:ln w="22225">
            <a:solidFill>
              <a:srgbClr val="82BBAD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7726679" y="3520440"/>
            <a:ext cx="1691640" cy="1463040"/>
          </a:xfrm>
          <a:prstGeom prst="roundRect">
            <a:avLst>
              <a:gd name="adj" fmla="val 8000"/>
            </a:avLst>
          </a:prstGeom>
          <a:solidFill>
            <a:srgbClr val="1C1915"/>
          </a:solidFill>
          <a:ln w="12700">
            <a:solidFill>
              <a:srgbClr val="82BB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7726679" y="3749039"/>
            <a:ext cx="16916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700" b="1">
                <a:solidFill>
                  <a:srgbClr val="82BBAD"/>
                </a:solidFill>
                <a:latin typeface="Songti SC"/>
                <a:ea typeface="Songti SC"/>
                <a:cs typeface="Songti SC"/>
              </a:rPr>
              <a:t>分身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26679" y="4251960"/>
            <a:ext cx="1691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100" b="0">
                <a:solidFill>
                  <a:srgbClr val="7F776B"/>
                </a:solidFill>
                <a:latin typeface="PingFang SC"/>
                <a:ea typeface="PingFang SC"/>
                <a:cs typeface="PingFang SC"/>
              </a:rPr>
              <a:t>只用已发布</a:t>
            </a:r>
          </a:p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100" b="0">
                <a:solidFill>
                  <a:srgbClr val="7F776B"/>
                </a:solidFill>
                <a:latin typeface="PingFang SC"/>
                <a:ea typeface="PingFang SC"/>
                <a:cs typeface="PingFang SC"/>
              </a:rPr>
              <a:t>的部分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9464040" y="4251960"/>
            <a:ext cx="365760" cy="0"/>
          </a:xfrm>
          <a:prstGeom prst="line">
            <a:avLst/>
          </a:prstGeom>
          <a:ln w="22225">
            <a:solidFill>
              <a:srgbClr val="82BBAD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9875520" y="3520440"/>
            <a:ext cx="1444752" cy="1463040"/>
          </a:xfrm>
          <a:prstGeom prst="roundRect">
            <a:avLst>
              <a:gd name="adj" fmla="val 8000"/>
            </a:avLst>
          </a:prstGeom>
          <a:solidFill>
            <a:srgbClr val="1C1915"/>
          </a:solidFill>
          <a:ln w="12700">
            <a:solidFill>
              <a:srgbClr val="302B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9875520" y="3749039"/>
            <a:ext cx="144475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700" b="1">
                <a:solidFill>
                  <a:srgbClr val="F2ECE1"/>
                </a:solidFill>
                <a:latin typeface="Songti SC"/>
                <a:ea typeface="Songti SC"/>
                <a:cs typeface="Songti SC"/>
              </a:rPr>
              <a:t>来访者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875520" y="4251960"/>
            <a:ext cx="144475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100" b="0">
                <a:solidFill>
                  <a:srgbClr val="7F776B"/>
                </a:solidFill>
                <a:latin typeface="PingFang SC"/>
                <a:ea typeface="PingFang SC"/>
                <a:cs typeface="PingFang SC"/>
              </a:rPr>
              <a:t>会话单独</a:t>
            </a:r>
          </a:p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100" b="0">
                <a:solidFill>
                  <a:srgbClr val="7F776B"/>
                </a:solidFill>
                <a:latin typeface="PingFang SC"/>
                <a:ea typeface="PingFang SC"/>
                <a:cs typeface="PingFang SC"/>
              </a:rPr>
              <a:t>管理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486400" y="5934456"/>
            <a:ext cx="36576" cy="475488"/>
          </a:xfrm>
          <a:prstGeom prst="rect">
            <a:avLst/>
          </a:prstGeom>
          <a:solidFill>
            <a:srgbClr val="82BB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5687568" y="5897880"/>
            <a:ext cx="5650992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300" b="0">
                <a:solidFill>
                  <a:srgbClr val="BDB4A6"/>
                </a:solidFill>
                <a:latin typeface="PingFang SC"/>
                <a:ea typeface="PingFang SC"/>
                <a:cs typeface="PingFang SC"/>
              </a:rPr>
              <a:t>来访者的会话单独管理，不会回流到本体，除非本人确认。</a:t>
            </a:r>
          </a:p>
        </p:txBody>
      </p:sp>
    </p:spTree>
  </p:cSld>
  <p:clrMapOvr>
    <a:masterClrMapping/>
  </p:clrMapOvr>
  <p:transition spd="med">
    <p:fade/>
  </p:transition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0F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502920"/>
            <a:ext cx="10454335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00" b="0">
                <a:solidFill>
                  <a:srgbClr val="82BBAD"/>
                </a:solidFill>
                <a:latin typeface="PingFang SC"/>
                <a:ea typeface="PingFang SC"/>
                <a:cs typeface="PingFang SC"/>
              </a:rPr>
              <a:t>个人分身 · 三条规则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822960"/>
            <a:ext cx="10454335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3600" b="1">
                <a:solidFill>
                  <a:srgbClr val="F2ECE1"/>
                </a:solidFill>
                <a:latin typeface="Songti SC"/>
                <a:ea typeface="Songti SC"/>
                <a:cs typeface="Songti SC"/>
              </a:rPr>
              <a:t>只对授权的人，只用本体，明确是 AI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68680" y="1828800"/>
            <a:ext cx="3346704" cy="3566160"/>
          </a:xfrm>
          <a:prstGeom prst="roundRect">
            <a:avLst>
              <a:gd name="adj" fmla="val 8000"/>
            </a:avLst>
          </a:prstGeom>
          <a:solidFill>
            <a:srgbClr val="1C1915"/>
          </a:solidFill>
          <a:ln w="12700">
            <a:solidFill>
              <a:srgbClr val="82BB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1188719" y="2103120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2000" b="1">
                <a:solidFill>
                  <a:srgbClr val="82BBAD"/>
                </a:solidFill>
                <a:latin typeface="Songti SC"/>
                <a:ea typeface="Songti SC"/>
                <a:cs typeface="Songti SC"/>
              </a:rPr>
              <a:t>只对授权的人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19" y="2697480"/>
            <a:ext cx="2706624" cy="2560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00"/>
              </a:lnSpc>
              <a:spcAft>
                <a:spcPts val="0"/>
              </a:spcAft>
            </a:pPr>
            <a:r>
              <a:rPr sz="1400" b="0">
                <a:solidFill>
                  <a:srgbClr val="BDB4A6"/>
                </a:solidFill>
                <a:latin typeface="PingFang SC"/>
                <a:ea typeface="PingFang SC"/>
                <a:cs typeface="PingFang SC"/>
              </a:rPr>
              <a:t>分身不做公开提问。本人决定开放哪个分身、授权给哪些客户、学员或合作方，可逐个或按组授权，随时收回。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16552" y="1828800"/>
            <a:ext cx="3346704" cy="3566160"/>
          </a:xfrm>
          <a:prstGeom prst="roundRect">
            <a:avLst>
              <a:gd name="adj" fmla="val 8000"/>
            </a:avLst>
          </a:prstGeom>
          <a:solidFill>
            <a:srgbClr val="1C1915"/>
          </a:solidFill>
          <a:ln w="12700">
            <a:solidFill>
              <a:srgbClr val="82BB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4736592" y="2103120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2000" b="1">
                <a:solidFill>
                  <a:srgbClr val="82BBAD"/>
                </a:solidFill>
                <a:latin typeface="Songti SC"/>
                <a:ea typeface="Songti SC"/>
                <a:cs typeface="Songti SC"/>
              </a:rPr>
              <a:t>素材只来自本体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36592" y="2697480"/>
            <a:ext cx="2706624" cy="2560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00"/>
              </a:lnSpc>
              <a:spcAft>
                <a:spcPts val="0"/>
              </a:spcAft>
            </a:pPr>
            <a:r>
              <a:rPr sz="1400" b="0">
                <a:solidFill>
                  <a:srgbClr val="BDB4A6"/>
                </a:solidFill>
                <a:latin typeface="PingFang SC"/>
                <a:ea typeface="PingFang SC"/>
                <a:cs typeface="PingFang SC"/>
              </a:rPr>
              <a:t>每一条内容都来自本体中经本人确认、选择发布的部分，不另外导入资料绕过本体。分身好不好用，取决于本体积累了多少。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964423" y="1828800"/>
            <a:ext cx="3346704" cy="3566160"/>
          </a:xfrm>
          <a:prstGeom prst="roundRect">
            <a:avLst>
              <a:gd name="adj" fmla="val 8000"/>
            </a:avLst>
          </a:prstGeom>
          <a:solidFill>
            <a:srgbClr val="1C1915"/>
          </a:solidFill>
          <a:ln w="12700">
            <a:solidFill>
              <a:srgbClr val="82BB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284463" y="2103120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2000" b="1">
                <a:solidFill>
                  <a:srgbClr val="82BBAD"/>
                </a:solidFill>
                <a:latin typeface="Songti SC"/>
                <a:ea typeface="Songti SC"/>
                <a:cs typeface="Songti SC"/>
              </a:rPr>
              <a:t>明确是 AI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38744" y="2697480"/>
            <a:ext cx="2798064" cy="1234440"/>
          </a:xfrm>
          <a:prstGeom prst="roundRect">
            <a:avLst>
              <a:gd name="adj" fmla="val 12000"/>
            </a:avLst>
          </a:prstGeom>
          <a:solidFill>
            <a:srgbClr val="100F0D"/>
          </a:solidFill>
          <a:ln w="12700">
            <a:solidFill>
              <a:srgbClr val="302B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375903" y="2697480"/>
            <a:ext cx="2523744" cy="12344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1500" b="0">
                <a:solidFill>
                  <a:srgbClr val="F2ECE1"/>
                </a:solidFill>
                <a:latin typeface="Songti SC"/>
                <a:ea typeface="Songti SC"/>
                <a:cs typeface="Songti SC"/>
              </a:rPr>
              <a:t>「我是某某的 AI 分身，根据他确认过的经验回答。」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84463" y="4160520"/>
            <a:ext cx="2706624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00"/>
              </a:lnSpc>
              <a:spcAft>
                <a:spcPts val="0"/>
              </a:spcAft>
            </a:pPr>
            <a:r>
              <a:rPr sz="1400" b="0">
                <a:solidFill>
                  <a:srgbClr val="BDB4A6"/>
                </a:solidFill>
                <a:latin typeface="PingFang SC"/>
                <a:ea typeface="PingFang SC"/>
                <a:cs typeface="PingFang SC"/>
              </a:rPr>
              <a:t>不替本人做承诺；超出范围的问题交给本人。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68680" y="5751576"/>
            <a:ext cx="36576" cy="475488"/>
          </a:xfrm>
          <a:prstGeom prst="rect">
            <a:avLst/>
          </a:prstGeom>
          <a:solidFill>
            <a:srgbClr val="82BB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1069848" y="5715000"/>
            <a:ext cx="10253167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400" b="0">
                <a:solidFill>
                  <a:srgbClr val="BDB4A6"/>
                </a:solidFill>
                <a:latin typeface="PingFang SC"/>
                <a:ea typeface="PingFang SC"/>
                <a:cs typeface="PingFang SC"/>
              </a:rPr>
              <a:t>交付上先本体、分身紧跟——这是交付顺序，不是重要性排序：分身的素材需要先有积累。</a:t>
            </a:r>
          </a:p>
        </p:txBody>
      </p:sp>
    </p:spTree>
  </p:cSld>
  <p:clrMapOvr>
    <a:masterClrMapping/>
  </p:clrMapOvr>
  <p:transition spd="med">
    <p:fade/>
  </p:transition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0F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502920"/>
            <a:ext cx="10454335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00" b="0">
                <a:solidFill>
                  <a:srgbClr val="82BBAD"/>
                </a:solidFill>
                <a:latin typeface="PingFang SC"/>
                <a:ea typeface="PingFang SC"/>
                <a:cs typeface="PingFang SC"/>
              </a:rPr>
              <a:t>个人分身 · 顾问最关心的两件事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68680" y="1005840"/>
            <a:ext cx="5120640" cy="5212080"/>
          </a:xfrm>
          <a:prstGeom prst="roundRect">
            <a:avLst>
              <a:gd name="adj" fmla="val 8000"/>
            </a:avLst>
          </a:prstGeom>
          <a:solidFill>
            <a:srgbClr val="1C1915"/>
          </a:solidFill>
          <a:ln w="12700">
            <a:solidFill>
              <a:srgbClr val="302B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1234440" y="1280160"/>
            <a:ext cx="4572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2200" b="1">
                <a:solidFill>
                  <a:srgbClr val="F2ECE1"/>
                </a:solidFill>
                <a:latin typeface="Songti SC"/>
                <a:ea typeface="Songti SC"/>
                <a:cs typeface="Songti SC"/>
              </a:rPr>
              <a:t>客户之间的保密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4440" y="1828800"/>
            <a:ext cx="44805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400" b="0">
                <a:solidFill>
                  <a:srgbClr val="BDB4A6"/>
                </a:solidFill>
                <a:latin typeface="PingFang SC"/>
                <a:ea typeface="PingFang SC"/>
                <a:cs typeface="PingFang SC"/>
              </a:rPr>
              <a:t>跨客户的经验最有价值，也大多受保密约定约束。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234440" y="2606040"/>
            <a:ext cx="655320" cy="384048"/>
          </a:xfrm>
          <a:prstGeom prst="roundRect">
            <a:avLst>
              <a:gd name="adj" fmla="val 30000"/>
            </a:avLst>
          </a:prstGeom>
          <a:solidFill>
            <a:srgbClr val="2C251B"/>
          </a:solidFill>
          <a:ln w="9525">
            <a:solidFill>
              <a:srgbClr val="E3A3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34440" y="2606040"/>
            <a:ext cx="6553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400" b="0">
                <a:solidFill>
                  <a:srgbClr val="E3A35A"/>
                </a:solidFill>
                <a:latin typeface="PingFang SC"/>
                <a:ea typeface="PingFang SC"/>
                <a:cs typeface="PingFang SC"/>
              </a:rPr>
              <a:t>案例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35480" y="2606040"/>
            <a:ext cx="2743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400" b="0">
                <a:solidFill>
                  <a:srgbClr val="7F776B"/>
                </a:solidFill>
                <a:latin typeface="PingFang SC"/>
                <a:ea typeface="PingFang SC"/>
                <a:cs typeface="PingFang SC"/>
              </a:rPr>
              <a:t>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209800" y="2606040"/>
            <a:ext cx="655320" cy="384048"/>
          </a:xfrm>
          <a:prstGeom prst="roundRect">
            <a:avLst>
              <a:gd name="adj" fmla="val 30000"/>
            </a:avLst>
          </a:prstGeom>
          <a:solidFill>
            <a:srgbClr val="2C251B"/>
          </a:solidFill>
          <a:ln w="9525">
            <a:solidFill>
              <a:srgbClr val="E3A3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2209800" y="2606040"/>
            <a:ext cx="6553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400" b="0">
                <a:solidFill>
                  <a:srgbClr val="E3A35A"/>
                </a:solidFill>
                <a:latin typeface="PingFang SC"/>
                <a:ea typeface="PingFang SC"/>
                <a:cs typeface="PingFang SC"/>
              </a:rPr>
              <a:t>脱敏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10840" y="2606040"/>
            <a:ext cx="2743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400" b="0">
                <a:solidFill>
                  <a:srgbClr val="7F776B"/>
                </a:solidFill>
                <a:latin typeface="PingFang SC"/>
                <a:ea typeface="PingFang SC"/>
                <a:cs typeface="PingFang SC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234440" y="3154680"/>
            <a:ext cx="2468880" cy="384048"/>
          </a:xfrm>
          <a:prstGeom prst="roundRect">
            <a:avLst>
              <a:gd name="adj" fmla="val 30000"/>
            </a:avLst>
          </a:prstGeom>
          <a:solidFill>
            <a:srgbClr val="2C251B"/>
          </a:solidFill>
          <a:ln w="9525">
            <a:solidFill>
              <a:srgbClr val="E3A3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1234440" y="3154680"/>
            <a:ext cx="24688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400" b="0">
                <a:solidFill>
                  <a:srgbClr val="E3A35A"/>
                </a:solidFill>
                <a:latin typeface="PingFang SC"/>
                <a:ea typeface="PingFang SC"/>
                <a:cs typeface="PingFang SC"/>
              </a:rPr>
              <a:t>本人确认「可以对外引用」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49040" y="3154680"/>
            <a:ext cx="2743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400" b="0">
                <a:solidFill>
                  <a:srgbClr val="7F776B"/>
                </a:solidFill>
                <a:latin typeface="PingFang SC"/>
                <a:ea typeface="PingFang SC"/>
                <a:cs typeface="PingFang SC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023360" y="3154680"/>
            <a:ext cx="1018032" cy="384048"/>
          </a:xfrm>
          <a:prstGeom prst="roundRect">
            <a:avLst>
              <a:gd name="adj" fmla="val 30000"/>
            </a:avLst>
          </a:prstGeom>
          <a:solidFill>
            <a:srgbClr val="232825"/>
          </a:solidFill>
          <a:ln w="9525">
            <a:solidFill>
              <a:srgbClr val="82BB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4023360" y="3154680"/>
            <a:ext cx="1018032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400" b="0">
                <a:solidFill>
                  <a:srgbClr val="82BBAD"/>
                </a:solidFill>
                <a:latin typeface="PingFang SC"/>
                <a:ea typeface="PingFang SC"/>
                <a:cs typeface="PingFang SC"/>
              </a:rPr>
              <a:t>分身可用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3977639"/>
            <a:ext cx="44805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500" b="0">
                <a:solidFill>
                  <a:srgbClr val="BDB4A6"/>
                </a:solidFill>
                <a:latin typeface="PingFang SC"/>
                <a:ea typeface="PingFang SC"/>
                <a:cs typeface="PingFang SC"/>
              </a:rPr>
              <a:t>分身回答问题时，不会把一个客户的情况透露给另一个客户。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17920" y="1005840"/>
            <a:ext cx="5120640" cy="5212080"/>
          </a:xfrm>
          <a:prstGeom prst="roundRect">
            <a:avLst>
              <a:gd name="adj" fmla="val 8000"/>
            </a:avLst>
          </a:prstGeom>
          <a:solidFill>
            <a:srgbClr val="1C1915"/>
          </a:solidFill>
          <a:ln w="12700">
            <a:solidFill>
              <a:srgbClr val="302B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6583680" y="1280160"/>
            <a:ext cx="4572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2200" b="1">
                <a:solidFill>
                  <a:srgbClr val="F2ECE1"/>
                </a:solidFill>
                <a:latin typeface="Songti SC"/>
                <a:ea typeface="Songti SC"/>
                <a:cs typeface="Songti SC"/>
              </a:rPr>
              <a:t>本人接续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0" y="1828800"/>
            <a:ext cx="44805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400" b="0">
                <a:solidFill>
                  <a:srgbClr val="BDB4A6"/>
                </a:solidFill>
                <a:latin typeface="PingFang SC"/>
                <a:ea typeface="PingFang SC"/>
                <a:cs typeface="PingFang SC"/>
              </a:rPr>
              <a:t>分身的主线，也是收费咨询的入口。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583680" y="2606040"/>
            <a:ext cx="1199388" cy="384048"/>
          </a:xfrm>
          <a:prstGeom prst="roundRect">
            <a:avLst>
              <a:gd name="adj" fmla="val 30000"/>
            </a:avLst>
          </a:prstGeom>
          <a:solidFill>
            <a:srgbClr val="1C1915"/>
          </a:solidFill>
          <a:ln w="9525">
            <a:solidFill>
              <a:srgbClr val="7F77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583680" y="2606040"/>
            <a:ext cx="119938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400" b="0">
                <a:solidFill>
                  <a:srgbClr val="7F776B"/>
                </a:solidFill>
                <a:latin typeface="PingFang SC"/>
                <a:ea typeface="PingFang SC"/>
                <a:cs typeface="PingFang SC"/>
              </a:rPr>
              <a:t>来访者提问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20840" y="3337560"/>
            <a:ext cx="2743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600" b="0">
                <a:solidFill>
                  <a:srgbClr val="7F776B"/>
                </a:solidFill>
                <a:latin typeface="PingFang SC"/>
                <a:ea typeface="PingFang SC"/>
                <a:cs typeface="PingFang SC"/>
              </a:rPr>
              <a:t>↳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040880" y="3337560"/>
            <a:ext cx="655320" cy="384048"/>
          </a:xfrm>
          <a:prstGeom prst="roundRect">
            <a:avLst>
              <a:gd name="adj" fmla="val 30000"/>
            </a:avLst>
          </a:prstGeom>
          <a:solidFill>
            <a:srgbClr val="232825"/>
          </a:solidFill>
          <a:ln w="9525">
            <a:solidFill>
              <a:srgbClr val="82BB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7040880" y="3337560"/>
            <a:ext cx="6553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400" b="0">
                <a:solidFill>
                  <a:srgbClr val="82BBAD"/>
                </a:solidFill>
                <a:latin typeface="PingFang SC"/>
                <a:ea typeface="PingFang SC"/>
                <a:cs typeface="PingFang SC"/>
              </a:rPr>
              <a:t>分身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79079" y="3337560"/>
            <a:ext cx="31089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400" b="0">
                <a:solidFill>
                  <a:srgbClr val="BDB4A6"/>
                </a:solidFill>
                <a:latin typeface="PingFang SC"/>
                <a:ea typeface="PingFang SC"/>
                <a:cs typeface="PingFang SC"/>
              </a:rPr>
              <a:t>已有案例、方法和适用条件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720840" y="4069080"/>
            <a:ext cx="2743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600" b="0">
                <a:solidFill>
                  <a:srgbClr val="7F776B"/>
                </a:solidFill>
                <a:latin typeface="PingFang SC"/>
                <a:ea typeface="PingFang SC"/>
                <a:cs typeface="PingFang SC"/>
              </a:rPr>
              <a:t>↳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040880" y="4069080"/>
            <a:ext cx="655320" cy="384048"/>
          </a:xfrm>
          <a:prstGeom prst="roundRect">
            <a:avLst>
              <a:gd name="adj" fmla="val 30000"/>
            </a:avLst>
          </a:prstGeom>
          <a:solidFill>
            <a:srgbClr val="2C251B"/>
          </a:solidFill>
          <a:ln w="9525">
            <a:solidFill>
              <a:srgbClr val="E3A3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7040880" y="4069080"/>
            <a:ext cx="6553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400" b="0">
                <a:solidFill>
                  <a:srgbClr val="E3A35A"/>
                </a:solidFill>
                <a:latin typeface="PingFang SC"/>
                <a:ea typeface="PingFang SC"/>
                <a:cs typeface="PingFang SC"/>
              </a:rPr>
              <a:t>本人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879079" y="4069080"/>
            <a:ext cx="31089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400" b="0">
                <a:solidFill>
                  <a:srgbClr val="BDB4A6"/>
                </a:solidFill>
                <a:latin typeface="PingFang SC"/>
                <a:ea typeface="PingFang SC"/>
                <a:cs typeface="PingFang SC"/>
              </a:rPr>
              <a:t>具体决策 · 复杂条件 · 需要新研究</a:t>
            </a:r>
          </a:p>
        </p:txBody>
      </p:sp>
    </p:spTree>
  </p:cSld>
  <p:clrMapOvr>
    <a:masterClrMapping/>
  </p:clrMapOvr>
  <p:transition spd="med">
    <p:fade/>
  </p:transition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0F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502920"/>
            <a:ext cx="10454335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00" b="0">
                <a:solidFill>
                  <a:srgbClr val="82BBAD"/>
                </a:solidFill>
                <a:latin typeface="PingFang SC"/>
                <a:ea typeface="PingFang SC"/>
                <a:cs typeface="PingFang SC"/>
              </a:rPr>
              <a:t>个人分身 · 首批场景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822960"/>
            <a:ext cx="10454335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3600" b="1">
                <a:solidFill>
                  <a:srgbClr val="F2ECE1"/>
                </a:solidFill>
                <a:latin typeface="Songti SC"/>
                <a:ea typeface="Songti SC"/>
                <a:cs typeface="Songti SC"/>
              </a:rPr>
              <a:t>分身接第一层，本人接关键一层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3271" y="1874519"/>
            <a:ext cx="2468880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>
                <a:solidFill>
                  <a:srgbClr val="7F776B"/>
                </a:solidFill>
                <a:latin typeface="PingFang SC"/>
                <a:ea typeface="PingFang SC"/>
                <a:cs typeface="PingFang SC"/>
              </a:rPr>
              <a:t>场景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776472" y="1874519"/>
            <a:ext cx="4114800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>
                <a:solidFill>
                  <a:srgbClr val="7F776B"/>
                </a:solidFill>
                <a:latin typeface="PingFang SC"/>
                <a:ea typeface="PingFang SC"/>
                <a:cs typeface="PingFang SC"/>
              </a:rPr>
              <a:t>分身负责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165592" y="1874519"/>
            <a:ext cx="3044952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>
                <a:solidFill>
                  <a:srgbClr val="7F776B"/>
                </a:solidFill>
                <a:latin typeface="PingFang SC"/>
                <a:ea typeface="PingFang SC"/>
                <a:cs typeface="PingFang SC"/>
              </a:rPr>
              <a:t>本人接续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868680" y="2743200"/>
            <a:ext cx="10451592" cy="0"/>
          </a:xfrm>
          <a:prstGeom prst="line">
            <a:avLst/>
          </a:prstGeom>
          <a:ln w="9525">
            <a:solidFill>
              <a:srgbClr val="302B2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1033271" y="2743200"/>
            <a:ext cx="2468880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600" b="0">
                <a:solidFill>
                  <a:srgbClr val="F2ECE1"/>
                </a:solidFill>
                <a:latin typeface="PingFang SC"/>
                <a:ea typeface="PingFang SC"/>
                <a:cs typeface="PingFang SC"/>
              </a:rPr>
              <a:t>经营与组织顾问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76472" y="2743200"/>
            <a:ext cx="4114800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600" b="0">
                <a:solidFill>
                  <a:srgbClr val="BDB4A6"/>
                </a:solidFill>
                <a:latin typeface="PingFang SC"/>
                <a:ea typeface="PingFang SC"/>
                <a:cs typeface="PingFang SC"/>
              </a:rPr>
              <a:t>调用相关案例，解释分析方法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65592" y="2743200"/>
            <a:ext cx="3044952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600" b="0">
                <a:solidFill>
                  <a:srgbClr val="BDB4A6"/>
                </a:solidFill>
                <a:latin typeface="PingFang SC"/>
                <a:ea typeface="PingFang SC"/>
                <a:cs typeface="PingFang SC"/>
              </a:rPr>
              <a:t>具体决策与复杂条件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68680" y="3611880"/>
            <a:ext cx="10451592" cy="0"/>
          </a:xfrm>
          <a:prstGeom prst="line">
            <a:avLst/>
          </a:prstGeom>
          <a:ln w="9525">
            <a:solidFill>
              <a:srgbClr val="302B2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33271" y="3611880"/>
            <a:ext cx="2468880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600" b="0">
                <a:solidFill>
                  <a:srgbClr val="F2ECE1"/>
                </a:solidFill>
                <a:latin typeface="PingFang SC"/>
                <a:ea typeface="PingFang SC"/>
                <a:cs typeface="PingFang SC"/>
              </a:rPr>
              <a:t>行业研究顾问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76472" y="3611880"/>
            <a:ext cx="4114800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600" b="0">
                <a:solidFill>
                  <a:srgbClr val="BDB4A6"/>
                </a:solidFill>
                <a:latin typeface="PingFang SC"/>
                <a:ea typeface="PingFang SC"/>
                <a:cs typeface="PingFang SC"/>
              </a:rPr>
              <a:t>组织已有研究、经验与适用条件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65592" y="3611880"/>
            <a:ext cx="3044952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600" b="0">
                <a:solidFill>
                  <a:srgbClr val="BDB4A6"/>
                </a:solidFill>
                <a:latin typeface="PingFang SC"/>
                <a:ea typeface="PingFang SC"/>
                <a:cs typeface="PingFang SC"/>
              </a:rPr>
              <a:t>超出范围或需要新研究的问题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68680" y="4480560"/>
            <a:ext cx="10451592" cy="0"/>
          </a:xfrm>
          <a:prstGeom prst="line">
            <a:avLst/>
          </a:prstGeom>
          <a:ln w="9525">
            <a:solidFill>
              <a:srgbClr val="302B2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33271" y="4480560"/>
            <a:ext cx="2468880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600" b="0">
                <a:solidFill>
                  <a:srgbClr val="F2ECE1"/>
                </a:solidFill>
                <a:latin typeface="PingFang SC"/>
                <a:ea typeface="PingFang SC"/>
                <a:cs typeface="PingFang SC"/>
              </a:rPr>
              <a:t>项目复盘顾问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76472" y="4480560"/>
            <a:ext cx="4114800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600" b="0">
                <a:solidFill>
                  <a:srgbClr val="BDB4A6"/>
                </a:solidFill>
                <a:latin typeface="PingFang SC"/>
                <a:ea typeface="PingFang SC"/>
                <a:cs typeface="PingFang SC"/>
              </a:rPr>
              <a:t>串联脱敏后的项目背景、行动与结果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65592" y="4480560"/>
            <a:ext cx="3044952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600" b="0">
                <a:solidFill>
                  <a:srgbClr val="BDB4A6"/>
                </a:solidFill>
                <a:latin typeface="PingFang SC"/>
                <a:ea typeface="PingFang SC"/>
                <a:cs typeface="PingFang SC"/>
              </a:rPr>
              <a:t>核对差异，补充当前判断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868680" y="5349240"/>
            <a:ext cx="10451592" cy="0"/>
          </a:xfrm>
          <a:prstGeom prst="line">
            <a:avLst/>
          </a:prstGeom>
          <a:ln w="9525">
            <a:solidFill>
              <a:srgbClr val="302B2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ransition spd="med">
    <p:fade/>
  </p:transition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0F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502920"/>
            <a:ext cx="10454335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00" b="0">
                <a:solidFill>
                  <a:srgbClr val="E3A35A"/>
                </a:solidFill>
                <a:latin typeface="PingFang SC"/>
                <a:ea typeface="PingFang SC"/>
                <a:cs typeface="PingFang SC"/>
              </a:rPr>
              <a:t>价值闭环</a:t>
            </a:r>
          </a:p>
        </p:txBody>
      </p:sp>
      <p:sp>
        <p:nvSpPr>
          <p:cNvPr id="3" name="Oval 2"/>
          <p:cNvSpPr/>
          <p:nvPr/>
        </p:nvSpPr>
        <p:spPr>
          <a:xfrm>
            <a:off x="1371600" y="1920240"/>
            <a:ext cx="3749039" cy="3749039"/>
          </a:xfrm>
          <a:prstGeom prst="ellipse">
            <a:avLst/>
          </a:prstGeom>
          <a:noFill/>
          <a:ln w="25400">
            <a:solidFill>
              <a:srgbClr val="302B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Oval 3"/>
          <p:cNvSpPr/>
          <p:nvPr/>
        </p:nvSpPr>
        <p:spPr>
          <a:xfrm>
            <a:off x="2788920" y="1463040"/>
            <a:ext cx="914400" cy="914400"/>
          </a:xfrm>
          <a:prstGeom prst="ellipse">
            <a:avLst/>
          </a:prstGeom>
          <a:solidFill>
            <a:srgbClr val="1C1915"/>
          </a:solidFill>
          <a:ln w="12700">
            <a:solidFill>
              <a:srgbClr val="302B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2788920" y="169164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2000" b="0">
                <a:solidFill>
                  <a:srgbClr val="BDB4A6"/>
                </a:solidFill>
                <a:latin typeface="Songti SC"/>
                <a:ea typeface="Songti SC"/>
                <a:cs typeface="Songti SC"/>
              </a:rPr>
              <a:t>聊</a:t>
            </a:r>
          </a:p>
        </p:txBody>
      </p:sp>
      <p:sp>
        <p:nvSpPr>
          <p:cNvPr id="6" name="Oval 5"/>
          <p:cNvSpPr/>
          <p:nvPr/>
        </p:nvSpPr>
        <p:spPr>
          <a:xfrm>
            <a:off x="4412301" y="2400300"/>
            <a:ext cx="914400" cy="914400"/>
          </a:xfrm>
          <a:prstGeom prst="ellipse">
            <a:avLst/>
          </a:prstGeom>
          <a:solidFill>
            <a:srgbClr val="1C1915"/>
          </a:solidFill>
          <a:ln w="12700">
            <a:solidFill>
              <a:srgbClr val="302B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4412301" y="262890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2000" b="0">
                <a:solidFill>
                  <a:srgbClr val="BDB4A6"/>
                </a:solidFill>
                <a:latin typeface="Songti SC"/>
                <a:ea typeface="Songti SC"/>
                <a:cs typeface="Songti SC"/>
              </a:rPr>
              <a:t>记</a:t>
            </a:r>
          </a:p>
        </p:txBody>
      </p:sp>
      <p:sp>
        <p:nvSpPr>
          <p:cNvPr id="8" name="Oval 7"/>
          <p:cNvSpPr/>
          <p:nvPr/>
        </p:nvSpPr>
        <p:spPr>
          <a:xfrm>
            <a:off x="4412301" y="4274820"/>
            <a:ext cx="914400" cy="914400"/>
          </a:xfrm>
          <a:prstGeom prst="ellipse">
            <a:avLst/>
          </a:prstGeom>
          <a:solidFill>
            <a:srgbClr val="1C1915"/>
          </a:solidFill>
          <a:ln w="12700">
            <a:solidFill>
              <a:srgbClr val="302B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4412301" y="450342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2000" b="0">
                <a:solidFill>
                  <a:srgbClr val="BDB4A6"/>
                </a:solidFill>
                <a:latin typeface="Songti SC"/>
                <a:ea typeface="Songti SC"/>
                <a:cs typeface="Songti SC"/>
              </a:rPr>
              <a:t>认</a:t>
            </a:r>
          </a:p>
        </p:txBody>
      </p:sp>
      <p:sp>
        <p:nvSpPr>
          <p:cNvPr id="10" name="Oval 9"/>
          <p:cNvSpPr/>
          <p:nvPr/>
        </p:nvSpPr>
        <p:spPr>
          <a:xfrm>
            <a:off x="2788920" y="5212080"/>
            <a:ext cx="914400" cy="914400"/>
          </a:xfrm>
          <a:prstGeom prst="ellipse">
            <a:avLst/>
          </a:prstGeom>
          <a:solidFill>
            <a:srgbClr val="1C1915"/>
          </a:solidFill>
          <a:ln w="12700">
            <a:solidFill>
              <a:srgbClr val="302B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2788920" y="544068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2000" b="0">
                <a:solidFill>
                  <a:srgbClr val="BDB4A6"/>
                </a:solidFill>
                <a:latin typeface="Songti SC"/>
                <a:ea typeface="Songti SC"/>
                <a:cs typeface="Songti SC"/>
              </a:rPr>
              <a:t>用</a:t>
            </a:r>
          </a:p>
        </p:txBody>
      </p:sp>
      <p:sp>
        <p:nvSpPr>
          <p:cNvPr id="12" name="Oval 11"/>
          <p:cNvSpPr/>
          <p:nvPr/>
        </p:nvSpPr>
        <p:spPr>
          <a:xfrm>
            <a:off x="1165538" y="4274820"/>
            <a:ext cx="914400" cy="914400"/>
          </a:xfrm>
          <a:prstGeom prst="ellipse">
            <a:avLst/>
          </a:prstGeom>
          <a:solidFill>
            <a:srgbClr val="E3A35A"/>
          </a:solidFill>
          <a:ln w="12700">
            <a:solidFill>
              <a:srgbClr val="E3A3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1165538" y="450342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600" b="1">
                <a:solidFill>
                  <a:srgbClr val="1A140C"/>
                </a:solidFill>
                <a:latin typeface="Songti SC"/>
                <a:ea typeface="Songti SC"/>
                <a:cs typeface="Songti SC"/>
              </a:rPr>
              <a:t>回访</a:t>
            </a:r>
          </a:p>
        </p:txBody>
      </p:sp>
      <p:sp>
        <p:nvSpPr>
          <p:cNvPr id="14" name="Oval 13"/>
          <p:cNvSpPr/>
          <p:nvPr/>
        </p:nvSpPr>
        <p:spPr>
          <a:xfrm>
            <a:off x="1165538" y="2400300"/>
            <a:ext cx="914400" cy="914400"/>
          </a:xfrm>
          <a:prstGeom prst="ellipse">
            <a:avLst/>
          </a:prstGeom>
          <a:solidFill>
            <a:srgbClr val="1C1915"/>
          </a:solidFill>
          <a:ln w="12700">
            <a:solidFill>
              <a:srgbClr val="302B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1165538" y="262890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2000" b="0">
                <a:solidFill>
                  <a:srgbClr val="BDB4A6"/>
                </a:solidFill>
                <a:latin typeface="Songti SC"/>
                <a:ea typeface="Songti SC"/>
                <a:cs typeface="Songti SC"/>
              </a:rPr>
              <a:t>长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31720" y="361188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200" b="0">
                <a:solidFill>
                  <a:srgbClr val="7F776B"/>
                </a:solidFill>
                <a:latin typeface="PingFang SC"/>
                <a:ea typeface="PingFang SC"/>
                <a:cs typeface="PingFang SC"/>
              </a:rPr>
              <a:t>本体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1143000"/>
            <a:ext cx="50292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>
                <a:solidFill>
                  <a:srgbClr val="F2ECE1"/>
                </a:solidFill>
                <a:latin typeface="Songti SC"/>
                <a:ea typeface="Songti SC"/>
                <a:cs typeface="Songti SC"/>
              </a:rPr>
              <a:t>每一次商量，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>
                <a:solidFill>
                  <a:srgbClr val="F2ECE1"/>
                </a:solidFill>
                <a:latin typeface="Songti SC"/>
                <a:ea typeface="Songti SC"/>
                <a:cs typeface="Songti SC"/>
              </a:rPr>
              <a:t>都留下一条可以回访的判断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2697480"/>
            <a:ext cx="50292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600" b="0">
                <a:solidFill>
                  <a:srgbClr val="BDB4A6"/>
                </a:solidFill>
                <a:latin typeface="PingFang SC"/>
                <a:ea typeface="PingFang SC"/>
                <a:cs typeface="PingFang SC"/>
              </a:rPr>
              <a:t>每一次回访，都让知君对这个人的理解更准确。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356616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00" b="0">
                <a:solidFill>
                  <a:srgbClr val="7F776B"/>
                </a:solidFill>
                <a:latin typeface="PingFang SC"/>
                <a:ea typeface="PingFang SC"/>
                <a:cs typeface="PingFang SC"/>
              </a:rPr>
              <a:t>分身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309360" y="3931920"/>
            <a:ext cx="629412" cy="384048"/>
          </a:xfrm>
          <a:prstGeom prst="roundRect">
            <a:avLst>
              <a:gd name="adj" fmla="val 30000"/>
            </a:avLst>
          </a:prstGeom>
          <a:solidFill>
            <a:srgbClr val="232825"/>
          </a:solidFill>
          <a:ln w="9525">
            <a:solidFill>
              <a:srgbClr val="82BB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6309360" y="3931920"/>
            <a:ext cx="629412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300" b="0">
                <a:solidFill>
                  <a:srgbClr val="82BBAD"/>
                </a:solidFill>
                <a:latin typeface="PingFang SC"/>
                <a:ea typeface="PingFang SC"/>
                <a:cs typeface="PingFang SC"/>
              </a:rPr>
              <a:t>确认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66204" y="3931920"/>
            <a:ext cx="2743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 b="0">
                <a:solidFill>
                  <a:srgbClr val="7F776B"/>
                </a:solidFill>
                <a:latin typeface="PingFang SC"/>
                <a:ea typeface="PingFang SC"/>
                <a:cs typeface="PingFang SC"/>
              </a:rPr>
              <a:t>→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240524" y="3931920"/>
            <a:ext cx="629412" cy="384048"/>
          </a:xfrm>
          <a:prstGeom prst="roundRect">
            <a:avLst>
              <a:gd name="adj" fmla="val 30000"/>
            </a:avLst>
          </a:prstGeom>
          <a:solidFill>
            <a:srgbClr val="232825"/>
          </a:solidFill>
          <a:ln w="9525">
            <a:solidFill>
              <a:srgbClr val="82BB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7240524" y="3931920"/>
            <a:ext cx="629412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300" b="0">
                <a:solidFill>
                  <a:srgbClr val="82BBAD"/>
                </a:solidFill>
                <a:latin typeface="PingFang SC"/>
                <a:ea typeface="PingFang SC"/>
                <a:cs typeface="PingFang SC"/>
              </a:rPr>
              <a:t>发布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97368" y="3931920"/>
            <a:ext cx="2743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 b="0">
                <a:solidFill>
                  <a:srgbClr val="7F776B"/>
                </a:solidFill>
                <a:latin typeface="PingFang SC"/>
                <a:ea typeface="PingFang SC"/>
                <a:cs typeface="PingFang SC"/>
              </a:rPr>
              <a:t>→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171688" y="3931920"/>
            <a:ext cx="966216" cy="384048"/>
          </a:xfrm>
          <a:prstGeom prst="roundRect">
            <a:avLst>
              <a:gd name="adj" fmla="val 30000"/>
            </a:avLst>
          </a:prstGeom>
          <a:solidFill>
            <a:srgbClr val="232825"/>
          </a:solidFill>
          <a:ln w="9525">
            <a:solidFill>
              <a:srgbClr val="82BB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8171688" y="3931920"/>
            <a:ext cx="96621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300" b="0">
                <a:solidFill>
                  <a:srgbClr val="82BBAD"/>
                </a:solidFill>
                <a:latin typeface="PingFang SC"/>
                <a:ea typeface="PingFang SC"/>
                <a:cs typeface="PingFang SC"/>
              </a:rPr>
              <a:t>授权问答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65336" y="3931920"/>
            <a:ext cx="2743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 b="0">
                <a:solidFill>
                  <a:srgbClr val="7F776B"/>
                </a:solidFill>
                <a:latin typeface="PingFang SC"/>
                <a:ea typeface="PingFang SC"/>
                <a:cs typeface="PingFang SC"/>
              </a:rPr>
              <a:t>→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309360" y="4480560"/>
            <a:ext cx="966216" cy="384048"/>
          </a:xfrm>
          <a:prstGeom prst="roundRect">
            <a:avLst>
              <a:gd name="adj" fmla="val 30000"/>
            </a:avLst>
          </a:prstGeom>
          <a:solidFill>
            <a:srgbClr val="232825"/>
          </a:solidFill>
          <a:ln w="9525">
            <a:solidFill>
              <a:srgbClr val="82BB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309360" y="4480560"/>
            <a:ext cx="96621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300" b="0">
                <a:solidFill>
                  <a:srgbClr val="82BBAD"/>
                </a:solidFill>
                <a:latin typeface="PingFang SC"/>
                <a:ea typeface="PingFang SC"/>
                <a:cs typeface="PingFang SC"/>
              </a:rPr>
              <a:t>本人接续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03008" y="4480560"/>
            <a:ext cx="2743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 b="0">
                <a:solidFill>
                  <a:srgbClr val="7F776B"/>
                </a:solidFill>
                <a:latin typeface="PingFang SC"/>
                <a:ea typeface="PingFang SC"/>
                <a:cs typeface="PingFang SC"/>
              </a:rPr>
              <a:t>→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577328" y="4480560"/>
            <a:ext cx="1134618" cy="384048"/>
          </a:xfrm>
          <a:prstGeom prst="roundRect">
            <a:avLst>
              <a:gd name="adj" fmla="val 30000"/>
            </a:avLst>
          </a:prstGeom>
          <a:solidFill>
            <a:srgbClr val="232825"/>
          </a:solidFill>
          <a:ln w="9525">
            <a:solidFill>
              <a:srgbClr val="82BB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7577328" y="4480560"/>
            <a:ext cx="113461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300" b="0">
                <a:solidFill>
                  <a:srgbClr val="82BBAD"/>
                </a:solidFill>
                <a:latin typeface="PingFang SC"/>
                <a:ea typeface="PingFang SC"/>
                <a:cs typeface="PingFang SC"/>
              </a:rPr>
              <a:t>经确认回流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309360" y="5340096"/>
            <a:ext cx="36576" cy="566928"/>
          </a:xfrm>
          <a:prstGeom prst="rect">
            <a:avLst/>
          </a:prstGeom>
          <a:solidFill>
            <a:srgbClr val="E3A3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6510528" y="5303520"/>
            <a:ext cx="4828032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400" b="0">
                <a:solidFill>
                  <a:srgbClr val="BDB4A6"/>
                </a:solidFill>
                <a:latin typeface="PingFang SC"/>
                <a:ea typeface="PingFang SC"/>
                <a:cs typeface="PingFang SC"/>
              </a:rPr>
              <a:t>没有本体，分身只是一个读过你文件的问答机器人。</a:t>
            </a:r>
          </a:p>
        </p:txBody>
      </p:sp>
    </p:spTree>
  </p:cSld>
  <p:clrMapOvr>
    <a:masterClrMapping/>
  </p:clrMapOvr>
  <p:transition spd="med">
    <p:fade/>
  </p:transition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0F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502920"/>
            <a:ext cx="10454335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00" b="0">
                <a:solidFill>
                  <a:srgbClr val="E3A35A"/>
                </a:solidFill>
                <a:latin typeface="PingFang SC"/>
                <a:ea typeface="PingFang SC"/>
                <a:cs typeface="PingFang SC"/>
              </a:rPr>
              <a:t>差异化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822960"/>
            <a:ext cx="10454335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3600" b="1">
                <a:solidFill>
                  <a:srgbClr val="F2ECE1"/>
                </a:solidFill>
                <a:latin typeface="Songti SC"/>
                <a:ea typeface="Songti SC"/>
                <a:cs typeface="Songti SC"/>
              </a:rPr>
              <a:t>差异落在「判断」，而不是「内容」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183879" y="1691640"/>
            <a:ext cx="3136392" cy="3291839"/>
          </a:xfrm>
          <a:prstGeom prst="roundRect">
            <a:avLst>
              <a:gd name="adj" fmla="val 4000"/>
            </a:avLst>
          </a:prstGeom>
          <a:solidFill>
            <a:srgbClr val="2C25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1033271" y="1691640"/>
            <a:ext cx="109728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>
                <a:solidFill>
                  <a:srgbClr val="7F776B"/>
                </a:solidFill>
                <a:latin typeface="PingFang SC"/>
                <a:ea typeface="PingFang SC"/>
                <a:cs typeface="PingFang SC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04872" y="1691640"/>
            <a:ext cx="26517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>
                <a:solidFill>
                  <a:srgbClr val="7F776B"/>
                </a:solidFill>
                <a:latin typeface="PingFang SC"/>
                <a:ea typeface="PingFang SC"/>
                <a:cs typeface="PingFang SC"/>
              </a:rPr>
              <a:t>通用 AI 助手与陪伴产品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30952" y="1691640"/>
            <a:ext cx="274320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>
                <a:solidFill>
                  <a:srgbClr val="7F776B"/>
                </a:solidFill>
                <a:latin typeface="PingFang SC"/>
                <a:ea typeface="PingFang SC"/>
                <a:cs typeface="PingFang SC"/>
              </a:rPr>
              <a:t>Delphi 等数字分身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48471" y="1691640"/>
            <a:ext cx="2862072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>
                <a:solidFill>
                  <a:srgbClr val="E3A35A"/>
                </a:solidFill>
                <a:latin typeface="PingFang SC"/>
                <a:ea typeface="PingFang SC"/>
                <a:cs typeface="PingFang SC"/>
              </a:rPr>
              <a:t>知君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868680" y="2350008"/>
            <a:ext cx="10451592" cy="0"/>
          </a:xfrm>
          <a:prstGeom prst="line">
            <a:avLst/>
          </a:prstGeom>
          <a:ln w="9525">
            <a:solidFill>
              <a:srgbClr val="302B2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1033271" y="2350008"/>
            <a:ext cx="109728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>
                <a:solidFill>
                  <a:srgbClr val="F2ECE1"/>
                </a:solidFill>
                <a:latin typeface="PingFang SC"/>
                <a:ea typeface="PingFang SC"/>
                <a:cs typeface="PingFang SC"/>
              </a:rPr>
              <a:t>目标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04872" y="2350008"/>
            <a:ext cx="26517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>
                <a:solidFill>
                  <a:srgbClr val="BDB4A6"/>
                </a:solidFill>
                <a:latin typeface="PingFang SC"/>
                <a:ea typeface="PingFang SC"/>
                <a:cs typeface="PingFang SC"/>
              </a:rPr>
              <a:t>完成任务，或提高使用时长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30952" y="2350008"/>
            <a:ext cx="274320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>
                <a:solidFill>
                  <a:srgbClr val="BDB4A6"/>
                </a:solidFill>
                <a:latin typeface="PingFang SC"/>
                <a:ea typeface="PingFang SC"/>
                <a:cs typeface="PingFang SC"/>
              </a:rPr>
              <a:t>放大公开影响力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48471" y="2350008"/>
            <a:ext cx="2862072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>
                <a:solidFill>
                  <a:srgbClr val="F2ECE1"/>
                </a:solidFill>
                <a:latin typeface="PingFang SC"/>
                <a:ea typeface="PingFang SC"/>
                <a:cs typeface="PingFang SC"/>
              </a:rPr>
              <a:t>认识自己，并把确认过的经验交给授权的人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868680" y="3008376"/>
            <a:ext cx="10451592" cy="0"/>
          </a:xfrm>
          <a:prstGeom prst="line">
            <a:avLst/>
          </a:prstGeom>
          <a:ln w="9525">
            <a:solidFill>
              <a:srgbClr val="302B2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1033271" y="3008376"/>
            <a:ext cx="109728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>
                <a:solidFill>
                  <a:srgbClr val="F2ECE1"/>
                </a:solidFill>
                <a:latin typeface="PingFang SC"/>
                <a:ea typeface="PingFang SC"/>
                <a:cs typeface="PingFang SC"/>
              </a:rPr>
              <a:t>素材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04872" y="3008376"/>
            <a:ext cx="26517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>
                <a:solidFill>
                  <a:srgbClr val="BDB4A6"/>
                </a:solidFill>
                <a:latin typeface="PingFang SC"/>
                <a:ea typeface="PingFang SC"/>
                <a:cs typeface="PingFang SC"/>
              </a:rPr>
              <a:t>对话与工作数据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30952" y="3008376"/>
            <a:ext cx="274320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>
                <a:solidFill>
                  <a:srgbClr val="BDB4A6"/>
                </a:solidFill>
                <a:latin typeface="PingFang SC"/>
                <a:ea typeface="PingFang SC"/>
                <a:cs typeface="PingFang SC"/>
              </a:rPr>
              <a:t>公开作品（书、文章、播客、课程）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48471" y="3008376"/>
            <a:ext cx="2862072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>
                <a:solidFill>
                  <a:srgbClr val="F2ECE1"/>
                </a:solidFill>
                <a:latin typeface="PingFang SC"/>
                <a:ea typeface="PingFang SC"/>
                <a:cs typeface="PingFang SC"/>
              </a:rPr>
              <a:t>长期对话中形成的判断及其结果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868680" y="3666744"/>
            <a:ext cx="10451592" cy="0"/>
          </a:xfrm>
          <a:prstGeom prst="line">
            <a:avLst/>
          </a:prstGeom>
          <a:ln w="9525">
            <a:solidFill>
              <a:srgbClr val="302B2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1033271" y="3666744"/>
            <a:ext cx="109728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>
                <a:solidFill>
                  <a:srgbClr val="F2ECE1"/>
                </a:solidFill>
                <a:latin typeface="PingFang SC"/>
                <a:ea typeface="PingFang SC"/>
                <a:cs typeface="PingFang SC"/>
              </a:rPr>
              <a:t>数据在哪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04872" y="3666744"/>
            <a:ext cx="26517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>
                <a:solidFill>
                  <a:srgbClr val="BDB4A6"/>
                </a:solidFill>
                <a:latin typeface="PingFang SC"/>
                <a:ea typeface="PingFang SC"/>
                <a:cs typeface="PingFang SC"/>
              </a:rPr>
              <a:t>平台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30952" y="3666744"/>
            <a:ext cx="274320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>
                <a:solidFill>
                  <a:srgbClr val="BDB4A6"/>
                </a:solidFill>
                <a:latin typeface="PingFang SC"/>
                <a:ea typeface="PingFang SC"/>
                <a:cs typeface="PingFang SC"/>
              </a:rPr>
              <a:t>平台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48471" y="3666744"/>
            <a:ext cx="2862072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>
                <a:solidFill>
                  <a:srgbClr val="F2ECE1"/>
                </a:solidFill>
                <a:latin typeface="PingFang SC"/>
                <a:ea typeface="PingFang SC"/>
                <a:cs typeface="PingFang SC"/>
              </a:rPr>
              <a:t>本人的盒子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868680" y="4325112"/>
            <a:ext cx="10451592" cy="0"/>
          </a:xfrm>
          <a:prstGeom prst="line">
            <a:avLst/>
          </a:prstGeom>
          <a:ln w="9525">
            <a:solidFill>
              <a:srgbClr val="302B2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1033271" y="4325112"/>
            <a:ext cx="109728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>
                <a:solidFill>
                  <a:srgbClr val="F2ECE1"/>
                </a:solidFill>
                <a:latin typeface="PingFang SC"/>
                <a:ea typeface="PingFang SC"/>
                <a:cs typeface="PingFang SC"/>
              </a:rPr>
              <a:t>对外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04872" y="4325112"/>
            <a:ext cx="26517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>
                <a:solidFill>
                  <a:srgbClr val="BDB4A6"/>
                </a:solidFill>
                <a:latin typeface="PingFang SC"/>
                <a:ea typeface="PingFang SC"/>
                <a:cs typeface="PingFang SC"/>
              </a:rPr>
              <a:t>无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30952" y="4325112"/>
            <a:ext cx="274320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>
                <a:solidFill>
                  <a:srgbClr val="BDB4A6"/>
                </a:solidFill>
                <a:latin typeface="PingFang SC"/>
                <a:ea typeface="PingFang SC"/>
                <a:cs typeface="PingFang SC"/>
              </a:rPr>
              <a:t>默认对外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48471" y="4325112"/>
            <a:ext cx="2862072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>
                <a:solidFill>
                  <a:srgbClr val="F2ECE1"/>
                </a:solidFill>
                <a:latin typeface="PingFang SC"/>
                <a:ea typeface="PingFang SC"/>
                <a:cs typeface="PingFang SC"/>
              </a:rPr>
              <a:t>默认私密，逐条确认后经单向阀门交给分身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868680" y="4983479"/>
            <a:ext cx="10451592" cy="0"/>
          </a:xfrm>
          <a:prstGeom prst="line">
            <a:avLst/>
          </a:prstGeom>
          <a:ln w="9525">
            <a:solidFill>
              <a:srgbClr val="302B2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ectangle 29"/>
          <p:cNvSpPr/>
          <p:nvPr/>
        </p:nvSpPr>
        <p:spPr>
          <a:xfrm>
            <a:off x="868680" y="5294376"/>
            <a:ext cx="36576" cy="841248"/>
          </a:xfrm>
          <a:prstGeom prst="rect">
            <a:avLst/>
          </a:prstGeom>
          <a:solidFill>
            <a:srgbClr val="E3A3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1069848" y="5257800"/>
            <a:ext cx="4919472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300" b="0">
                <a:solidFill>
                  <a:srgbClr val="BDB4A6"/>
                </a:solidFill>
                <a:latin typeface="PingFang SC"/>
                <a:ea typeface="PingFang SC"/>
                <a:cs typeface="PingFang SC"/>
              </a:rPr>
              <a:t>知君是唯一把「认识自己」和「分享经验」接在一起的产品：一个人怎么做决定、后来对不对，只有长期陪他商量和复盘的知君才拿得到。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17920" y="5294376"/>
            <a:ext cx="36576" cy="841248"/>
          </a:xfrm>
          <a:prstGeom prst="rect">
            <a:avLst/>
          </a:prstGeom>
          <a:solidFill>
            <a:srgbClr val="7F77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6419088" y="5257800"/>
            <a:ext cx="4919472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300" b="0">
                <a:solidFill>
                  <a:srgbClr val="BDB4A6"/>
                </a:solidFill>
                <a:latin typeface="PingFang SC"/>
                <a:ea typeface="PingFang SC"/>
                <a:cs typeface="PingFang SC"/>
              </a:rPr>
              <a:t>我们的劣势：连接一个盒子比打开一个网页链接麻烦。来访入口的轻量化，是分身要解决的产品问题。</a:t>
            </a:r>
          </a:p>
        </p:txBody>
      </p:sp>
    </p:spTree>
  </p:cSld>
  <p:clrMapOvr>
    <a:masterClrMapping/>
  </p:clrMapOvr>
  <p:transition spd="med">
    <p:fade/>
  </p:transition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0F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502920"/>
            <a:ext cx="10454335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00" b="0">
                <a:solidFill>
                  <a:srgbClr val="E3A35A"/>
                </a:solidFill>
                <a:latin typeface="PingFang SC"/>
                <a:ea typeface="PingFang SC"/>
                <a:cs typeface="PingFang SC"/>
              </a:rPr>
              <a:t>商业模式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822960"/>
            <a:ext cx="10454335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3600" b="1">
                <a:solidFill>
                  <a:srgbClr val="F2ECE1"/>
                </a:solidFill>
                <a:latin typeface="Songti SC"/>
                <a:ea typeface="Songti SC"/>
                <a:cs typeface="Songti SC"/>
              </a:rPr>
              <a:t>对标教练与咨询，不对标工具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68680" y="1783080"/>
            <a:ext cx="3346704" cy="1600200"/>
          </a:xfrm>
          <a:prstGeom prst="roundRect">
            <a:avLst>
              <a:gd name="adj" fmla="val 8000"/>
            </a:avLst>
          </a:prstGeom>
          <a:solidFill>
            <a:srgbClr val="1C1915"/>
          </a:solidFill>
          <a:ln w="12700">
            <a:solidFill>
              <a:srgbClr val="302B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1143000" y="1993392"/>
            <a:ext cx="577596" cy="292608"/>
          </a:xfrm>
          <a:prstGeom prst="roundRect">
            <a:avLst>
              <a:gd name="adj" fmla="val 30000"/>
            </a:avLst>
          </a:prstGeom>
          <a:solidFill>
            <a:srgbClr val="2C251B"/>
          </a:solidFill>
          <a:ln w="9525">
            <a:solidFill>
              <a:srgbClr val="E3A3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143000" y="1993392"/>
            <a:ext cx="577596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100" b="0">
                <a:solidFill>
                  <a:srgbClr val="E3A35A"/>
                </a:solidFill>
                <a:latin typeface="PingFang SC"/>
                <a:ea typeface="PingFang SC"/>
                <a:cs typeface="PingFang SC"/>
              </a:rPr>
              <a:t>本体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2423160"/>
            <a:ext cx="27432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900" b="1">
                <a:solidFill>
                  <a:srgbClr val="F2ECE1"/>
                </a:solidFill>
                <a:latin typeface="Songti SC"/>
                <a:ea typeface="Songti SC"/>
                <a:cs typeface="Songti SC"/>
              </a:rPr>
              <a:t>硬件销售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2880360"/>
            <a:ext cx="28346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 b="0">
                <a:solidFill>
                  <a:srgbClr val="BDB4A6"/>
                </a:solidFill>
                <a:latin typeface="PingFang SC"/>
                <a:ea typeface="PingFang SC"/>
                <a:cs typeface="PingFang SC"/>
              </a:rPr>
              <a:t>私人记忆盒子，软硬件一体交付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16552" y="1783080"/>
            <a:ext cx="3346704" cy="1600200"/>
          </a:xfrm>
          <a:prstGeom prst="roundRect">
            <a:avLst>
              <a:gd name="adj" fmla="val 8000"/>
            </a:avLst>
          </a:prstGeom>
          <a:solidFill>
            <a:srgbClr val="1C1915"/>
          </a:solidFill>
          <a:ln w="12700">
            <a:solidFill>
              <a:srgbClr val="302B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ounded Rectangle 9"/>
          <p:cNvSpPr/>
          <p:nvPr/>
        </p:nvSpPr>
        <p:spPr>
          <a:xfrm>
            <a:off x="4690872" y="1993392"/>
            <a:ext cx="1005078" cy="292608"/>
          </a:xfrm>
          <a:prstGeom prst="roundRect">
            <a:avLst>
              <a:gd name="adj" fmla="val 30000"/>
            </a:avLst>
          </a:prstGeom>
          <a:solidFill>
            <a:srgbClr val="2C251B"/>
          </a:solidFill>
          <a:ln w="9525">
            <a:solidFill>
              <a:srgbClr val="E3A3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4690872" y="1993392"/>
            <a:ext cx="1005078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100" b="0">
                <a:solidFill>
                  <a:srgbClr val="E3A35A"/>
                </a:solidFill>
                <a:latin typeface="PingFang SC"/>
                <a:ea typeface="PingFang SC"/>
                <a:cs typeface="PingFang SC"/>
              </a:rPr>
              <a:t>本体与分身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90872" y="2423160"/>
            <a:ext cx="27432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900" b="1">
                <a:solidFill>
                  <a:srgbClr val="F2ECE1"/>
                </a:solidFill>
                <a:latin typeface="Songti SC"/>
                <a:ea typeface="Songti SC"/>
                <a:cs typeface="Songti SC"/>
              </a:rPr>
              <a:t>持续订阅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90872" y="2880360"/>
            <a:ext cx="28346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 b="0">
                <a:solidFill>
                  <a:srgbClr val="BDB4A6"/>
                </a:solidFill>
                <a:latin typeface="PingFang SC"/>
                <a:ea typeface="PingFang SC"/>
                <a:cs typeface="PingFang SC"/>
              </a:rPr>
              <a:t>模型增强、资料整理、维护支持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64423" y="1783080"/>
            <a:ext cx="3346704" cy="1600200"/>
          </a:xfrm>
          <a:prstGeom prst="roundRect">
            <a:avLst>
              <a:gd name="adj" fmla="val 8000"/>
            </a:avLst>
          </a:prstGeom>
          <a:solidFill>
            <a:srgbClr val="1C1915"/>
          </a:solidFill>
          <a:ln w="12700">
            <a:solidFill>
              <a:srgbClr val="302B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8238744" y="1993392"/>
            <a:ext cx="577596" cy="292608"/>
          </a:xfrm>
          <a:prstGeom prst="roundRect">
            <a:avLst>
              <a:gd name="adj" fmla="val 30000"/>
            </a:avLst>
          </a:prstGeom>
          <a:solidFill>
            <a:srgbClr val="232825"/>
          </a:solidFill>
          <a:ln w="9525">
            <a:solidFill>
              <a:srgbClr val="82BB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8238744" y="1993392"/>
            <a:ext cx="577596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100" b="0">
                <a:solidFill>
                  <a:srgbClr val="82BBAD"/>
                </a:solidFill>
                <a:latin typeface="PingFang SC"/>
                <a:ea typeface="PingFang SC"/>
                <a:cs typeface="PingFang SC"/>
              </a:rPr>
              <a:t>分身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38744" y="2423160"/>
            <a:ext cx="27432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900" b="1">
                <a:solidFill>
                  <a:srgbClr val="F2ECE1"/>
                </a:solidFill>
                <a:latin typeface="Songti SC"/>
                <a:ea typeface="Songti SC"/>
                <a:cs typeface="Songti SC"/>
              </a:rPr>
              <a:t>咨询分成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38744" y="2880360"/>
            <a:ext cx="28346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 b="0">
                <a:solidFill>
                  <a:srgbClr val="BDB4A6"/>
                </a:solidFill>
                <a:latin typeface="PingFang SC"/>
                <a:ea typeface="PingFang SC"/>
                <a:cs typeface="PingFang SC"/>
              </a:rPr>
              <a:t>经知君交付与结算的收费咨询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36576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00" b="0">
                <a:solidFill>
                  <a:srgbClr val="7F776B"/>
                </a:solidFill>
                <a:latin typeface="PingFang SC"/>
                <a:ea typeface="PingFang SC"/>
                <a:cs typeface="PingFang SC"/>
              </a:rPr>
              <a:t>定价原则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68680" y="4005072"/>
            <a:ext cx="2514600" cy="1417320"/>
          </a:xfrm>
          <a:prstGeom prst="roundRect">
            <a:avLst>
              <a:gd name="adj" fmla="val 8000"/>
            </a:avLst>
          </a:prstGeom>
          <a:solidFill>
            <a:srgbClr val="1C1915"/>
          </a:solidFill>
          <a:ln w="12700">
            <a:solidFill>
              <a:srgbClr val="302B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1097280" y="4187952"/>
            <a:ext cx="2103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400" b="1">
                <a:solidFill>
                  <a:srgbClr val="F2ECE1"/>
                </a:solidFill>
                <a:latin typeface="PingFang SC"/>
                <a:ea typeface="PingFang SC"/>
                <a:cs typeface="PingFang SC"/>
              </a:rPr>
              <a:t>内容不流经我们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" y="4572000"/>
            <a:ext cx="210312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200" b="0">
                <a:solidFill>
                  <a:srgbClr val="BDB4A6"/>
                </a:solidFill>
                <a:latin typeface="PingFang SC"/>
                <a:ea typeface="PingFang SC"/>
                <a:cs typeface="PingFang SC"/>
              </a:rPr>
              <a:t>订阅、连接与结算服务只处理职责所需的信息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529584" y="4005072"/>
            <a:ext cx="2514600" cy="1417320"/>
          </a:xfrm>
          <a:prstGeom prst="roundRect">
            <a:avLst>
              <a:gd name="adj" fmla="val 8000"/>
            </a:avLst>
          </a:prstGeom>
          <a:solidFill>
            <a:srgbClr val="1C1915"/>
          </a:solidFill>
          <a:ln w="12700">
            <a:solidFill>
              <a:srgbClr val="302B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3758184" y="4187952"/>
            <a:ext cx="2103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400" b="1">
                <a:solidFill>
                  <a:srgbClr val="F2ECE1"/>
                </a:solidFill>
                <a:latin typeface="PingFang SC"/>
                <a:ea typeface="PingFang SC"/>
                <a:cs typeface="PingFang SC"/>
              </a:rPr>
              <a:t>停付后仍能打开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758184" y="4572000"/>
            <a:ext cx="210312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200" b="0">
                <a:solidFill>
                  <a:srgbClr val="BDB4A6"/>
                </a:solidFill>
                <a:latin typeface="PingFang SC"/>
                <a:ea typeface="PingFang SC"/>
                <a:cs typeface="PingFang SC"/>
              </a:rPr>
              <a:t>本体与对话归本人，可查看、导出、迁移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90488" y="4005072"/>
            <a:ext cx="2514600" cy="1417320"/>
          </a:xfrm>
          <a:prstGeom prst="roundRect">
            <a:avLst>
              <a:gd name="adj" fmla="val 8000"/>
            </a:avLst>
          </a:prstGeom>
          <a:solidFill>
            <a:srgbClr val="1C1915"/>
          </a:solidFill>
          <a:ln w="12700">
            <a:solidFill>
              <a:srgbClr val="302B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6419088" y="4187952"/>
            <a:ext cx="2103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400" b="1">
                <a:solidFill>
                  <a:srgbClr val="F2ECE1"/>
                </a:solidFill>
                <a:latin typeface="PingFang SC"/>
                <a:ea typeface="PingFang SC"/>
                <a:cs typeface="PingFang SC"/>
              </a:rPr>
              <a:t>价值在判断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19088" y="4572000"/>
            <a:ext cx="210312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200" b="0">
                <a:solidFill>
                  <a:srgbClr val="BDB4A6"/>
                </a:solidFill>
                <a:latin typeface="PingFang SC"/>
                <a:ea typeface="PingFang SC"/>
                <a:cs typeface="PingFang SC"/>
              </a:rPr>
              <a:t>不在功能数量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851392" y="4005072"/>
            <a:ext cx="2514600" cy="1417320"/>
          </a:xfrm>
          <a:prstGeom prst="roundRect">
            <a:avLst>
              <a:gd name="adj" fmla="val 8000"/>
            </a:avLst>
          </a:prstGeom>
          <a:solidFill>
            <a:srgbClr val="1C1915"/>
          </a:solidFill>
          <a:ln w="12700">
            <a:solidFill>
              <a:srgbClr val="302B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9079992" y="4187952"/>
            <a:ext cx="2103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400" b="1">
                <a:solidFill>
                  <a:srgbClr val="F2ECE1"/>
                </a:solidFill>
                <a:latin typeface="PingFang SC"/>
                <a:ea typeface="PingFang SC"/>
                <a:cs typeface="PingFang SC"/>
              </a:rPr>
              <a:t>不按使用频次计价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79992" y="4572000"/>
            <a:ext cx="210312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200" b="0">
                <a:solidFill>
                  <a:srgbClr val="BDB4A6"/>
                </a:solidFill>
                <a:latin typeface="PingFang SC"/>
                <a:ea typeface="PingFang SC"/>
                <a:cs typeface="PingFang SC"/>
              </a:rPr>
              <a:t>不让「多聊」成为收入来源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" y="5715000"/>
            <a:ext cx="1045433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00" b="0">
                <a:solidFill>
                  <a:srgbClr val="7F776B"/>
                </a:solidFill>
                <a:latin typeface="PingFang SC"/>
                <a:ea typeface="PingFang SC"/>
                <a:cs typeface="PingFang SC"/>
              </a:rPr>
              <a:t>价格、订阅权益和分成比例将根据首批用户的使用和交付成本确定；本册不使用未经验证的收入预测。</a:t>
            </a:r>
          </a:p>
        </p:txBody>
      </p:sp>
    </p:spTree>
  </p:cSld>
  <p:clrMapOvr>
    <a:masterClrMapping/>
  </p:clrMapOvr>
  <p:transition spd="med">
    <p:fade/>
  </p:transition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0F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502920"/>
            <a:ext cx="10454335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00" b="0">
                <a:solidFill>
                  <a:srgbClr val="E3A35A"/>
                </a:solidFill>
                <a:latin typeface="PingFang SC"/>
                <a:ea typeface="PingFang SC"/>
                <a:cs typeface="PingFang SC"/>
              </a:rPr>
              <a:t>验证指标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86868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00" b="0">
                <a:solidFill>
                  <a:srgbClr val="7F776B"/>
                </a:solidFill>
                <a:latin typeface="PingFang SC"/>
                <a:ea typeface="PingFang SC"/>
                <a:cs typeface="PingFang SC"/>
              </a:rPr>
              <a:t>北极星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188720"/>
            <a:ext cx="1045433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3400" b="1">
                <a:solidFill>
                  <a:srgbClr val="F4CD96"/>
                </a:solidFill>
                <a:latin typeface="Songti SC"/>
                <a:ea typeface="Songti SC"/>
                <a:cs typeface="Songti SC"/>
              </a:rPr>
              <a:t>每月形成可以回访的判断的次数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2148840"/>
            <a:ext cx="10454335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  <a:spcAft>
                <a:spcPts val="0"/>
              </a:spcAft>
            </a:pPr>
            <a:r>
              <a:rPr sz="1500" b="0">
                <a:solidFill>
                  <a:srgbClr val="BDB4A6"/>
                </a:solidFill>
                <a:latin typeface="PingFang SC"/>
                <a:ea typeface="PingFang SC"/>
                <a:cs typeface="PingFang SC"/>
              </a:rPr>
              <a:t>不用使用时长或对话次数。情绪价值无法在不读取内容的前提下度量，硬套代理指标会诱导产品制造依赖——这与「把人推回人」相冲突。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68680" y="3611880"/>
            <a:ext cx="603503" cy="329184"/>
          </a:xfrm>
          <a:prstGeom prst="roundRect">
            <a:avLst>
              <a:gd name="adj" fmla="val 30000"/>
            </a:avLst>
          </a:prstGeom>
          <a:solidFill>
            <a:srgbClr val="2C251B"/>
          </a:solidFill>
          <a:ln w="9525">
            <a:solidFill>
              <a:srgbClr val="E3A3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68680" y="3611880"/>
            <a:ext cx="60350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200" b="0">
                <a:solidFill>
                  <a:srgbClr val="E3A35A"/>
                </a:solidFill>
                <a:latin typeface="PingFang SC"/>
                <a:ea typeface="PingFang SC"/>
                <a:cs typeface="PingFang SC"/>
              </a:rPr>
              <a:t>本体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31720" y="3429000"/>
            <a:ext cx="896112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500" b="0">
                <a:solidFill>
                  <a:srgbClr val="BDB4A6"/>
                </a:solidFill>
                <a:latin typeface="PingFang SC"/>
                <a:ea typeface="PingFang SC"/>
                <a:cs typeface="PingFang SC"/>
              </a:rPr>
              <a:t>用户是否愿意说真话；判断回访是否被认为有价值；三个月后是否仍在使用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868680" y="4178808"/>
            <a:ext cx="10454335" cy="0"/>
          </a:xfrm>
          <a:prstGeom prst="line">
            <a:avLst/>
          </a:prstGeom>
          <a:ln w="9525">
            <a:solidFill>
              <a:srgbClr val="302B2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868680" y="4389120"/>
            <a:ext cx="603503" cy="329184"/>
          </a:xfrm>
          <a:prstGeom prst="roundRect">
            <a:avLst>
              <a:gd name="adj" fmla="val 30000"/>
            </a:avLst>
          </a:prstGeom>
          <a:solidFill>
            <a:srgbClr val="232825"/>
          </a:solidFill>
          <a:ln w="9525">
            <a:solidFill>
              <a:srgbClr val="82BB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68680" y="4389120"/>
            <a:ext cx="60350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200" b="0">
                <a:solidFill>
                  <a:srgbClr val="82BBAD"/>
                </a:solidFill>
                <a:latin typeface="PingFang SC"/>
                <a:ea typeface="PingFang SC"/>
                <a:cs typeface="PingFang SC"/>
              </a:rPr>
              <a:t>分身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31720" y="4206240"/>
            <a:ext cx="896112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500" b="0">
                <a:solidFill>
                  <a:srgbClr val="BDB4A6"/>
                </a:solidFill>
                <a:latin typeface="PingFang SC"/>
                <a:ea typeface="PingFang SC"/>
                <a:cs typeface="PingFang SC"/>
              </a:rPr>
              <a:t>发布的内容是否得到本人认可；来访者是否得到帮助、是否再次访问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868680" y="4956048"/>
            <a:ext cx="10454335" cy="0"/>
          </a:xfrm>
          <a:prstGeom prst="line">
            <a:avLst/>
          </a:prstGeom>
          <a:ln w="9525">
            <a:solidFill>
              <a:srgbClr val="302B2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868680" y="5166360"/>
            <a:ext cx="603503" cy="329184"/>
          </a:xfrm>
          <a:prstGeom prst="roundRect">
            <a:avLst>
              <a:gd name="adj" fmla="val 30000"/>
            </a:avLst>
          </a:prstGeom>
          <a:solidFill>
            <a:srgbClr val="1C1915"/>
          </a:solidFill>
          <a:ln w="9525">
            <a:solidFill>
              <a:srgbClr val="7F77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868680" y="5166360"/>
            <a:ext cx="60350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200" b="0">
                <a:solidFill>
                  <a:srgbClr val="7F776B"/>
                </a:solidFill>
                <a:latin typeface="PingFang SC"/>
                <a:ea typeface="PingFang SC"/>
                <a:cs typeface="PingFang SC"/>
              </a:rPr>
              <a:t>经营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31720" y="4983480"/>
            <a:ext cx="896112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500" b="0">
                <a:solidFill>
                  <a:srgbClr val="BDB4A6"/>
                </a:solidFill>
                <a:latin typeface="PingFang SC"/>
                <a:ea typeface="PingFang SC"/>
                <a:cs typeface="PingFang SC"/>
              </a:rPr>
              <a:t>盒子的交付与服务成本；整机与订阅的付费意愿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68680" y="5733288"/>
            <a:ext cx="10454335" cy="0"/>
          </a:xfrm>
          <a:prstGeom prst="line">
            <a:avLst/>
          </a:prstGeom>
          <a:ln w="9525">
            <a:solidFill>
              <a:srgbClr val="302B2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ransition spd="med">
    <p:fade/>
  </p:transition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0F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502920"/>
            <a:ext cx="10454335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00" b="0">
                <a:solidFill>
                  <a:srgbClr val="E3A35A"/>
                </a:solidFill>
                <a:latin typeface="PingFang SC"/>
                <a:ea typeface="PingFang SC"/>
                <a:cs typeface="PingFang SC"/>
              </a:rPr>
              <a:t>增长路径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822960"/>
            <a:ext cx="10454335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3600" b="1">
                <a:solidFill>
                  <a:srgbClr val="F2ECE1"/>
                </a:solidFill>
                <a:latin typeface="Songti SC"/>
                <a:ea typeface="Songti SC"/>
                <a:cs typeface="Songti SC"/>
              </a:rPr>
              <a:t>在真实处境中使用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600200"/>
            <a:ext cx="10454335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  <a:spcAft>
                <a:spcPts val="0"/>
              </a:spcAft>
            </a:pPr>
            <a:r>
              <a:rPr sz="1700" b="0">
                <a:solidFill>
                  <a:srgbClr val="BDB4A6"/>
                </a:solidFill>
                <a:latin typeface="PingFang SC"/>
                <a:ea typeface="PingFang SC"/>
                <a:cs typeface="PingFang SC"/>
              </a:rPr>
              <a:t>通过半人马 AI 学院、经营者社群和顾问社群，邀请首批用户。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8680" y="2697480"/>
            <a:ext cx="2240280" cy="1234440"/>
          </a:xfrm>
          <a:prstGeom prst="roundRect">
            <a:avLst>
              <a:gd name="adj" fmla="val 8000"/>
            </a:avLst>
          </a:prstGeom>
          <a:solidFill>
            <a:srgbClr val="1C1915"/>
          </a:solidFill>
          <a:ln w="12700">
            <a:solidFill>
              <a:srgbClr val="E3A3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68680" y="2852928"/>
            <a:ext cx="22402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900" b="1">
                <a:solidFill>
                  <a:srgbClr val="F2ECE1"/>
                </a:solidFill>
                <a:latin typeface="Songti SC"/>
                <a:ea typeface="Songti SC"/>
                <a:cs typeface="Songti SC"/>
              </a:rPr>
              <a:t>成为主人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337560"/>
            <a:ext cx="2240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200" b="0">
                <a:solidFill>
                  <a:srgbClr val="7F776B"/>
                </a:solidFill>
                <a:latin typeface="PingFang SC"/>
                <a:ea typeface="PingFang SC"/>
                <a:cs typeface="PingFang SC"/>
              </a:rPr>
              <a:t>经营者 / 顾问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154680" y="3310128"/>
            <a:ext cx="384048" cy="0"/>
          </a:xfrm>
          <a:prstGeom prst="line">
            <a:avLst/>
          </a:prstGeom>
          <a:ln w="19050">
            <a:solidFill>
              <a:srgbClr val="E3A3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3584448" y="2697480"/>
            <a:ext cx="2240280" cy="1234440"/>
          </a:xfrm>
          <a:prstGeom prst="roundRect">
            <a:avLst>
              <a:gd name="adj" fmla="val 8000"/>
            </a:avLst>
          </a:prstGeom>
          <a:solidFill>
            <a:srgbClr val="1C1915"/>
          </a:solidFill>
          <a:ln w="12700">
            <a:solidFill>
              <a:srgbClr val="E3A3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3584448" y="2852928"/>
            <a:ext cx="22402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900" b="1">
                <a:solidFill>
                  <a:srgbClr val="F2ECE1"/>
                </a:solidFill>
                <a:latin typeface="Songti SC"/>
                <a:ea typeface="Songti SC"/>
                <a:cs typeface="Songti SC"/>
              </a:rPr>
              <a:t>持续使用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84448" y="3337560"/>
            <a:ext cx="2240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200" b="0">
                <a:solidFill>
                  <a:srgbClr val="7F776B"/>
                </a:solidFill>
                <a:latin typeface="PingFang SC"/>
                <a:ea typeface="PingFang SC"/>
                <a:cs typeface="PingFang SC"/>
              </a:rPr>
              <a:t>本体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5870448" y="3310128"/>
            <a:ext cx="384048" cy="0"/>
          </a:xfrm>
          <a:prstGeom prst="line">
            <a:avLst/>
          </a:prstGeom>
          <a:ln w="19050">
            <a:solidFill>
              <a:srgbClr val="82BBAD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6300216" y="2697480"/>
            <a:ext cx="2240280" cy="1234440"/>
          </a:xfrm>
          <a:prstGeom prst="roundRect">
            <a:avLst>
              <a:gd name="adj" fmla="val 8000"/>
            </a:avLst>
          </a:prstGeom>
          <a:solidFill>
            <a:srgbClr val="1C1915"/>
          </a:solidFill>
          <a:ln w="12700">
            <a:solidFill>
              <a:srgbClr val="82BB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300216" y="2852928"/>
            <a:ext cx="22402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900" b="1">
                <a:solidFill>
                  <a:srgbClr val="F2ECE1"/>
                </a:solidFill>
                <a:latin typeface="Songti SC"/>
                <a:ea typeface="Songti SC"/>
                <a:cs typeface="Songti SC"/>
              </a:rPr>
              <a:t>开放分身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0216" y="3337560"/>
            <a:ext cx="2240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200" b="0">
                <a:solidFill>
                  <a:srgbClr val="7F776B"/>
                </a:solidFill>
                <a:latin typeface="PingFang SC"/>
                <a:ea typeface="PingFang SC"/>
                <a:cs typeface="PingFang SC"/>
              </a:rPr>
              <a:t>顾问邀请客户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8586216" y="3310128"/>
            <a:ext cx="384047" cy="0"/>
          </a:xfrm>
          <a:prstGeom prst="line">
            <a:avLst/>
          </a:prstGeom>
          <a:ln w="19050">
            <a:solidFill>
              <a:srgbClr val="82BBAD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9015984" y="2697480"/>
            <a:ext cx="2240280" cy="1234440"/>
          </a:xfrm>
          <a:prstGeom prst="roundRect">
            <a:avLst>
              <a:gd name="adj" fmla="val 8000"/>
            </a:avLst>
          </a:prstGeom>
          <a:solidFill>
            <a:srgbClr val="1C1915"/>
          </a:solidFill>
          <a:ln w="12700">
            <a:solidFill>
              <a:srgbClr val="82BB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015984" y="2852928"/>
            <a:ext cx="22402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900" b="1">
                <a:solidFill>
                  <a:srgbClr val="F2ECE1"/>
                </a:solidFill>
                <a:latin typeface="Songti SC"/>
                <a:ea typeface="Songti SC"/>
                <a:cs typeface="Songti SC"/>
              </a:rPr>
              <a:t>新主人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15984" y="3337560"/>
            <a:ext cx="2240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200" b="0">
                <a:solidFill>
                  <a:srgbClr val="7F776B"/>
                </a:solidFill>
                <a:latin typeface="PingFang SC"/>
                <a:ea typeface="PingFang SC"/>
                <a:cs typeface="PingFang SC"/>
              </a:rPr>
              <a:t>客户中出现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10136124" y="3950208"/>
            <a:ext cx="0" cy="484632"/>
          </a:xfrm>
          <a:prstGeom prst="line">
            <a:avLst/>
          </a:prstGeom>
          <a:ln w="15875">
            <a:solidFill>
              <a:srgbClr val="82BBAD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H="1">
            <a:off x="1988819" y="4434840"/>
            <a:ext cx="8147305" cy="0"/>
          </a:xfrm>
          <a:prstGeom prst="line">
            <a:avLst/>
          </a:prstGeom>
          <a:ln w="15875">
            <a:solidFill>
              <a:srgbClr val="82BBAD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V="1">
            <a:off x="1988819" y="3977639"/>
            <a:ext cx="0" cy="457201"/>
          </a:xfrm>
          <a:prstGeom prst="line">
            <a:avLst/>
          </a:prstGeom>
          <a:ln w="15875">
            <a:solidFill>
              <a:srgbClr val="82BBAD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ectangle 22"/>
          <p:cNvSpPr/>
          <p:nvPr/>
        </p:nvSpPr>
        <p:spPr>
          <a:xfrm>
            <a:off x="868680" y="5065776"/>
            <a:ext cx="36576" cy="475488"/>
          </a:xfrm>
          <a:prstGeom prst="rect">
            <a:avLst/>
          </a:prstGeom>
          <a:solidFill>
            <a:srgbClr val="7F77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1069848" y="5029200"/>
            <a:ext cx="10253167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400" b="0">
                <a:solidFill>
                  <a:srgbClr val="BDB4A6"/>
                </a:solidFill>
                <a:latin typeface="PingFang SC"/>
                <a:ea typeface="PingFang SC"/>
                <a:cs typeface="PingFang SC"/>
              </a:rPr>
              <a:t>「顾问邀请客户，再产生新的盒子主人」是一个需要通过实际使用验证的增长假设。</a:t>
            </a:r>
          </a:p>
        </p:txBody>
      </p:sp>
    </p:spTree>
  </p:cSld>
  <p:clrMapOvr>
    <a:masterClrMapping/>
  </p:clrMapOvr>
  <p:transition spd="med">
    <p:fade/>
  </p:transition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0F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502920"/>
            <a:ext cx="10454335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00" b="0">
                <a:solidFill>
                  <a:srgbClr val="E3A35A"/>
                </a:solidFill>
                <a:latin typeface="PingFang SC"/>
                <a:ea typeface="PingFang SC"/>
                <a:cs typeface="PingFang SC"/>
              </a:rPr>
              <a:t>产品演进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822960"/>
            <a:ext cx="10454335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3600" b="1">
                <a:solidFill>
                  <a:srgbClr val="F2ECE1"/>
                </a:solidFill>
                <a:latin typeface="Songti SC"/>
                <a:ea typeface="Songti SC"/>
                <a:cs typeface="Songti SC"/>
              </a:rPr>
              <a:t>从一个人的上下文出发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868680" y="2331720"/>
            <a:ext cx="10454335" cy="0"/>
          </a:xfrm>
          <a:prstGeom prst="line">
            <a:avLst/>
          </a:prstGeom>
          <a:ln w="25400">
            <a:solidFill>
              <a:srgbClr val="302B2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Oval 4"/>
          <p:cNvSpPr/>
          <p:nvPr/>
        </p:nvSpPr>
        <p:spPr>
          <a:xfrm>
            <a:off x="886967" y="2212848"/>
            <a:ext cx="237744" cy="237744"/>
          </a:xfrm>
          <a:prstGeom prst="ellipse">
            <a:avLst/>
          </a:prstGeom>
          <a:solidFill>
            <a:srgbClr val="100F0D"/>
          </a:solidFill>
          <a:ln w="28575">
            <a:solidFill>
              <a:srgbClr val="E3A3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ounded Rectangle 5"/>
          <p:cNvSpPr/>
          <p:nvPr/>
        </p:nvSpPr>
        <p:spPr>
          <a:xfrm>
            <a:off x="868680" y="2697480"/>
            <a:ext cx="2450592" cy="2468880"/>
          </a:xfrm>
          <a:prstGeom prst="roundRect">
            <a:avLst>
              <a:gd name="adj" fmla="val 8000"/>
            </a:avLst>
          </a:prstGeom>
          <a:solidFill>
            <a:srgbClr val="1C1915"/>
          </a:solidFill>
          <a:ln w="12700">
            <a:solidFill>
              <a:srgbClr val="302B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143000" y="2926080"/>
            <a:ext cx="199339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2000" b="1">
                <a:solidFill>
                  <a:srgbClr val="E3A35A"/>
                </a:solidFill>
                <a:latin typeface="Songti SC"/>
                <a:ea typeface="Songti SC"/>
                <a:cs typeface="Songti SC"/>
              </a:rPr>
              <a:t>个人本体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3474720"/>
            <a:ext cx="1947672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300" b="0">
                <a:solidFill>
                  <a:srgbClr val="BDB4A6"/>
                </a:solidFill>
                <a:latin typeface="PingFang SC"/>
                <a:ea typeface="PingFang SC"/>
                <a:cs typeface="PingFang SC"/>
              </a:rPr>
              <a:t>对话形成本体、当下商量、判断回访、内观、边界与危机处理</a:t>
            </a:r>
          </a:p>
        </p:txBody>
      </p:sp>
      <p:sp>
        <p:nvSpPr>
          <p:cNvPr id="9" name="Oval 8"/>
          <p:cNvSpPr/>
          <p:nvPr/>
        </p:nvSpPr>
        <p:spPr>
          <a:xfrm>
            <a:off x="3547872" y="2212848"/>
            <a:ext cx="237744" cy="237744"/>
          </a:xfrm>
          <a:prstGeom prst="ellipse">
            <a:avLst/>
          </a:prstGeom>
          <a:solidFill>
            <a:srgbClr val="100F0D"/>
          </a:solidFill>
          <a:ln w="28575">
            <a:solidFill>
              <a:srgbClr val="82BB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ounded Rectangle 9"/>
          <p:cNvSpPr/>
          <p:nvPr/>
        </p:nvSpPr>
        <p:spPr>
          <a:xfrm>
            <a:off x="3529584" y="2697480"/>
            <a:ext cx="2450592" cy="2468880"/>
          </a:xfrm>
          <a:prstGeom prst="roundRect">
            <a:avLst>
              <a:gd name="adj" fmla="val 8000"/>
            </a:avLst>
          </a:prstGeom>
          <a:solidFill>
            <a:srgbClr val="1C1915"/>
          </a:solidFill>
          <a:ln w="12700">
            <a:solidFill>
              <a:srgbClr val="302B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3803904" y="2926080"/>
            <a:ext cx="199339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2000" b="1">
                <a:solidFill>
                  <a:srgbClr val="82BBAD"/>
                </a:solidFill>
                <a:latin typeface="Songti SC"/>
                <a:ea typeface="Songti SC"/>
                <a:cs typeface="Songti SC"/>
              </a:rPr>
              <a:t>个人分身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03904" y="3474720"/>
            <a:ext cx="1947672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300" b="0">
                <a:solidFill>
                  <a:srgbClr val="BDB4A6"/>
                </a:solidFill>
                <a:latin typeface="PingFang SC"/>
                <a:ea typeface="PingFang SC"/>
                <a:cs typeface="PingFang SC"/>
              </a:rPr>
              <a:t>单向阀门、多个分身、授权访问、明确 AI 身份、案例脱敏、本人接续</a:t>
            </a:r>
          </a:p>
        </p:txBody>
      </p:sp>
      <p:sp>
        <p:nvSpPr>
          <p:cNvPr id="13" name="Oval 12"/>
          <p:cNvSpPr/>
          <p:nvPr/>
        </p:nvSpPr>
        <p:spPr>
          <a:xfrm>
            <a:off x="6208776" y="2212848"/>
            <a:ext cx="237744" cy="237744"/>
          </a:xfrm>
          <a:prstGeom prst="ellipse">
            <a:avLst/>
          </a:prstGeom>
          <a:solidFill>
            <a:srgbClr val="100F0D"/>
          </a:solidFill>
          <a:ln w="28575">
            <a:solidFill>
              <a:srgbClr val="7F77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ounded Rectangle 13"/>
          <p:cNvSpPr/>
          <p:nvPr/>
        </p:nvSpPr>
        <p:spPr>
          <a:xfrm>
            <a:off x="6190488" y="2697480"/>
            <a:ext cx="2450592" cy="2468880"/>
          </a:xfrm>
          <a:prstGeom prst="roundRect">
            <a:avLst>
              <a:gd name="adj" fmla="val 8000"/>
            </a:avLst>
          </a:prstGeom>
          <a:solidFill>
            <a:srgbClr val="1C1915"/>
          </a:solidFill>
          <a:ln w="12700">
            <a:solidFill>
              <a:srgbClr val="302B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6464808" y="2926080"/>
            <a:ext cx="199339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2000" b="1">
                <a:solidFill>
                  <a:srgbClr val="F2ECE1"/>
                </a:solidFill>
                <a:latin typeface="Songti SC"/>
                <a:ea typeface="Songti SC"/>
                <a:cs typeface="Songti SC"/>
              </a:rPr>
              <a:t>商业闭环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64808" y="3474720"/>
            <a:ext cx="1947672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300" b="0">
                <a:solidFill>
                  <a:srgbClr val="BDB4A6"/>
                </a:solidFill>
                <a:latin typeface="PingFang SC"/>
                <a:ea typeface="PingFang SC"/>
                <a:cs typeface="PingFang SC"/>
              </a:rPr>
              <a:t>整机、订阅与收费咨询的权益、交付和结算</a:t>
            </a:r>
          </a:p>
        </p:txBody>
      </p:sp>
      <p:sp>
        <p:nvSpPr>
          <p:cNvPr id="17" name="Oval 16"/>
          <p:cNvSpPr/>
          <p:nvPr/>
        </p:nvSpPr>
        <p:spPr>
          <a:xfrm>
            <a:off x="8869680" y="2212848"/>
            <a:ext cx="237744" cy="237744"/>
          </a:xfrm>
          <a:prstGeom prst="ellipse">
            <a:avLst/>
          </a:prstGeom>
          <a:solidFill>
            <a:srgbClr val="100F0D"/>
          </a:solidFill>
          <a:ln w="28575">
            <a:solidFill>
              <a:srgbClr val="7F77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ounded Rectangle 17"/>
          <p:cNvSpPr/>
          <p:nvPr/>
        </p:nvSpPr>
        <p:spPr>
          <a:xfrm>
            <a:off x="8851392" y="2697480"/>
            <a:ext cx="2450592" cy="2468880"/>
          </a:xfrm>
          <a:prstGeom prst="roundRect">
            <a:avLst>
              <a:gd name="adj" fmla="val 8000"/>
            </a:avLst>
          </a:prstGeom>
          <a:solidFill>
            <a:srgbClr val="1C1915"/>
          </a:solidFill>
          <a:ln w="12700">
            <a:solidFill>
              <a:srgbClr val="302B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125712" y="2926080"/>
            <a:ext cx="199339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2000" b="1">
                <a:solidFill>
                  <a:srgbClr val="F2ECE1"/>
                </a:solidFill>
                <a:latin typeface="Songti SC"/>
                <a:ea typeface="Songti SC"/>
                <a:cs typeface="Songti SC"/>
              </a:rPr>
              <a:t>长期上下文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25712" y="3474720"/>
            <a:ext cx="1947672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300" b="0">
                <a:solidFill>
                  <a:srgbClr val="BDB4A6"/>
                </a:solidFill>
                <a:latin typeface="PingFang SC"/>
                <a:ea typeface="PingFang SC"/>
                <a:cs typeface="PingFang SC"/>
              </a:rPr>
              <a:t>接入录音设备，降低记录经历的成本；涉及他人的录音须先解决知情同意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5577840"/>
            <a:ext cx="1045433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00" b="0">
                <a:solidFill>
                  <a:srgbClr val="7F776B"/>
                </a:solidFill>
                <a:latin typeface="PingFang SC"/>
                <a:ea typeface="PingFang SC"/>
                <a:cs typeface="PingFang SC"/>
              </a:rPr>
              <a:t>本体与分身都是核心；先本体、分身紧跟是交付顺序。以上是演进规划，整机本地运行、多个分身、跨网络授权和迁移等能力，以实际版本验收为准。</a:t>
            </a:r>
          </a:p>
        </p:txBody>
      </p:sp>
    </p:spTree>
  </p:cSld>
  <p:clrMapOvr>
    <a:masterClrMapping/>
  </p:clrMapOvr>
  <p:transition spd="med">
    <p:fade/>
  </p:transition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0F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502920"/>
            <a:ext cx="10454335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00" b="0">
                <a:solidFill>
                  <a:srgbClr val="E3A35A"/>
                </a:solidFill>
                <a:latin typeface="PingFang SC"/>
                <a:ea typeface="PingFang SC"/>
                <a:cs typeface="PingFang SC"/>
              </a:rPr>
              <a:t>风险与应对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822960"/>
            <a:ext cx="10454335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3600" b="1">
                <a:solidFill>
                  <a:srgbClr val="F2ECE1"/>
                </a:solidFill>
                <a:latin typeface="Songti SC"/>
                <a:ea typeface="Songti SC"/>
                <a:cs typeface="Songti SC"/>
              </a:rPr>
              <a:t>先找到「什么不能出去」的那条线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3271" y="1783080"/>
            <a:ext cx="1828799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F2ECE1"/>
                </a:solidFill>
                <a:latin typeface="PingFang SC"/>
                <a:ea typeface="PingFang SC"/>
                <a:cs typeface="PingFang SC"/>
              </a:rPr>
              <a:t>情绪安全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36392" y="1783080"/>
            <a:ext cx="8074152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BDB4A6"/>
                </a:solidFill>
                <a:latin typeface="PingFang SC"/>
                <a:ea typeface="PingFang SC"/>
                <a:cs typeface="PingFang SC"/>
              </a:rPr>
              <a:t>危机对话不进入记忆；求助渠道上线前逐条核实；负面情绪不作为主动提起的优先依据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868680" y="2496312"/>
            <a:ext cx="10451592" cy="0"/>
          </a:xfrm>
          <a:prstGeom prst="line">
            <a:avLst/>
          </a:prstGeom>
          <a:ln w="9525">
            <a:solidFill>
              <a:srgbClr val="302B2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1033271" y="2496312"/>
            <a:ext cx="1828799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F2ECE1"/>
                </a:solidFill>
                <a:latin typeface="PingFang SC"/>
                <a:ea typeface="PingFang SC"/>
                <a:cs typeface="PingFang SC"/>
              </a:rPr>
              <a:t>用户依赖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36392" y="2496312"/>
            <a:ext cx="8074152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BDB4A6"/>
                </a:solidFill>
                <a:latin typeface="PingFang SC"/>
                <a:ea typeface="PingFang SC"/>
                <a:cs typeface="PingFang SC"/>
              </a:rPr>
              <a:t>「把人推回人」作为不可关闭的原则；北极星不按时长计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868680" y="3209544"/>
            <a:ext cx="10451592" cy="0"/>
          </a:xfrm>
          <a:prstGeom prst="line">
            <a:avLst/>
          </a:prstGeom>
          <a:ln w="9525">
            <a:solidFill>
              <a:srgbClr val="302B2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1033271" y="3209544"/>
            <a:ext cx="1828799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F2ECE1"/>
                </a:solidFill>
                <a:latin typeface="PingFang SC"/>
                <a:ea typeface="PingFang SC"/>
                <a:cs typeface="PingFang SC"/>
              </a:rPr>
              <a:t>分身隐私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36392" y="3209544"/>
            <a:ext cx="8074152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BDB4A6"/>
                </a:solidFill>
                <a:latin typeface="PingFang SC"/>
                <a:ea typeface="PingFang SC"/>
                <a:cs typeface="PingFang SC"/>
              </a:rPr>
              <a:t>单向阀门；内观分区永不可发布；案例脱敏与本人确认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868680" y="3922776"/>
            <a:ext cx="10451592" cy="0"/>
          </a:xfrm>
          <a:prstGeom prst="line">
            <a:avLst/>
          </a:prstGeom>
          <a:ln w="9525">
            <a:solidFill>
              <a:srgbClr val="302B2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1033271" y="3922776"/>
            <a:ext cx="1828799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F2ECE1"/>
                </a:solidFill>
                <a:latin typeface="PingFang SC"/>
                <a:ea typeface="PingFang SC"/>
                <a:cs typeface="PingFang SC"/>
              </a:rPr>
              <a:t>分身越界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36392" y="3922776"/>
            <a:ext cx="8074152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BDB4A6"/>
                </a:solidFill>
                <a:latin typeface="PingFang SC"/>
                <a:ea typeface="PingFang SC"/>
                <a:cs typeface="PingFang SC"/>
              </a:rPr>
              <a:t>明确自称 AI，不替本人承诺；超出范围的问题交给本人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68680" y="4636008"/>
            <a:ext cx="10451592" cy="0"/>
          </a:xfrm>
          <a:prstGeom prst="line">
            <a:avLst/>
          </a:prstGeom>
          <a:ln w="9525">
            <a:solidFill>
              <a:srgbClr val="302B2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33271" y="4636008"/>
            <a:ext cx="1828799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F2ECE1"/>
                </a:solidFill>
                <a:latin typeface="PingFang SC"/>
                <a:ea typeface="PingFang SC"/>
                <a:cs typeface="PingFang SC"/>
              </a:rPr>
              <a:t>推送外泄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36392" y="4636008"/>
            <a:ext cx="8074152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BDB4A6"/>
                </a:solidFill>
                <a:latin typeface="PingFang SC"/>
                <a:ea typeface="PingFang SC"/>
                <a:cs typeface="PingFang SC"/>
              </a:rPr>
              <a:t>心里的事不进任何推送；判断回访只在本人标为「私人」的渠道带内容，其他渠道只提醒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868680" y="5349240"/>
            <a:ext cx="10451592" cy="0"/>
          </a:xfrm>
          <a:prstGeom prst="line">
            <a:avLst/>
          </a:prstGeom>
          <a:ln w="9525">
            <a:solidFill>
              <a:srgbClr val="302B2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1033271" y="5349240"/>
            <a:ext cx="1828799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F2ECE1"/>
                </a:solidFill>
                <a:latin typeface="PingFang SC"/>
                <a:ea typeface="PingFang SC"/>
                <a:cs typeface="PingFang SC"/>
              </a:rPr>
              <a:t>技术上游集中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36392" y="5349240"/>
            <a:ext cx="8074152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BDB4A6"/>
                </a:solidFill>
                <a:latin typeface="PingFang SC"/>
                <a:ea typeface="PingFang SC"/>
                <a:cs typeface="PingFang SC"/>
              </a:rPr>
              <a:t>底座与万象共用开源平台，知君只承担判断、照见与边界三层，保持可替换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868680" y="6062472"/>
            <a:ext cx="10451592" cy="0"/>
          </a:xfrm>
          <a:prstGeom prst="line">
            <a:avLst/>
          </a:prstGeom>
          <a:ln w="9525">
            <a:solidFill>
              <a:srgbClr val="302B2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ransition spd="med">
    <p:fade/>
  </p:transition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0F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502920"/>
            <a:ext cx="10454335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00" b="0">
                <a:solidFill>
                  <a:srgbClr val="E3A35A"/>
                </a:solidFill>
                <a:latin typeface="PingFang SC"/>
                <a:ea typeface="PingFang SC"/>
                <a:cs typeface="PingFang SC"/>
              </a:rPr>
              <a:t>团队与合作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822960"/>
            <a:ext cx="10454335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3600" b="1">
                <a:solidFill>
                  <a:srgbClr val="F2ECE1"/>
                </a:solidFill>
                <a:latin typeface="Songti SC"/>
                <a:ea typeface="Songti SC"/>
                <a:cs typeface="Songti SC"/>
              </a:rPr>
              <a:t>半人马人工智能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600200"/>
            <a:ext cx="10454335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  <a:spcAft>
                <a:spcPts val="0"/>
              </a:spcAft>
            </a:pPr>
            <a:r>
              <a:rPr sz="1700" b="0">
                <a:solidFill>
                  <a:srgbClr val="BDB4A6"/>
                </a:solidFill>
                <a:latin typeface="PingFang SC"/>
                <a:ea typeface="PingFang SC"/>
                <a:cs typeface="PingFang SC"/>
              </a:rPr>
              <a:t>知君作为面向个人的产品推进，底座研发与万象协同。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8680" y="2377440"/>
            <a:ext cx="3346704" cy="1920240"/>
          </a:xfrm>
          <a:prstGeom prst="roundRect">
            <a:avLst>
              <a:gd name="adj" fmla="val 8000"/>
            </a:avLst>
          </a:prstGeom>
          <a:solidFill>
            <a:srgbClr val="1C1915"/>
          </a:solidFill>
          <a:ln w="12700">
            <a:solidFill>
              <a:srgbClr val="302B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188719" y="2606040"/>
            <a:ext cx="27432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2800" b="1">
                <a:solidFill>
                  <a:srgbClr val="F2ECE1"/>
                </a:solidFill>
                <a:latin typeface="Songti SC"/>
                <a:ea typeface="Songti SC"/>
                <a:cs typeface="Songti SC"/>
              </a:rPr>
              <a:t>嘉木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19" y="3246120"/>
            <a:ext cx="2743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400" b="0">
                <a:solidFill>
                  <a:srgbClr val="E3A35A"/>
                </a:solidFill>
                <a:latin typeface="PingFang SC"/>
                <a:ea typeface="PingFang SC"/>
                <a:cs typeface="PingFang SC"/>
              </a:rPr>
              <a:t>创始人 / CEO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19" y="365760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400" b="0">
                <a:solidFill>
                  <a:srgbClr val="BDB4A6"/>
                </a:solidFill>
                <a:latin typeface="PingFang SC"/>
                <a:ea typeface="PingFang SC"/>
                <a:cs typeface="PingFang SC"/>
              </a:rPr>
              <a:t>产品与商业化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16552" y="2377440"/>
            <a:ext cx="3346704" cy="1920240"/>
          </a:xfrm>
          <a:prstGeom prst="roundRect">
            <a:avLst>
              <a:gd name="adj" fmla="val 8000"/>
            </a:avLst>
          </a:prstGeom>
          <a:solidFill>
            <a:srgbClr val="1C1915"/>
          </a:solidFill>
          <a:ln w="12700">
            <a:solidFill>
              <a:srgbClr val="302B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4736592" y="2606040"/>
            <a:ext cx="27432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2800" b="1">
                <a:solidFill>
                  <a:srgbClr val="F2ECE1"/>
                </a:solidFill>
                <a:latin typeface="Songti SC"/>
                <a:ea typeface="Songti SC"/>
                <a:cs typeface="Songti SC"/>
              </a:rPr>
              <a:t>龙细平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36592" y="3246120"/>
            <a:ext cx="2743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400" b="0">
                <a:solidFill>
                  <a:srgbClr val="E3A35A"/>
                </a:solidFill>
                <a:latin typeface="PingFang SC"/>
                <a:ea typeface="PingFang SC"/>
                <a:cs typeface="PingFang SC"/>
              </a:rPr>
              <a:t>联合创始人 / CTO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36592" y="365760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400" b="0">
                <a:solidFill>
                  <a:srgbClr val="BDB4A6"/>
                </a:solidFill>
                <a:latin typeface="PingFang SC"/>
                <a:ea typeface="PingFang SC"/>
                <a:cs typeface="PingFang SC"/>
              </a:rPr>
              <a:t>十多年大数据经验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64423" y="2377440"/>
            <a:ext cx="3346704" cy="1920240"/>
          </a:xfrm>
          <a:prstGeom prst="roundRect">
            <a:avLst>
              <a:gd name="adj" fmla="val 8000"/>
            </a:avLst>
          </a:prstGeom>
          <a:solidFill>
            <a:srgbClr val="1C1915"/>
          </a:solidFill>
          <a:ln w="12700">
            <a:solidFill>
              <a:srgbClr val="302B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284463" y="2606040"/>
            <a:ext cx="27432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2800" b="1">
                <a:solidFill>
                  <a:srgbClr val="F2ECE1"/>
                </a:solidFill>
                <a:latin typeface="Songti SC"/>
                <a:ea typeface="Songti SC"/>
                <a:cs typeface="Songti SC"/>
              </a:rPr>
              <a:t>章高弘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84463" y="3246120"/>
            <a:ext cx="2743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400" b="0">
                <a:solidFill>
                  <a:srgbClr val="E3A35A"/>
                </a:solidFill>
                <a:latin typeface="PingFang SC"/>
                <a:ea typeface="PingFang SC"/>
                <a:cs typeface="PingFang SC"/>
              </a:rPr>
              <a:t>联合创始人 / CSO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84463" y="365760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400" b="0">
                <a:solidFill>
                  <a:srgbClr val="BDB4A6"/>
                </a:solidFill>
                <a:latin typeface="PingFang SC"/>
                <a:ea typeface="PingFang SC"/>
                <a:cs typeface="PingFang SC"/>
              </a:rPr>
              <a:t>A 股上市公司联合创始人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8680" y="4709160"/>
            <a:ext cx="10454335" cy="1143000"/>
          </a:xfrm>
          <a:prstGeom prst="roundRect">
            <a:avLst>
              <a:gd name="adj" fmla="val 10000"/>
            </a:avLst>
          </a:prstGeom>
          <a:noFill/>
          <a:ln w="12700">
            <a:solidFill>
              <a:srgbClr val="7F776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1234440" y="4709160"/>
            <a:ext cx="9722815" cy="1143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600" b="0">
                <a:solidFill>
                  <a:srgbClr val="BDB4A6"/>
                </a:solidFill>
                <a:latin typeface="PingFang SC"/>
                <a:ea typeface="PingFang SC"/>
                <a:cs typeface="PingFang SC"/>
              </a:rPr>
              <a:t>融资计划　</a:t>
            </a:r>
            <a:r>
              <a:rPr sz="1600" b="0">
                <a:solidFill>
                  <a:srgbClr val="7F776B"/>
                </a:solidFill>
                <a:latin typeface="PingFang SC"/>
                <a:ea typeface="PingFang SC"/>
                <a:cs typeface="PingFang SC"/>
              </a:rPr>
              <a:t>【待填：本轮金额、资金用途（研发 / 硬件 / 首批交付）、未来 12–18 个月的里程碑】</a:t>
            </a:r>
          </a:p>
        </p:txBody>
      </p:sp>
    </p:spTree>
  </p:cSld>
  <p:clrMapOvr>
    <a:masterClrMapping/>
  </p:clrMapOvr>
  <p:transition spd="med">
    <p:fade/>
  </p:transition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0F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5715000" y="1216152"/>
            <a:ext cx="768096" cy="438912"/>
          </a:xfrm>
          <a:custGeom>
            <a:avLst/>
            <a:gdLst/>
            <a:ahLst/>
            <a:cxnLst/>
            <a:rect l="l" t="t" r="r" b="b"/>
            <a:pathLst>
              <a:path w="768096" h="438912">
                <a:moveTo>
                  <a:pt x="384048" y="0"/>
                </a:moveTo>
                <a:lnTo>
                  <a:pt x="768096" y="219456"/>
                </a:lnTo>
                <a:lnTo>
                  <a:pt x="384048" y="438912"/>
                </a:lnTo>
                <a:lnTo>
                  <a:pt x="0" y="219456"/>
                </a:lnTo>
                <a:close/>
              </a:path>
            </a:pathLst>
          </a:custGeom>
          <a:solidFill>
            <a:srgbClr val="F4CD96">
              <a:alpha val="12000"/>
            </a:srgbClr>
          </a:solidFill>
          <a:ln w="19050">
            <a:solidFill>
              <a:srgbClr val="E3A3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5715000" y="1435608"/>
            <a:ext cx="384048" cy="658368"/>
          </a:xfrm>
          <a:custGeom>
            <a:avLst/>
            <a:gdLst/>
            <a:ahLst/>
            <a:cxnLst/>
            <a:rect l="l" t="t" r="r" b="b"/>
            <a:pathLst>
              <a:path w="384048" h="658368">
                <a:moveTo>
                  <a:pt x="0" y="0"/>
                </a:moveTo>
                <a:lnTo>
                  <a:pt x="384048" y="219456"/>
                </a:lnTo>
                <a:lnTo>
                  <a:pt x="384048" y="658368"/>
                </a:lnTo>
                <a:lnTo>
                  <a:pt x="0" y="438911"/>
                </a:lnTo>
                <a:close/>
              </a:path>
            </a:pathLst>
          </a:custGeom>
          <a:solidFill>
            <a:srgbClr val="E3A35A">
              <a:alpha val="6000"/>
            </a:srgbClr>
          </a:solidFill>
          <a:ln w="19050">
            <a:solidFill>
              <a:srgbClr val="E3A3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6099048" y="1435608"/>
            <a:ext cx="384048" cy="658368"/>
          </a:xfrm>
          <a:custGeom>
            <a:avLst/>
            <a:gdLst/>
            <a:ahLst/>
            <a:cxnLst/>
            <a:rect l="l" t="t" r="r" b="b"/>
            <a:pathLst>
              <a:path w="384048" h="658368">
                <a:moveTo>
                  <a:pt x="384048" y="0"/>
                </a:moveTo>
                <a:lnTo>
                  <a:pt x="0" y="219456"/>
                </a:lnTo>
                <a:lnTo>
                  <a:pt x="0" y="658368"/>
                </a:lnTo>
                <a:lnTo>
                  <a:pt x="384048" y="438911"/>
                </a:lnTo>
                <a:close/>
              </a:path>
            </a:pathLst>
          </a:custGeom>
          <a:solidFill>
            <a:srgbClr val="E3A35A">
              <a:alpha val="15000"/>
            </a:srgbClr>
          </a:solidFill>
          <a:ln w="19050">
            <a:solidFill>
              <a:srgbClr val="E3A3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2651760"/>
            <a:ext cx="10454335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50000"/>
              </a:lnSpc>
              <a:spcAft>
                <a:spcPts val="0"/>
              </a:spcAft>
            </a:pPr>
            <a:r>
              <a:rPr sz="3200" b="1">
                <a:solidFill>
                  <a:srgbClr val="F2ECE1"/>
                </a:solidFill>
                <a:latin typeface="Songti SC"/>
                <a:ea typeface="Songti SC"/>
                <a:cs typeface="Songti SC"/>
              </a:rPr>
              <a:t>本体是你，</a:t>
            </a:r>
          </a:p>
          <a:p>
            <a:pPr algn="ctr">
              <a:lnSpc>
                <a:spcPct val="150000"/>
              </a:lnSpc>
              <a:spcAft>
                <a:spcPts val="0"/>
              </a:spcAft>
            </a:pPr>
            <a:r>
              <a:rPr sz="3200" b="1">
                <a:solidFill>
                  <a:srgbClr val="E3A35A"/>
                </a:solidFill>
                <a:latin typeface="Songti SC"/>
                <a:ea typeface="Songti SC"/>
                <a:cs typeface="Songti SC"/>
              </a:rPr>
              <a:t>分身是你允许别人看到的你。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343400"/>
            <a:ext cx="1045433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600" b="0">
                <a:solidFill>
                  <a:srgbClr val="BDB4A6"/>
                </a:solidFill>
                <a:latin typeface="PingFang SC"/>
                <a:ea typeface="PingFang SC"/>
                <a:cs typeface="PingFang SC"/>
              </a:rPr>
              <a:t>让一个人更认识自己，再让他愿意分享的那部分，帮到更多人。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5120640"/>
            <a:ext cx="1045433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300" b="0">
                <a:solidFill>
                  <a:srgbClr val="7F776B"/>
                </a:solidFill>
                <a:latin typeface="PingFang SC"/>
                <a:ea typeface="PingFang SC"/>
                <a:cs typeface="PingFang SC"/>
              </a:rPr>
              <a:t>知君 · 半人马人工智能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