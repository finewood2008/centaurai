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知君是一只私人记忆盒子。先讲它对一个人意味着什么，再讲它如何把经验开放给别人。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第一步是根本，也是首批交付的全部内容。两步的信任承诺相反，用单向阀门连接。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孤独来自位置不是性格：身边每个人都和这件事有利害关系。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判断的回路是知君最核心的循环：记下决定与预期，几周后主动回来问。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把人推回人不可关闭；危机对话完全不进入记忆。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一个人只有确信内容不会流到别处，才会说真话。外部模型只收必要片段，本人选择开启，可见可审计。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右侧对话为示意，不是真实用户对话。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内观分区、情绪记录、危机对话永远不能发布——不是默认关闭，是不存在这个开关。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没有第一步，第二步只是一个读过你文件的问答机器人。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竞品栏中「通用 AI 助手与陪伴产品」为概括，对外使用前需逐家核对。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不用时长与对话次数作北极星，避免诱导依赖。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77724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半人马人工智能 · 商业计划书 · 2026 年 10 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知君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0">
                <a:solidFill>
                  <a:srgbClr val="F4CD96"/>
                </a:solidFill>
                <a:latin typeface="Songti SC"/>
                <a:ea typeface="Songti SC"/>
                <a:cs typeface="Songti SC"/>
              </a:rPr>
              <a:t>私人记忆盒子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03320"/>
            <a:ext cx="6035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它通过对话逐渐认识你，把这份认识交给你掌管；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要独自拿主意时陪你商量，结果回来时陪你复盘。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当你愿意，再把亲自确认过的经验，开放给需要它的人。</a:t>
            </a:r>
          </a:p>
        </p:txBody>
      </p:sp>
      <p:sp>
        <p:nvSpPr>
          <p:cNvPr id="6" name="Oval 5"/>
          <p:cNvSpPr/>
          <p:nvPr/>
        </p:nvSpPr>
        <p:spPr>
          <a:xfrm>
            <a:off x="7644383" y="1731873"/>
            <a:ext cx="3364991" cy="3364991"/>
          </a:xfrm>
          <a:prstGeom prst="ellipse">
            <a:avLst/>
          </a:prstGeom>
          <a:solidFill>
            <a:srgbClr val="E3A35A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317382" y="2404872"/>
            <a:ext cx="2018995" cy="2018995"/>
          </a:xfrm>
          <a:prstGeom prst="ellipse">
            <a:avLst/>
          </a:prstGeom>
          <a:solidFill>
            <a:srgbClr val="F4CD9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Freeform 7"/>
          <p:cNvSpPr/>
          <p:nvPr/>
        </p:nvSpPr>
        <p:spPr>
          <a:xfrm>
            <a:off x="8149132" y="2068372"/>
            <a:ext cx="2355495" cy="1345997"/>
          </a:xfrm>
          <a:custGeom>
            <a:avLst/>
            <a:gdLst/>
            <a:ahLst/>
            <a:cxnLst/>
            <a:rect l="l" t="t" r="r" b="b"/>
            <a:pathLst>
              <a:path w="2355495" h="1345997">
                <a:moveTo>
                  <a:pt x="1177748" y="0"/>
                </a:moveTo>
                <a:lnTo>
                  <a:pt x="2355495" y="672999"/>
                </a:lnTo>
                <a:lnTo>
                  <a:pt x="1177748" y="1345997"/>
                </a:lnTo>
                <a:lnTo>
                  <a:pt x="0" y="672999"/>
                </a:lnTo>
                <a:close/>
              </a:path>
            </a:pathLst>
          </a:custGeom>
          <a:solidFill>
            <a:srgbClr val="F4CD96">
              <a:alpha val="12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8149132" y="2741371"/>
            <a:ext cx="1177748" cy="2018995"/>
          </a:xfrm>
          <a:custGeom>
            <a:avLst/>
            <a:gdLst/>
            <a:ahLst/>
            <a:cxnLst/>
            <a:rect l="l" t="t" r="r" b="b"/>
            <a:pathLst>
              <a:path w="1177748" h="2018995">
                <a:moveTo>
                  <a:pt x="0" y="0"/>
                </a:moveTo>
                <a:lnTo>
                  <a:pt x="1177748" y="672998"/>
                </a:lnTo>
                <a:lnTo>
                  <a:pt x="1177748" y="2018995"/>
                </a:lnTo>
                <a:lnTo>
                  <a:pt x="0" y="1345997"/>
                </a:lnTo>
                <a:close/>
              </a:path>
            </a:pathLst>
          </a:custGeom>
          <a:solidFill>
            <a:srgbClr val="E3A35A">
              <a:alpha val="6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326880" y="2741371"/>
            <a:ext cx="1177747" cy="2018995"/>
          </a:xfrm>
          <a:custGeom>
            <a:avLst/>
            <a:gdLst/>
            <a:ahLst/>
            <a:cxnLst/>
            <a:rect l="l" t="t" r="r" b="b"/>
            <a:pathLst>
              <a:path w="1177747" h="2018995">
                <a:moveTo>
                  <a:pt x="1177747" y="0"/>
                </a:moveTo>
                <a:lnTo>
                  <a:pt x="0" y="672998"/>
                </a:lnTo>
                <a:lnTo>
                  <a:pt x="0" y="2018995"/>
                </a:lnTo>
                <a:lnTo>
                  <a:pt x="1177747" y="1345997"/>
                </a:lnTo>
                <a:close/>
              </a:path>
            </a:pathLst>
          </a:custGeom>
          <a:solidFill>
            <a:srgbClr val="E3A35A">
              <a:alpha val="15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60919" y="1234439"/>
            <a:ext cx="91440" cy="91440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1119104" y="1426464"/>
            <a:ext cx="73152" cy="73152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077456" y="4151376"/>
            <a:ext cx="109728" cy="109728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301984" y="3803904"/>
            <a:ext cx="73152" cy="73152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93024" y="877824"/>
            <a:ext cx="73152" cy="73152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0561319" y="5623560"/>
            <a:ext cx="91440" cy="91440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产品定位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知己与导师，不是工作助理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面向需要独自做重要判断、身边却没有人可以说真话的人。知君在长期对话中形成对本人的理解——</a:t>
            </a:r>
            <a:r>
              <a:rPr sz="17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个人本体</a:t>
            </a: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：在意什么、怎么做决定、后来对不对。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80360"/>
            <a:ext cx="4572000" cy="3291840"/>
          </a:xfrm>
          <a:prstGeom prst="roundRect">
            <a:avLst>
              <a:gd name="adj" fmla="val 8000"/>
            </a:avLst>
          </a:prstGeom>
          <a:solidFill>
            <a:srgbClr val="2C251B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234440" y="31089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第一步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38328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知己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206240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帮一个人认识自己、做好判断。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这是产品的根本，也是首批交付的全部内容。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34440" y="5120640"/>
            <a:ext cx="3840480" cy="0"/>
          </a:xfrm>
          <a:prstGeom prst="line">
            <a:avLst/>
          </a:prstGeom>
          <a:ln w="9525">
            <a:solidFill>
              <a:srgbClr val="302B2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234440" y="5257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信任承诺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5532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没有人会看到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48272" y="2880360"/>
            <a:ext cx="4572000" cy="3291840"/>
          </a:xfrm>
          <a:prstGeom prst="roundRect">
            <a:avLst>
              <a:gd name="adj" fmla="val 8000"/>
            </a:avLst>
          </a:prstGeom>
          <a:solidFill>
            <a:srgbClr val="23282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14032" y="31089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第二步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338328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分身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2" y="4206240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把逐条确认过的经验和方法，发布为对外角色，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为获授权的人提供问答与咨询。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14032" y="5120640"/>
            <a:ext cx="3840480" cy="0"/>
          </a:xfrm>
          <a:prstGeom prst="line">
            <a:avLst/>
          </a:prstGeom>
          <a:ln w="9525">
            <a:solidFill>
              <a:srgbClr val="302B2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14032" y="5257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信任承诺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2" y="5532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被授权的人可以问</a:t>
            </a:r>
          </a:p>
        </p:txBody>
      </p:sp>
      <p:sp>
        <p:nvSpPr>
          <p:cNvPr id="19" name="Oval 18"/>
          <p:cNvSpPr/>
          <p:nvPr/>
        </p:nvSpPr>
        <p:spPr>
          <a:xfrm>
            <a:off x="5715000" y="3867912"/>
            <a:ext cx="768096" cy="768096"/>
          </a:xfrm>
          <a:prstGeom prst="ellipse">
            <a:avLst/>
          </a:prstGeom>
          <a:noFill/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Freeform 19"/>
          <p:cNvSpPr/>
          <p:nvPr/>
        </p:nvSpPr>
        <p:spPr>
          <a:xfrm>
            <a:off x="5937747" y="4098340"/>
            <a:ext cx="238110" cy="307239"/>
          </a:xfrm>
          <a:custGeom>
            <a:avLst/>
            <a:gdLst/>
            <a:ahLst/>
            <a:cxnLst/>
            <a:rect l="l" t="t" r="r" b="b"/>
            <a:pathLst>
              <a:path w="238110" h="307239">
                <a:moveTo>
                  <a:pt x="0" y="0"/>
                </a:moveTo>
                <a:lnTo>
                  <a:pt x="238110" y="153620"/>
                </a:lnTo>
                <a:lnTo>
                  <a:pt x="0" y="307239"/>
                </a:lnTo>
                <a:close/>
              </a:path>
            </a:pathLst>
          </a:cu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21943" y="4079138"/>
            <a:ext cx="49926" cy="345643"/>
          </a:xfrm>
          <a:prstGeom prst="roundRect">
            <a:avLst>
              <a:gd name="adj" fmla="val 50000"/>
            </a:avLst>
          </a:prstGeom>
          <a:solidFill>
            <a:srgbClr val="82B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40680" y="475488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单向阀门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用户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孤独来自位置，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不是性格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首批用户：</a:t>
            </a:r>
            <a:r>
              <a:rPr sz="17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企业经营者、高管、独立顾问</a:t>
            </a: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身边每个人都和这件事有利害关系。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真正的顾虑说不出口，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说出口的又不是真话。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9052560" y="1645920"/>
            <a:ext cx="0" cy="1965960"/>
          </a:xfrm>
          <a:prstGeom prst="line">
            <a:avLst/>
          </a:prstGeom>
          <a:ln w="15875">
            <a:solidFill>
              <a:srgbClr val="7F77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052560" y="3611880"/>
            <a:ext cx="1965960" cy="0"/>
          </a:xfrm>
          <a:prstGeom prst="line">
            <a:avLst/>
          </a:prstGeom>
          <a:ln w="15875">
            <a:solidFill>
              <a:srgbClr val="7F77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052560" y="3611880"/>
            <a:ext cx="0" cy="1965960"/>
          </a:xfrm>
          <a:prstGeom prst="line">
            <a:avLst/>
          </a:prstGeom>
          <a:ln w="15875">
            <a:solidFill>
              <a:srgbClr val="7F77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7086600" y="3611880"/>
            <a:ext cx="1965960" cy="0"/>
          </a:xfrm>
          <a:prstGeom prst="line">
            <a:avLst/>
          </a:prstGeom>
          <a:ln w="15875">
            <a:solidFill>
              <a:srgbClr val="7F77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0" y="24231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32644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45262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2644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4" name="Oval 13"/>
          <p:cNvSpPr/>
          <p:nvPr/>
        </p:nvSpPr>
        <p:spPr>
          <a:xfrm>
            <a:off x="8485632" y="3044952"/>
            <a:ext cx="1133856" cy="1133856"/>
          </a:xfrm>
          <a:prstGeom prst="ellipse">
            <a:avLst/>
          </a:prstGeom>
          <a:solidFill>
            <a:srgbClr val="2C251B"/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503920" y="333756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F4CD96"/>
                </a:solidFill>
                <a:latin typeface="PingFang SC"/>
                <a:ea typeface="PingFang SC"/>
                <a:cs typeface="PingFang SC"/>
              </a:rPr>
              <a:t>你</a:t>
            </a:r>
          </a:p>
        </p:txBody>
      </p:sp>
      <p:sp>
        <p:nvSpPr>
          <p:cNvPr id="16" name="Oval 15"/>
          <p:cNvSpPr/>
          <p:nvPr/>
        </p:nvSpPr>
        <p:spPr>
          <a:xfrm>
            <a:off x="8613648" y="1207008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595360" y="1417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员工</a:t>
            </a:r>
          </a:p>
        </p:txBody>
      </p:sp>
      <p:sp>
        <p:nvSpPr>
          <p:cNvPr id="18" name="Oval 17"/>
          <p:cNvSpPr/>
          <p:nvPr/>
        </p:nvSpPr>
        <p:spPr>
          <a:xfrm>
            <a:off x="10579608" y="3172968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561320" y="33832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合伙人</a:t>
            </a:r>
          </a:p>
        </p:txBody>
      </p:sp>
      <p:sp>
        <p:nvSpPr>
          <p:cNvPr id="20" name="Oval 19"/>
          <p:cNvSpPr/>
          <p:nvPr/>
        </p:nvSpPr>
        <p:spPr>
          <a:xfrm>
            <a:off x="8613648" y="5138927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0" y="5349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家人</a:t>
            </a:r>
          </a:p>
        </p:txBody>
      </p:sp>
      <p:sp>
        <p:nvSpPr>
          <p:cNvPr id="22" name="Oval 21"/>
          <p:cNvSpPr/>
          <p:nvPr/>
        </p:nvSpPr>
        <p:spPr>
          <a:xfrm>
            <a:off x="6647688" y="3172968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29400" y="33832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客户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对判断影响最大的东西，最没有地方说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74519"/>
            <a:ext cx="5120640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19" y="21305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2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1945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判断无处商量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743200"/>
            <a:ext cx="3611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员工、合伙人、家人、客户，都和这件事有利害关系。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5120640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37959" y="21305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2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1945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判断没有回路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743200"/>
            <a:ext cx="3611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当时为什么这样选、预期是什么、后来对不对，很少有人回头看。同样的错会以新的形式再来一次。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114800"/>
            <a:ext cx="5120640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88719" y="437083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2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44348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心里的事没有地方放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83480"/>
            <a:ext cx="3611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压力、自我怀疑、对自己的看法，最不适合讲给任何利益相关的人。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114800"/>
            <a:ext cx="5120640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37959" y="437083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200" b="0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44348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经验困在自己身上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16440" y="4453128"/>
            <a:ext cx="720090" cy="310896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16440" y="4453128"/>
            <a:ext cx="72009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第二步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4983480"/>
            <a:ext cx="3611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顾问最有价值的判断方法藏在经历里，只能靠本人一次次亲自解释。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解决方案 · 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通过对话形成个人本体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对话是构建本体的主要方式，资料导入只用来加速。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51460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2C251B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88719" y="264261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已确认本体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19" y="304495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本人确认后，才成为本体的一部分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6118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88719" y="373989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工作理解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414223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知君推测出的理解，只带着保留语气在对话中使用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7091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88719" y="4837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对话记录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52395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原样保存，不改写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926080"/>
            <a:ext cx="3657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↑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/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4688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每一条都标明来源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834640"/>
            <a:ext cx="2194560" cy="512064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75120" y="2834640"/>
            <a:ext cx="21945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【</a:t>
            </a:r>
            <a:r>
              <a:rPr sz="19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你告诉我的</a:t>
            </a: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3474720"/>
            <a:ext cx="2468879" cy="512064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75120" y="3474720"/>
            <a:ext cx="246887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【</a:t>
            </a:r>
            <a:r>
              <a:rPr sz="19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资料里看到的</a:t>
            </a: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4114800"/>
            <a:ext cx="1920240" cy="512064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75120" y="4114800"/>
            <a:ext cx="1920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【</a:t>
            </a:r>
            <a:r>
              <a:rPr sz="19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我推测的</a:t>
            </a: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4754879"/>
            <a:ext cx="2194560" cy="512064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75120" y="4754879"/>
            <a:ext cx="21945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【</a:t>
            </a:r>
            <a:r>
              <a:rPr sz="19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知君的看法</a:t>
            </a: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5522976"/>
            <a:ext cx="36576" cy="47548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76288" y="5486400"/>
            <a:ext cx="44622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亲口说的事实直接记住，随时可以撤回。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解决方案 · 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当下商量，判断回访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判断的回路，是知君最核心的循环。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280160" y="3429000"/>
            <a:ext cx="5303520" cy="0"/>
          </a:xfrm>
          <a:prstGeom prst="line">
            <a:avLst/>
          </a:prstGeom>
          <a:ln w="28575">
            <a:solidFill>
              <a:srgbClr val="E3A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83680" y="3429000"/>
            <a:ext cx="4297680" cy="0"/>
          </a:xfrm>
          <a:prstGeom prst="line">
            <a:avLst/>
          </a:prstGeom>
          <a:ln w="28575">
            <a:solidFill>
              <a:srgbClr val="7F77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52143" y="3300984"/>
            <a:ext cx="256032" cy="256032"/>
          </a:xfrm>
          <a:prstGeom prst="ellipse">
            <a:avLst/>
          </a:prstGeom>
          <a:solidFill>
            <a:srgbClr val="100F0D"/>
          </a:solidFill>
          <a:ln w="254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-91440" y="26517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要拿主意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91440" y="37216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调用原则、相似经历、相关的人</a:t>
            </a:r>
          </a:p>
        </p:txBody>
      </p:sp>
      <p:sp>
        <p:nvSpPr>
          <p:cNvPr id="10" name="Oval 9"/>
          <p:cNvSpPr/>
          <p:nvPr/>
        </p:nvSpPr>
        <p:spPr>
          <a:xfrm>
            <a:off x="3803904" y="3300984"/>
            <a:ext cx="256032" cy="256032"/>
          </a:xfrm>
          <a:prstGeom prst="ellipse">
            <a:avLst/>
          </a:prstGeom>
          <a:solidFill>
            <a:srgbClr val="100F0D"/>
          </a:solidFill>
          <a:ln w="254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560320" y="26517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记下决定与预期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7216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当时为什么这样选</a:t>
            </a:r>
          </a:p>
        </p:txBody>
      </p:sp>
      <p:sp>
        <p:nvSpPr>
          <p:cNvPr id="13" name="Oval 12"/>
          <p:cNvSpPr/>
          <p:nvPr/>
        </p:nvSpPr>
        <p:spPr>
          <a:xfrm>
            <a:off x="10753344" y="3300984"/>
            <a:ext cx="256032" cy="256032"/>
          </a:xfrm>
          <a:prstGeom prst="ellipse">
            <a:avLst/>
          </a:prstGeom>
          <a:solidFill>
            <a:srgbClr val="E3A35A"/>
          </a:solidFill>
          <a:ln w="254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14232" y="26517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现在回看，怎么样？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14232" y="37216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知君主动回来问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971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几周后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57200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19" y="4846320"/>
            <a:ext cx="44805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当下商量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5376672"/>
            <a:ext cx="4480559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帮本人把顾虑说清楚。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57200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37959" y="4846320"/>
            <a:ext cx="44805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知君可以有看法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5376672"/>
            <a:ext cx="4480559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但看法永远只是看法，不替人做决定。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解决方案 · 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内观：帮人看见自己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本体里有两个只属于本人的分区。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331720"/>
            <a:ext cx="2331720" cy="59436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2331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🔒 心里的事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331720"/>
            <a:ext cx="2331720" cy="59436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83280" y="2331720"/>
            <a:ext cx="2331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🔒 我眼中的我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3756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知君把本人对自己的看法，与实际行为中观察到的模式对照，</a:t>
            </a:r>
            <a:r>
              <a:rPr sz="17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指出其中的张力</a:t>
            </a: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。</a:t>
            </a:r>
          </a:p>
        </p:txBody>
      </p:sp>
      <p:sp>
        <p:nvSpPr>
          <p:cNvPr id="10" name="Oval 9"/>
          <p:cNvSpPr/>
          <p:nvPr/>
        </p:nvSpPr>
        <p:spPr>
          <a:xfrm>
            <a:off x="6629400" y="2057400"/>
            <a:ext cx="3200400" cy="3200400"/>
          </a:xfrm>
          <a:prstGeom prst="ellipse">
            <a:avLst/>
          </a:prstGeom>
          <a:solidFill>
            <a:srgbClr val="E3A35A">
              <a:alpha val="10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09560" y="2057400"/>
            <a:ext cx="3200400" cy="3200400"/>
          </a:xfrm>
          <a:prstGeom prst="ellipse">
            <a:avLst/>
          </a:prstGeom>
          <a:solidFill>
            <a:srgbClr val="82BBAD">
              <a:alpha val="10000"/>
            </a:srgbClr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0" y="3474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F4CD96"/>
                </a:solidFill>
                <a:latin typeface="PingFang SC"/>
                <a:ea typeface="PingFang SC"/>
                <a:cs typeface="PingFang SC"/>
              </a:rPr>
              <a:t>我眼中的我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474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行为中的模式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4290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张力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解决方案 · 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有边界的知己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5120640" cy="43891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234440" y="21031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把人推回人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2788920"/>
            <a:ext cx="4389120" cy="914400"/>
          </a:xfrm>
          <a:prstGeom prst="roundRect">
            <a:avLst>
              <a:gd name="adj" fmla="val 20000"/>
            </a:avLst>
          </a:prstGeom>
          <a:solidFill>
            <a:srgbClr val="100F0D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43891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1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「这件事，你该和他谈。」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023360"/>
            <a:ext cx="4389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知君要减少孤独，不是替代人。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5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这条原则不可关闭。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120640" cy="43891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83680" y="21031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接住危机</a:t>
            </a:r>
          </a:p>
        </p:txBody>
      </p:sp>
      <p:sp>
        <p:nvSpPr>
          <p:cNvPr id="11" name="Oval 10"/>
          <p:cNvSpPr/>
          <p:nvPr/>
        </p:nvSpPr>
        <p:spPr>
          <a:xfrm>
            <a:off x="6601968" y="2743200"/>
            <a:ext cx="365760" cy="365760"/>
          </a:xfrm>
          <a:prstGeom prst="ellipse">
            <a:avLst/>
          </a:prstGeom>
          <a:noFill/>
          <a:ln w="12700">
            <a:solidFill>
              <a:srgbClr val="D98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01968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743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接住</a:t>
            </a:r>
          </a:p>
        </p:txBody>
      </p:sp>
      <p:sp>
        <p:nvSpPr>
          <p:cNvPr id="14" name="Oval 13"/>
          <p:cNvSpPr/>
          <p:nvPr/>
        </p:nvSpPr>
        <p:spPr>
          <a:xfrm>
            <a:off x="6601968" y="3310128"/>
            <a:ext cx="365760" cy="365760"/>
          </a:xfrm>
          <a:prstGeom prst="ellipse">
            <a:avLst/>
          </a:prstGeom>
          <a:noFill/>
          <a:ln w="12700">
            <a:solidFill>
              <a:srgbClr val="D98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601968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3101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不追问</a:t>
            </a:r>
          </a:p>
        </p:txBody>
      </p:sp>
      <p:sp>
        <p:nvSpPr>
          <p:cNvPr id="17" name="Oval 16"/>
          <p:cNvSpPr/>
          <p:nvPr/>
        </p:nvSpPr>
        <p:spPr>
          <a:xfrm>
            <a:off x="6601968" y="3877056"/>
            <a:ext cx="365760" cy="365760"/>
          </a:xfrm>
          <a:prstGeom prst="ellipse">
            <a:avLst/>
          </a:prstGeom>
          <a:noFill/>
          <a:ln w="12700">
            <a:solidFill>
              <a:srgbClr val="D98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01968" y="387705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8770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提供真实可用的求助渠道</a:t>
            </a:r>
          </a:p>
        </p:txBody>
      </p:sp>
      <p:sp>
        <p:nvSpPr>
          <p:cNvPr id="20" name="Oval 19"/>
          <p:cNvSpPr/>
          <p:nvPr/>
        </p:nvSpPr>
        <p:spPr>
          <a:xfrm>
            <a:off x="6601968" y="4443983"/>
            <a:ext cx="365760" cy="365760"/>
          </a:xfrm>
          <a:prstGeom prst="ellipse">
            <a:avLst/>
          </a:prstGeom>
          <a:noFill/>
          <a:ln w="12700">
            <a:solidFill>
              <a:srgbClr val="D98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01968" y="444398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4443983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明确说明自己不是心理治疗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5257800"/>
            <a:ext cx="3291840" cy="502920"/>
          </a:xfrm>
          <a:prstGeom prst="roundRect">
            <a:avLst>
              <a:gd name="adj" fmla="val 20000"/>
            </a:avLst>
          </a:prstGeom>
          <a:solidFill>
            <a:srgbClr val="2A1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583680" y="525780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这段对话完全不进入记忆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为什么是盒子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1045433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本地优先不是隐私功能，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是袒露心声的前提。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一个人只有确信内容不会流到别处，才会说真话。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88920"/>
            <a:ext cx="4846320" cy="2788920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E3A3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2898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原件不出设备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3291840"/>
            <a:ext cx="4023360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80160" y="347472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1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你的盒子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0690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个人本体 · 全部对话 · 判断记录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专用设备，不运行别的软件，不随人移动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97880" y="4206240"/>
            <a:ext cx="2651760" cy="0"/>
          </a:xfrm>
          <a:prstGeom prst="line">
            <a:avLst/>
          </a:prstGeom>
          <a:ln w="19050">
            <a:solidFill>
              <a:srgbClr val="7F776B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4133087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4C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949440" y="4133087"/>
            <a:ext cx="128016" cy="146304"/>
          </a:xfrm>
          <a:prstGeom prst="roundRect">
            <a:avLst>
              <a:gd name="adj" fmla="val 20000"/>
            </a:avLst>
          </a:prstGeom>
          <a:solidFill>
            <a:srgbClr val="F4C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7589520" y="4133087"/>
            <a:ext cx="164592" cy="146304"/>
          </a:xfrm>
          <a:prstGeom prst="roundRect">
            <a:avLst>
              <a:gd name="adj" fmla="val 20000"/>
            </a:avLst>
          </a:prstGeom>
          <a:solidFill>
            <a:srgbClr val="F4C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760720" y="365760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只送必要片段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443484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本人选择开启 · 发送内容可见 · 可审计</a:t>
            </a:r>
          </a:p>
        </p:txBody>
      </p:sp>
      <p:sp>
        <p:nvSpPr>
          <p:cNvPr id="17" name="Cloud 16"/>
          <p:cNvSpPr/>
          <p:nvPr/>
        </p:nvSpPr>
        <p:spPr>
          <a:xfrm>
            <a:off x="8732520" y="3429000"/>
            <a:ext cx="2651760" cy="1600200"/>
          </a:xfrm>
          <a:prstGeom prst="cloud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32520" y="3429000"/>
            <a:ext cx="2651760" cy="160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外部模型（可选）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89788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同时保留独立部署版本，供不需要硬件的用户使用。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产品形态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软硬件一体交付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720090" cy="310896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72009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第一步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148840"/>
            <a:ext cx="5577840" cy="11887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88719" y="2423160"/>
            <a:ext cx="4937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私人记忆盒子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19" y="2953512"/>
            <a:ext cx="49377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保存个人本体、对话和判断记录。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474720"/>
            <a:ext cx="5577840" cy="11887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88719" y="3749039"/>
            <a:ext cx="4937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本人客户端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4279392"/>
            <a:ext cx="49377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没有复杂导航，只有一条按天展开的对话。知君每天先开口。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892040"/>
            <a:ext cx="720090" cy="310896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8680" y="4892040"/>
            <a:ext cx="72009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第二步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321808"/>
            <a:ext cx="2697480" cy="9601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97280" y="5440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角色管理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779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发布什么、开放哪个角色、授权给谁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5321808"/>
            <a:ext cx="2697480" cy="9601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931920" y="5440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来访者入口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779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获授权者与开放的角色对话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914400"/>
            <a:ext cx="4251960" cy="5394960"/>
          </a:xfrm>
          <a:prstGeom prst="roundRect">
            <a:avLst>
              <a:gd name="adj" fmla="val 6000"/>
            </a:avLst>
          </a:prstGeom>
          <a:solidFill>
            <a:srgbClr val="141210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86600" y="109728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今天 · 示意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1600200"/>
            <a:ext cx="2926080" cy="1234440"/>
          </a:xfrm>
          <a:prstGeom prst="roundRect">
            <a:avLst>
              <a:gd name="adj" fmla="val 15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43800" y="1709928"/>
            <a:ext cx="25603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上个月你决定先不扩招。当时你最担心的是现金流——现在回看，这个顾虑还在吗？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017520"/>
            <a:ext cx="2926080" cy="685800"/>
          </a:xfrm>
          <a:prstGeom prst="roundRect">
            <a:avLst>
              <a:gd name="adj" fmla="val 15000"/>
            </a:avLst>
          </a:prstGeom>
          <a:solidFill>
            <a:srgbClr val="3A2F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21040" y="3127248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还在。但另一件事更让我睡不着。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3886200"/>
            <a:ext cx="2926080" cy="960120"/>
          </a:xfrm>
          <a:prstGeom prst="roundRect">
            <a:avLst>
              <a:gd name="adj" fmla="val 15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543800" y="3995928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愿意说说是哪件事吗？不急，想到哪儿说到哪儿。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49834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判断回访 · 第 3 周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第二步 · 从知己到分身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单向阀门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第一步积累了一个人怎么做判断、后来对不对。第二步让本人把其中愿意分享的部分，变成可被提问的专业能力。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43200"/>
            <a:ext cx="4069080" cy="30175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294436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私人积累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383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默认私密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3794760"/>
            <a:ext cx="1691640" cy="457200"/>
          </a:xfrm>
          <a:prstGeom prst="roundRect">
            <a:avLst>
              <a:gd name="adj" fmla="val 15000"/>
            </a:avLst>
          </a:prstGeom>
          <a:solidFill>
            <a:srgbClr val="100F0D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379476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🔒 心里的事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3794760"/>
            <a:ext cx="1691640" cy="457200"/>
          </a:xfrm>
          <a:prstGeom prst="roundRect">
            <a:avLst>
              <a:gd name="adj" fmla="val 15000"/>
            </a:avLst>
          </a:prstGeom>
          <a:solidFill>
            <a:srgbClr val="100F0D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926080" y="379476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🔒 我眼中的我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61688"/>
            <a:ext cx="1691640" cy="457200"/>
          </a:xfrm>
          <a:prstGeom prst="roundRect">
            <a:avLst>
              <a:gd name="adj" fmla="val 15000"/>
            </a:avLst>
          </a:prstGeom>
          <a:solidFill>
            <a:srgbClr val="100F0D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43000" y="4361688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🔒 情绪记录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6080" y="4361688"/>
            <a:ext cx="1691640" cy="457200"/>
          </a:xfrm>
          <a:prstGeom prst="roundRect">
            <a:avLst>
              <a:gd name="adj" fmla="val 15000"/>
            </a:avLst>
          </a:prstGeom>
          <a:solidFill>
            <a:srgbClr val="100F0D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926080" y="4361688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🔒 危机对话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983480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永远不能发布——不是默认关闭，是不存在这个开关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4251960"/>
            <a:ext cx="457200" cy="0"/>
          </a:xfrm>
          <a:prstGeom prst="line">
            <a:avLst/>
          </a:prstGeom>
          <a:ln w="22225">
            <a:solidFill>
              <a:srgbClr val="E3A3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486400" y="3291840"/>
            <a:ext cx="1783080" cy="19202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085331" y="3502152"/>
            <a:ext cx="585216" cy="585216"/>
          </a:xfrm>
          <a:prstGeom prst="ellipse">
            <a:avLst/>
          </a:prstGeom>
          <a:noFill/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Freeform 19"/>
          <p:cNvSpPr/>
          <p:nvPr/>
        </p:nvSpPr>
        <p:spPr>
          <a:xfrm>
            <a:off x="6255044" y="3677716"/>
            <a:ext cx="181417" cy="234087"/>
          </a:xfrm>
          <a:custGeom>
            <a:avLst/>
            <a:gdLst/>
            <a:ahLst/>
            <a:cxnLst/>
            <a:rect l="l" t="t" r="r" b="b"/>
            <a:pathLst>
              <a:path w="181417" h="234087">
                <a:moveTo>
                  <a:pt x="0" y="0"/>
                </a:moveTo>
                <a:lnTo>
                  <a:pt x="181417" y="117044"/>
                </a:lnTo>
                <a:lnTo>
                  <a:pt x="0" y="234087"/>
                </a:lnTo>
                <a:close/>
              </a:path>
            </a:pathLst>
          </a:cu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71574" y="3663086"/>
            <a:ext cx="38039" cy="263347"/>
          </a:xfrm>
          <a:prstGeom prst="roundRect">
            <a:avLst>
              <a:gd name="adj" fmla="val 50000"/>
            </a:avLst>
          </a:prstGeom>
          <a:solidFill>
            <a:srgbClr val="82B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86400" y="4206240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逐条确认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4617720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可暂停 · 可撤回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0" y="4251960"/>
            <a:ext cx="365760" cy="0"/>
          </a:xfrm>
          <a:prstGeom prst="line">
            <a:avLst/>
          </a:prstGeom>
          <a:ln w="22225">
            <a:solidFill>
              <a:srgbClr val="82BB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26679" y="3520440"/>
            <a:ext cx="1691640" cy="14630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26679" y="3749039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对外角色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425196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只用已发布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的部分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464040" y="4251960"/>
            <a:ext cx="365760" cy="0"/>
          </a:xfrm>
          <a:prstGeom prst="line">
            <a:avLst/>
          </a:prstGeom>
          <a:ln w="22225">
            <a:solidFill>
              <a:srgbClr val="82BB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875520" y="3520440"/>
            <a:ext cx="1444752" cy="14630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875520" y="3749039"/>
            <a:ext cx="1444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来访者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4251960"/>
            <a:ext cx="1444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会话单独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管理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0" y="5934456"/>
            <a:ext cx="36576" cy="475488"/>
          </a:xfrm>
          <a:prstGeom prst="rect">
            <a:avLst/>
          </a:prstGeom>
          <a:solidFill>
            <a:srgbClr val="82B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687568" y="5897880"/>
            <a:ext cx="565099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来访者的会话不会回流到本人的私人积累，除非本人确认。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第二步 · 顾问最关心的两件事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1005840"/>
            <a:ext cx="5120640" cy="52120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34440" y="1280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2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客户之间的保密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8288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跨客户的经验最有价值，也大多受保密约定约束。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2606040"/>
            <a:ext cx="655320" cy="384048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655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案例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5480" y="260604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09800" y="2606040"/>
            <a:ext cx="655320" cy="384048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09800" y="2606040"/>
            <a:ext cx="655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10840" y="260604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3154680"/>
            <a:ext cx="2468880" cy="384048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4440" y="315468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本人确认「可以对外引用」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15468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3154680"/>
            <a:ext cx="1018032" cy="38404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023360" y="3154680"/>
            <a:ext cx="1018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角色可用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977639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角色回答问题时，不会把一个客户的情况透露给另一个客户。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005840"/>
            <a:ext cx="5120640" cy="52120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2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本人接续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第二步的主线，也是后续收费咨询的入口。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2606040"/>
            <a:ext cx="1199388" cy="384048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83680" y="2606040"/>
            <a:ext cx="11993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来访者提问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33756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40880" y="3337560"/>
            <a:ext cx="655320" cy="38404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40880" y="3337560"/>
            <a:ext cx="655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角色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79079" y="3337560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已有案例、方法和适用条件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06908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0880" y="4069080"/>
            <a:ext cx="655320" cy="384048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040880" y="4069080"/>
            <a:ext cx="655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本人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79079" y="4069080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具体决策 · 复杂条件 · 需要新研究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第二步 · 首批场景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角色接第一层，本人接关键一层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1874519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6472" y="1874519"/>
            <a:ext cx="41148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角色负责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65592" y="1874519"/>
            <a:ext cx="304495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本人接续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8680" y="2743200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33271" y="27432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经营与组织顾问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2743200"/>
            <a:ext cx="41148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调用相关案例，解释分析方法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5592" y="2743200"/>
            <a:ext cx="304495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具体决策与复杂条件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3611880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33271" y="361188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行业研究顾问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3611880"/>
            <a:ext cx="41148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组织已有研究、经验与适用条件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3611880"/>
            <a:ext cx="304495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超出范围或需要新研究的问题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" y="4480560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33271" y="448056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项目复盘顾问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4480560"/>
            <a:ext cx="41148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串联脱敏后的项目背景、行动与结果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480560"/>
            <a:ext cx="304495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核对差异，补充当前判断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8680" y="5349240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价值闭环</a:t>
            </a:r>
          </a:p>
        </p:txBody>
      </p:sp>
      <p:sp>
        <p:nvSpPr>
          <p:cNvPr id="3" name="Oval 2"/>
          <p:cNvSpPr/>
          <p:nvPr/>
        </p:nvSpPr>
        <p:spPr>
          <a:xfrm>
            <a:off x="1371600" y="1920240"/>
            <a:ext cx="3749039" cy="3749039"/>
          </a:xfrm>
          <a:prstGeom prst="ellipse">
            <a:avLst/>
          </a:prstGeom>
          <a:noFill/>
          <a:ln w="254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2788920" y="1463040"/>
            <a:ext cx="914400" cy="914400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788920" y="16916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000" b="0">
                <a:solidFill>
                  <a:srgbClr val="BDB4A6"/>
                </a:solidFill>
                <a:latin typeface="Songti SC"/>
                <a:ea typeface="Songti SC"/>
                <a:cs typeface="Songti SC"/>
              </a:rPr>
              <a:t>聊</a:t>
            </a:r>
          </a:p>
        </p:txBody>
      </p:sp>
      <p:sp>
        <p:nvSpPr>
          <p:cNvPr id="6" name="Oval 5"/>
          <p:cNvSpPr/>
          <p:nvPr/>
        </p:nvSpPr>
        <p:spPr>
          <a:xfrm>
            <a:off x="4412301" y="2400300"/>
            <a:ext cx="914400" cy="914400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412301" y="26289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000" b="0">
                <a:solidFill>
                  <a:srgbClr val="BDB4A6"/>
                </a:solidFill>
                <a:latin typeface="Songti SC"/>
                <a:ea typeface="Songti SC"/>
                <a:cs typeface="Songti SC"/>
              </a:rPr>
              <a:t>记</a:t>
            </a:r>
          </a:p>
        </p:txBody>
      </p:sp>
      <p:sp>
        <p:nvSpPr>
          <p:cNvPr id="8" name="Oval 7"/>
          <p:cNvSpPr/>
          <p:nvPr/>
        </p:nvSpPr>
        <p:spPr>
          <a:xfrm>
            <a:off x="4412301" y="4274820"/>
            <a:ext cx="914400" cy="914400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12301" y="45034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000" b="0">
                <a:solidFill>
                  <a:srgbClr val="BDB4A6"/>
                </a:solidFill>
                <a:latin typeface="Songti SC"/>
                <a:ea typeface="Songti SC"/>
                <a:cs typeface="Songti SC"/>
              </a:rPr>
              <a:t>认</a:t>
            </a:r>
          </a:p>
        </p:txBody>
      </p:sp>
      <p:sp>
        <p:nvSpPr>
          <p:cNvPr id="10" name="Oval 9"/>
          <p:cNvSpPr/>
          <p:nvPr/>
        </p:nvSpPr>
        <p:spPr>
          <a:xfrm>
            <a:off x="2788920" y="5212080"/>
            <a:ext cx="914400" cy="914400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788920" y="54406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000" b="0">
                <a:solidFill>
                  <a:srgbClr val="BDB4A6"/>
                </a:solidFill>
                <a:latin typeface="Songti SC"/>
                <a:ea typeface="Songti SC"/>
                <a:cs typeface="Songti SC"/>
              </a:rPr>
              <a:t>用</a:t>
            </a:r>
          </a:p>
        </p:txBody>
      </p:sp>
      <p:sp>
        <p:nvSpPr>
          <p:cNvPr id="12" name="Oval 11"/>
          <p:cNvSpPr/>
          <p:nvPr/>
        </p:nvSpPr>
        <p:spPr>
          <a:xfrm>
            <a:off x="1165538" y="4274820"/>
            <a:ext cx="914400" cy="914400"/>
          </a:xfrm>
          <a:prstGeom prst="ellipse">
            <a:avLst/>
          </a:prstGeom>
          <a:solidFill>
            <a:srgbClr val="E3A35A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65538" y="45034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1">
                <a:solidFill>
                  <a:srgbClr val="1A140C"/>
                </a:solidFill>
                <a:latin typeface="Songti SC"/>
                <a:ea typeface="Songti SC"/>
                <a:cs typeface="Songti SC"/>
              </a:rPr>
              <a:t>回访</a:t>
            </a:r>
          </a:p>
        </p:txBody>
      </p:sp>
      <p:sp>
        <p:nvSpPr>
          <p:cNvPr id="14" name="Oval 13"/>
          <p:cNvSpPr/>
          <p:nvPr/>
        </p:nvSpPr>
        <p:spPr>
          <a:xfrm>
            <a:off x="1165538" y="2400300"/>
            <a:ext cx="914400" cy="914400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65538" y="26289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000" b="0">
                <a:solidFill>
                  <a:srgbClr val="BDB4A6"/>
                </a:solidFill>
                <a:latin typeface="Songti SC"/>
                <a:ea typeface="Songti SC"/>
                <a:cs typeface="Songti SC"/>
              </a:rPr>
              <a:t>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6118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第一步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14300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每一次商量，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都留下一条可以回访的判断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69748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每一次回访，都让知君对这个人的理解更准确。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第二步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931920"/>
            <a:ext cx="629412" cy="38404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09360" y="3931920"/>
            <a:ext cx="6294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确认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6204" y="393192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40524" y="3931920"/>
            <a:ext cx="629412" cy="38404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240524" y="3931920"/>
            <a:ext cx="6294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发布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7368" y="393192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1688" y="3931920"/>
            <a:ext cx="966216" cy="38404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71688" y="3931920"/>
            <a:ext cx="9662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授权问答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5336" y="393192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4480560"/>
            <a:ext cx="966216" cy="38404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309360" y="4480560"/>
            <a:ext cx="9662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本人接续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03008" y="448056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77328" y="4480560"/>
            <a:ext cx="1134618" cy="38404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577328" y="4480560"/>
            <a:ext cx="1134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经确认回流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5340096"/>
            <a:ext cx="36576" cy="56692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0528" y="5303520"/>
            <a:ext cx="48280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没有第一步，第二步只是一个读过你文件的问答机器人。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差异落在「判断」，而不是「内容」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83879" y="1691640"/>
            <a:ext cx="3136392" cy="3291839"/>
          </a:xfrm>
          <a:prstGeom prst="roundRect">
            <a:avLst>
              <a:gd name="adj" fmla="val 4000"/>
            </a:avLst>
          </a:prstGeom>
          <a:solidFill>
            <a:srgbClr val="2C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33271" y="1691640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4872" y="1691640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通用 AI 助手与陪伴产品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0952" y="1691640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Delphi 等数字分身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48471" y="1691640"/>
            <a:ext cx="28620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知君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2350008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33271" y="2350008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2" y="2350008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完成任务，或提高使用时长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0952" y="2350008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放大公开影响力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350008"/>
            <a:ext cx="28620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帮本人认识自己、做好判断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3008376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33271" y="3008376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素材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872" y="3008376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对话与工作数据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00837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公开作品（书、文章、播客、课程）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1" y="3008376"/>
            <a:ext cx="28620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长期对话中形成的判断及其结果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8680" y="3666744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33271" y="3666744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数据在哪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3666744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952" y="3666744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平台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1" y="3666744"/>
            <a:ext cx="28620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本人的盒子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8680" y="4325112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33271" y="4325112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对外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4872" y="4325112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0952" y="4325112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默认对外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8471" y="4325112"/>
            <a:ext cx="28620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默认私密，逐条确认后经单向阀门发布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68680" y="4983479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68680" y="5294376"/>
            <a:ext cx="36576" cy="84124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69848" y="5257800"/>
            <a:ext cx="49194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公开作品谁都能读到；一个人怎么做决定、后来对不对，只有长期陪他商量和复盘的知君才拿得到。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5294376"/>
            <a:ext cx="36576" cy="841248"/>
          </a:xfrm>
          <a:prstGeom prst="rect">
            <a:avLst/>
          </a:prstGeom>
          <a:solidFill>
            <a:srgbClr val="7F77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19088" y="5257800"/>
            <a:ext cx="49194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我们的劣势：连接一个盒子比打开一个网页链接麻烦。来访入口的轻量化，是第二步要解决的产品问题。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商业模式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对标教练与咨询，不对标工具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83080"/>
            <a:ext cx="3346704" cy="1600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43000" y="1993392"/>
            <a:ext cx="720090" cy="292608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1993392"/>
            <a:ext cx="72009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第一步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硬件销售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8036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私人记忆盒子，软硬件一体交付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783080"/>
            <a:ext cx="3346704" cy="1600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4690872" y="1993392"/>
            <a:ext cx="862584" cy="292608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90872" y="1993392"/>
            <a:ext cx="86258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第一步起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4231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持续订阅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88036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模型增强、资料整理、维护支持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3" y="1783080"/>
            <a:ext cx="3346704" cy="1600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8238744" y="1993392"/>
            <a:ext cx="720090" cy="29260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38744" y="1993392"/>
            <a:ext cx="72009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第二步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4231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咨询分成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88036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经知君交付与结算的收费咨询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657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定价原则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005072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97280" y="418795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内容不流经我们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订阅、连接与结算服务只处理职责所需的信息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9584" y="4005072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758184" y="418795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停付后仍能打开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58184" y="4572000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本体与对话归本人，可查看、导出、迁移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4005072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19088" y="418795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价值在判断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4572000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不在功能数量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51392" y="4005072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79992" y="418795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不按使用频次计价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9992" y="4572000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不让「多聊」成为收入来源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715000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价格、订阅权益和分成比例将根据首批用户的使用和交付成本确定；本册不使用未经验证的收入预测。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验证指标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北极星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88720"/>
            <a:ext cx="104543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F4CD96"/>
                </a:solidFill>
                <a:latin typeface="Songti SC"/>
                <a:ea typeface="Songti SC"/>
                <a:cs typeface="Songti SC"/>
              </a:rPr>
              <a:t>每月形成可以回访的判断的次数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不用使用时长或对话次数。情绪价值无法在不读取内容的前提下度量，硬套代理指标会诱导产品制造依赖——这与「把人推回人」相冲突。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611880"/>
            <a:ext cx="758952" cy="329184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7589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第一步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3429000"/>
            <a:ext cx="8961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用户是否愿意说真话；判断回访是否被认为有价值；三个月后是否仍在使用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4178808"/>
            <a:ext cx="10454335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" y="4389120"/>
            <a:ext cx="758952" cy="329184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389120"/>
            <a:ext cx="7589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第二步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4206240"/>
            <a:ext cx="8961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发布的内容是否得到本人认可；来访者是否得到帮助、是否再次访问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8680" y="4956048"/>
            <a:ext cx="10454335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" y="5166360"/>
            <a:ext cx="603503" cy="329184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166360"/>
            <a:ext cx="60350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经营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4983480"/>
            <a:ext cx="8961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盒子的交付与服务成本；整机与订阅的付费意愿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5733288"/>
            <a:ext cx="10454335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增长路径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在真实处境中使用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通过半人马 AI 学院、经营者社群和顾问社群，邀请首批用户。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97480"/>
            <a:ext cx="2240280" cy="12344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852928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成为主人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33756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经营者 / 顾问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54680" y="3310128"/>
            <a:ext cx="384048" cy="0"/>
          </a:xfrm>
          <a:prstGeom prst="line">
            <a:avLst/>
          </a:prstGeom>
          <a:ln w="19050">
            <a:solidFill>
              <a:srgbClr val="E3A3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84448" y="2697480"/>
            <a:ext cx="2240280" cy="12344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84448" y="2852928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持续使用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333756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第一步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70448" y="3310128"/>
            <a:ext cx="384048" cy="0"/>
          </a:xfrm>
          <a:prstGeom prst="line">
            <a:avLst/>
          </a:prstGeom>
          <a:ln w="19050">
            <a:solidFill>
              <a:srgbClr val="82BB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300216" y="2697480"/>
            <a:ext cx="2240280" cy="12344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0216" y="2852928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发布角色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333756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顾问邀请客户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86216" y="3310128"/>
            <a:ext cx="384047" cy="0"/>
          </a:xfrm>
          <a:prstGeom prst="line">
            <a:avLst/>
          </a:prstGeom>
          <a:ln w="19050">
            <a:solidFill>
              <a:srgbClr val="82BB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15984" y="2697480"/>
            <a:ext cx="2240280" cy="12344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15984" y="2852928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新主人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333756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客户中出现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136124" y="3950208"/>
            <a:ext cx="0" cy="484632"/>
          </a:xfrm>
          <a:prstGeom prst="line">
            <a:avLst/>
          </a:prstGeom>
          <a:ln w="15875">
            <a:solidFill>
              <a:srgbClr val="82BBA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988819" y="4434840"/>
            <a:ext cx="8147305" cy="0"/>
          </a:xfrm>
          <a:prstGeom prst="line">
            <a:avLst/>
          </a:prstGeom>
          <a:ln w="15875">
            <a:solidFill>
              <a:srgbClr val="82BBA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988819" y="3977639"/>
            <a:ext cx="0" cy="457201"/>
          </a:xfrm>
          <a:prstGeom prst="line">
            <a:avLst/>
          </a:prstGeom>
          <a:ln w="15875">
            <a:solidFill>
              <a:srgbClr val="82BBAD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868680" y="5065776"/>
            <a:ext cx="36576" cy="475488"/>
          </a:xfrm>
          <a:prstGeom prst="rect">
            <a:avLst/>
          </a:prstGeom>
          <a:solidFill>
            <a:srgbClr val="7F77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69848" y="5029200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「顾问邀请客户，再产生新的盒子主人」是一个需要通过实际使用验证的增长假设。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产品演进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从一个人的上下文出发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68680" y="2331720"/>
            <a:ext cx="10454335" cy="0"/>
          </a:xfrm>
          <a:prstGeom prst="line">
            <a:avLst/>
          </a:prstGeom>
          <a:ln w="25400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86967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68680" y="2697480"/>
            <a:ext cx="2450592" cy="24688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43000" y="292608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知己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474720"/>
            <a:ext cx="19476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个人本体、当下商量、判断回访、内观、边界与危机处理</a:t>
            </a:r>
          </a:p>
        </p:txBody>
      </p:sp>
      <p:sp>
        <p:nvSpPr>
          <p:cNvPr id="9" name="Oval 8"/>
          <p:cNvSpPr/>
          <p:nvPr/>
        </p:nvSpPr>
        <p:spPr>
          <a:xfrm>
            <a:off x="3547872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529584" y="2697480"/>
            <a:ext cx="2450592" cy="24688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803904" y="292608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分身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3904" y="3474720"/>
            <a:ext cx="19476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单向阀门、多角色、案例脱敏、授权访问、本人接续</a:t>
            </a:r>
          </a:p>
        </p:txBody>
      </p:sp>
      <p:sp>
        <p:nvSpPr>
          <p:cNvPr id="13" name="Oval 12"/>
          <p:cNvSpPr/>
          <p:nvPr/>
        </p:nvSpPr>
        <p:spPr>
          <a:xfrm>
            <a:off x="6208776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190488" y="2697480"/>
            <a:ext cx="2450592" cy="24688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64808" y="292608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商业闭环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3474720"/>
            <a:ext cx="19476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整机、订阅与收费咨询的权益、交付和结算</a:t>
            </a:r>
          </a:p>
        </p:txBody>
      </p:sp>
      <p:sp>
        <p:nvSpPr>
          <p:cNvPr id="17" name="Oval 16"/>
          <p:cNvSpPr/>
          <p:nvPr/>
        </p:nvSpPr>
        <p:spPr>
          <a:xfrm>
            <a:off x="8869680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851392" y="2697480"/>
            <a:ext cx="2450592" cy="24688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25712" y="292608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长期上下文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3474720"/>
            <a:ext cx="19476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接入录音设备，降低记录经历的成本；涉及他人的录音须先解决知情同意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577840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以上是演进规划。整机本地运行、多角色、跨网络授权和迁移等能力，以实际版本验收为准。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风险与应对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先找到「什么不能出去」的那条线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1783080"/>
            <a:ext cx="182879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情绪安全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36392" y="1783080"/>
            <a:ext cx="807415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危机对话不进入记忆；求助渠道上线前逐条核实；负面情绪不作为主动提起的优先依据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2587752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33271" y="2587752"/>
            <a:ext cx="182879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用户依赖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6392" y="2587752"/>
            <a:ext cx="807415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「把人推回人」作为不可关闭的原则；北极星不按时长计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3392424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33271" y="3392424"/>
            <a:ext cx="182879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第二步隐私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3392424"/>
            <a:ext cx="807415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单向阀门；内观分区永不可发布；案例脱敏与本人确认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4197096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33271" y="4197096"/>
            <a:ext cx="182879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推送外泄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4197096"/>
            <a:ext cx="807415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心里的事不进任何推送；判断回访只在本人标为「私人」的渠道带内容，其他渠道只提醒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" y="5001768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33271" y="5001768"/>
            <a:ext cx="182879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技术上游集中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5001768"/>
            <a:ext cx="807415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底座与万象共用开源平台，知君只承担判断、照见与边界三层，保持可替换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8680" y="5806440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团队与合作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半人马人工智能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知君作为面向个人的产品推进，底座研发与万象协同。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377440"/>
            <a:ext cx="3346704" cy="19202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88719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嘉木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19" y="32461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创始人 / CEO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19" y="36576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产品与商业化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2377440"/>
            <a:ext cx="3346704" cy="19202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36592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龙细平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592" y="32461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联合创始人 / 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36576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十多年大数据经验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64423" y="2377440"/>
            <a:ext cx="3346704" cy="19202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84463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章高弘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3" y="32461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联合创始人 / CSO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36576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A 股上市公司联合创始人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709160"/>
            <a:ext cx="10454335" cy="1143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7F77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34440" y="4709160"/>
            <a:ext cx="9722815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融资计划　</a:t>
            </a:r>
            <a:r>
              <a:rPr sz="16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【待填：本轮金额、资金用途（研发 / 硬件 / 首批交付）、未来 12–18 个月的里程碑】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5715000" y="1216152"/>
            <a:ext cx="768096" cy="438912"/>
          </a:xfrm>
          <a:custGeom>
            <a:avLst/>
            <a:gdLst/>
            <a:ahLst/>
            <a:cxnLst/>
            <a:rect l="l" t="t" r="r" b="b"/>
            <a:pathLst>
              <a:path w="768096" h="438912">
                <a:moveTo>
                  <a:pt x="384048" y="0"/>
                </a:moveTo>
                <a:lnTo>
                  <a:pt x="768096" y="219456"/>
                </a:lnTo>
                <a:lnTo>
                  <a:pt x="384048" y="438912"/>
                </a:lnTo>
                <a:lnTo>
                  <a:pt x="0" y="219456"/>
                </a:lnTo>
                <a:close/>
              </a:path>
            </a:pathLst>
          </a:custGeom>
          <a:solidFill>
            <a:srgbClr val="F4CD96">
              <a:alpha val="12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715000" y="1435608"/>
            <a:ext cx="384048" cy="658368"/>
          </a:xfrm>
          <a:custGeom>
            <a:avLst/>
            <a:gdLst/>
            <a:ahLst/>
            <a:cxnLst/>
            <a:rect l="l" t="t" r="r" b="b"/>
            <a:pathLst>
              <a:path w="384048" h="658368">
                <a:moveTo>
                  <a:pt x="0" y="0"/>
                </a:moveTo>
                <a:lnTo>
                  <a:pt x="384048" y="219456"/>
                </a:lnTo>
                <a:lnTo>
                  <a:pt x="384048" y="658368"/>
                </a:lnTo>
                <a:lnTo>
                  <a:pt x="0" y="438911"/>
                </a:lnTo>
                <a:close/>
              </a:path>
            </a:pathLst>
          </a:custGeom>
          <a:solidFill>
            <a:srgbClr val="E3A35A">
              <a:alpha val="6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099048" y="1435608"/>
            <a:ext cx="384048" cy="658368"/>
          </a:xfrm>
          <a:custGeom>
            <a:avLst/>
            <a:gdLst/>
            <a:ahLst/>
            <a:cxnLst/>
            <a:rect l="l" t="t" r="r" b="b"/>
            <a:pathLst>
              <a:path w="384048" h="658368">
                <a:moveTo>
                  <a:pt x="384048" y="0"/>
                </a:moveTo>
                <a:lnTo>
                  <a:pt x="0" y="219456"/>
                </a:lnTo>
                <a:lnTo>
                  <a:pt x="0" y="658368"/>
                </a:lnTo>
                <a:lnTo>
                  <a:pt x="384048" y="438911"/>
                </a:lnTo>
                <a:close/>
              </a:path>
            </a:pathLst>
          </a:custGeom>
          <a:solidFill>
            <a:srgbClr val="E3A35A">
              <a:alpha val="15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788920"/>
            <a:ext cx="1045433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3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让一个人更认识自己，</a:t>
            </a:r>
          </a:p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3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再让他愿意分享的那部分，帮到更多人。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120640"/>
            <a:ext cx="10454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知君 · 半人马人工智能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