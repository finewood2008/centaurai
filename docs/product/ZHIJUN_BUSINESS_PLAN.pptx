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知君由个人本体和个人分身组成。先讲价值，再讲未来：一个人 → 一群人 → 一代人。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今天的 AI 懂任务，不懂人。大模型第一次让长期理解一个人成为可能。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两部分都是核心：本体帮你认识自己，分身让你确认过的经验被授权的人用到。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右侧对话为示意，不是真实用户对话。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用得越久，本体越准；本体越准，分身越有价值；分身越有价值，本人越愿意持续积累。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数据归属作为价值来讲：持有、带走、延续。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「通用 AI 助手」「数字分身产品」两栏是概括，对外使用前请核对。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未来沿一条线展开：一个人被理解、一群人相互连接、一代人的经验延续。终点是经验经济。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同伴之间相互授权分身。AI 私董会的落点是真人见面。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组织记忆的口径：本体永远归个人，企业使用的是个人愿意发布给分身的那部分。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个人上下文入口是远景，不是近期计划。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7772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半人马人工智能 · 商业计划书 · 2026 年 10 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0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个人本体 + 个人分身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一个人一生积累的判断和经验，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是最有价值、也最容易流失的资产。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知君帮你认识自己，也让你的经验被更多人用到。</a:t>
            </a:r>
          </a:p>
        </p:txBody>
      </p:sp>
      <p:sp>
        <p:nvSpPr>
          <p:cNvPr id="6" name="Oval 5"/>
          <p:cNvSpPr/>
          <p:nvPr/>
        </p:nvSpPr>
        <p:spPr>
          <a:xfrm>
            <a:off x="7644383" y="1731873"/>
            <a:ext cx="3364991" cy="3364991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317382" y="2404872"/>
            <a:ext cx="2018995" cy="2018995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8149132" y="2068372"/>
            <a:ext cx="2355495" cy="1345997"/>
          </a:xfrm>
          <a:custGeom>
            <a:avLst/>
            <a:gdLst/>
            <a:ahLst/>
            <a:cxnLst/>
            <a:rect l="l" t="t" r="r" b="b"/>
            <a:pathLst>
              <a:path w="2355495" h="1345997">
                <a:moveTo>
                  <a:pt x="1177748" y="0"/>
                </a:moveTo>
                <a:lnTo>
                  <a:pt x="2355495" y="672999"/>
                </a:lnTo>
                <a:lnTo>
                  <a:pt x="1177748" y="1345997"/>
                </a:lnTo>
                <a:lnTo>
                  <a:pt x="0" y="672999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8149132" y="2741371"/>
            <a:ext cx="1177748" cy="2018995"/>
          </a:xfrm>
          <a:custGeom>
            <a:avLst/>
            <a:gdLst/>
            <a:ahLst/>
            <a:cxnLst/>
            <a:rect l="l" t="t" r="r" b="b"/>
            <a:pathLst>
              <a:path w="1177748" h="2018995">
                <a:moveTo>
                  <a:pt x="0" y="0"/>
                </a:moveTo>
                <a:lnTo>
                  <a:pt x="1177748" y="672998"/>
                </a:lnTo>
                <a:lnTo>
                  <a:pt x="1177748" y="2018995"/>
                </a:lnTo>
                <a:lnTo>
                  <a:pt x="0" y="1345997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326880" y="2741371"/>
            <a:ext cx="1177747" cy="2018995"/>
          </a:xfrm>
          <a:custGeom>
            <a:avLst/>
            <a:gdLst/>
            <a:ahLst/>
            <a:cxnLst/>
            <a:rect l="l" t="t" r="r" b="b"/>
            <a:pathLst>
              <a:path w="1177747" h="2018995">
                <a:moveTo>
                  <a:pt x="1177747" y="0"/>
                </a:moveTo>
                <a:lnTo>
                  <a:pt x="0" y="672998"/>
                </a:lnTo>
                <a:lnTo>
                  <a:pt x="0" y="2018995"/>
                </a:lnTo>
                <a:lnTo>
                  <a:pt x="1177747" y="1345997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60919" y="1234439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119104" y="142646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077456" y="4151376"/>
            <a:ext cx="109728" cy="109728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301984" y="380390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93024" y="87782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561319" y="5623560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机会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AI 正在改变每个人做事的方式，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但还没有一个 AI 真正认识你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今天的 AI 懂任务，不懂人。一个人最有价值的东西——在意什么、怎么做决定、后来对不对——仍然只在他自己的脑子里：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没有被好好保存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换一个工具、过几年，就散了。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0268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50307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0307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要拿主意时，身边没有能说真话的人。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063240"/>
            <a:ext cx="3337560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11896" y="33375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没有被好好分享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3867911"/>
            <a:ext cx="26974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经验只能靠本人一次次亲自讲。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065776"/>
            <a:ext cx="36576" cy="65836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69848" y="5029200"/>
            <a:ext cx="10253167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大模型第一次让「长期理解一个人」成为可能。知君把一个人的判断与经验，变成他自己持有、持续生长、可以分享的资产。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孤独来自位置，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不是性格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6032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首批用户：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企业经营者、高管、独立顾问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他们的决定影响很多人，却要独自拿主意；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他们积累了大量经验，却只能靠有限的时间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一点点传递。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他们需要</a:t>
            </a:r>
            <a:r>
              <a:rPr sz="16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一个真正懂自己的知己</a:t>
            </a: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和</a:t>
            </a: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一个能替自己分享经验的分身</a:t>
            </a: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9052560" y="1645920"/>
            <a:ext cx="0" cy="19659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05256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52560" y="3611880"/>
            <a:ext cx="0" cy="19659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08660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0" y="2423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526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5" name="Oval 14"/>
          <p:cNvSpPr/>
          <p:nvPr/>
        </p:nvSpPr>
        <p:spPr>
          <a:xfrm>
            <a:off x="8485632" y="3044952"/>
            <a:ext cx="1133856" cy="1133856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03920" y="33375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7" name="Oval 16"/>
          <p:cNvSpPr/>
          <p:nvPr/>
        </p:nvSpPr>
        <p:spPr>
          <a:xfrm>
            <a:off x="8613648" y="120700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0" y="1417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</a:t>
            </a:r>
          </a:p>
        </p:txBody>
      </p:sp>
      <p:sp>
        <p:nvSpPr>
          <p:cNvPr id="19" name="Oval 18"/>
          <p:cNvSpPr/>
          <p:nvPr/>
        </p:nvSpPr>
        <p:spPr>
          <a:xfrm>
            <a:off x="1057960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56132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合伙人</a:t>
            </a:r>
          </a:p>
        </p:txBody>
      </p:sp>
      <p:sp>
        <p:nvSpPr>
          <p:cNvPr id="21" name="Oval 20"/>
          <p:cNvSpPr/>
          <p:nvPr/>
        </p:nvSpPr>
        <p:spPr>
          <a:xfrm>
            <a:off x="8613648" y="5138927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0" y="5349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家人</a:t>
            </a:r>
          </a:p>
        </p:txBody>
      </p:sp>
      <p:sp>
        <p:nvSpPr>
          <p:cNvPr id="23" name="Oval 22"/>
          <p:cNvSpPr/>
          <p:nvPr/>
        </p:nvSpPr>
        <p:spPr>
          <a:xfrm>
            <a:off x="664768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客户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本体是你，分身是你允许别人看到的你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知君是一只私人记忆盒子，由两部分组成，都是核心。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4572000" cy="342900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63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认识自己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通过长期对话，知君越来越了解你：在意什么、怎么做决定、后来对不对。要拿主意时陪你商量，结果回来时陪你复盘。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272" y="2514600"/>
            <a:ext cx="4572000" cy="3429000"/>
          </a:xfrm>
          <a:prstGeom prst="roundRect">
            <a:avLst>
              <a:gd name="adj" fmla="val 8000"/>
            </a:avLst>
          </a:prstGeom>
          <a:solidFill>
            <a:srgbClr val="23282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14032" y="2743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个人分身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4032" y="3063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分享经验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4032" y="402336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你把确认过的经验交给分身，授权的客户、学员和合作方随时可以来问，复杂的问题再由你亲自接续。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4114800"/>
            <a:ext cx="1069848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94960" y="4297680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你确认的经验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一个真正懂你的知己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情绪价值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39" y="1856231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一个没有利害关系的知己。身边任何人都做不到这一点：可以说真话，可以袒露心声。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898648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8680" y="30632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判断价值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3090672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拿主意时调用你自己的原则和经历；几周后回来问「现在回看怎么样」。同样的错不再犯第二次。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133087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68680" y="42976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复利价值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4325112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每一次对话都让理解更准确。这份积累只属于你，用得越久越有价值。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5367528"/>
            <a:ext cx="5806440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86600" y="1051560"/>
            <a:ext cx="4251960" cy="5120640"/>
          </a:xfrm>
          <a:prstGeom prst="roundRect">
            <a:avLst>
              <a:gd name="adj" fmla="val 6000"/>
            </a:avLst>
          </a:prstGeom>
          <a:solidFill>
            <a:srgbClr val="141210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123444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今天 · 示意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926080" cy="123444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43800" y="1847088"/>
            <a:ext cx="25603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上个月你决定先不扩招。当时你最担心的是现金流——现在回看，这个顾虑还在吗？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54680"/>
            <a:ext cx="2926080" cy="685800"/>
          </a:xfrm>
          <a:prstGeom prst="roundRect">
            <a:avLst>
              <a:gd name="adj" fmla="val 15000"/>
            </a:avLst>
          </a:prstGeom>
          <a:solidFill>
            <a:srgbClr val="3A2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3264408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还在。但另一件事更让我睡不着。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4023360"/>
            <a:ext cx="2926080" cy="96012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43800" y="4133088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愿意说说是哪件事吗？不急，想到哪儿说到哪儿。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让经验被更多人用到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4712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经验被放大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一个人一天只有那么多时间，分身可以同时回答很多人的问题。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85616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时间被释放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5616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反复出现的问题交给分身，本人把时间留给真正需要自己判断的事。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经验变成收入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分身回答第一层问题，复杂的由本人接续。从知识到收费咨询，有了一条自然的通道。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1828800"/>
            <a:ext cx="2468880" cy="2743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07424" y="2057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判断是分身的灵魂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424" y="2606040"/>
            <a:ext cx="1993392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别的分身只读得到你公开发表的内容；知君的分身来自你亲自确认的判断，回答的是「你会怎么想」。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29200"/>
            <a:ext cx="1199388" cy="438912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5029200"/>
            <a:ext cx="11993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来访者提问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2932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3828" y="5029200"/>
            <a:ext cx="1562100" cy="438912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433828" y="5029200"/>
            <a:ext cx="15621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分身回答第一层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1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1688" y="5029200"/>
            <a:ext cx="1743456" cy="438912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61688" y="5029200"/>
            <a:ext cx="17434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本人接续关键问题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0008" y="5029200"/>
            <a:ext cx="274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0904" y="5029200"/>
            <a:ext cx="1018032" cy="438912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70904" y="5029200"/>
            <a:ext cx="101803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收费咨询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飞轮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737360"/>
            <a:ext cx="3931920" cy="3931920"/>
          </a:xfrm>
          <a:prstGeom prst="ellipse">
            <a:avLst/>
          </a:prstGeom>
          <a:noFill/>
          <a:ln w="254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4383394" y="2048816"/>
            <a:ext cx="128016" cy="128016"/>
          </a:xfrm>
          <a:prstGeom prst="ellipse">
            <a:avLst/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738628" y="1499616"/>
            <a:ext cx="1106424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738628" y="1499616"/>
            <a:ext cx="110642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长期对话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7763" y="2858060"/>
            <a:ext cx="1627632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47763" y="2858060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本体越来越懂你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3586" y="5056071"/>
            <a:ext cx="1627632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3586" y="5056071"/>
            <a:ext cx="16276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分身越来越像你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09329" y="5056071"/>
            <a:ext cx="1453896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09329" y="5056071"/>
            <a:ext cx="14538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服务更多的人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5152" y="2858060"/>
            <a:ext cx="1453896" cy="47548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152" y="2858060"/>
            <a:ext cx="145389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反馈回到本体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本体与分身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互相成就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80360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用得越久，本体越准；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本体越准，分身越有价值；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分身越有价值，本人越愿意持续积累。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60857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1968" y="4572000"/>
            <a:ext cx="473659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没有本体，分身只是一个读过你文件的问答机器人。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为什么是现在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四股力量正在汇合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19" y="20756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39" y="2121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理解一个人第一次变得可行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39" y="265176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大模型能从长期对话中形成对一个人的理解，这在两年前还做不到。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59" y="207568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79" y="2121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个人 AI 从工具走向伙伴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79" y="265176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人们开始期待一个长期陪伴、真正了解自己的 AI，而不只是更快的搜索框。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319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19" y="417880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39" y="422452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专业服务被时间卡住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39" y="475488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顾问、教练和专家的供给受限于本人的时间，需求却在增长。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17880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79" y="422452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人们越来越在意积累归谁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4754880"/>
            <a:ext cx="37947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愿意交出的理解越深，就越需要确信它属于自己。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为什么是盒子</a:t>
            </a:r>
          </a:p>
        </p:txBody>
      </p:sp>
      <p:sp>
        <p:nvSpPr>
          <p:cNvPr id="3" name="Oval 2"/>
          <p:cNvSpPr/>
          <p:nvPr/>
        </p:nvSpPr>
        <p:spPr>
          <a:xfrm>
            <a:off x="1353312" y="1967788"/>
            <a:ext cx="3145536" cy="3145536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982419" y="2596896"/>
            <a:ext cx="1887321" cy="1887321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1825142" y="2282342"/>
            <a:ext cx="2201875" cy="1258214"/>
          </a:xfrm>
          <a:custGeom>
            <a:avLst/>
            <a:gdLst/>
            <a:ahLst/>
            <a:cxnLst/>
            <a:rect l="l" t="t" r="r" b="b"/>
            <a:pathLst>
              <a:path w="2201875" h="1258214">
                <a:moveTo>
                  <a:pt x="1100938" y="0"/>
                </a:moveTo>
                <a:lnTo>
                  <a:pt x="2201875" y="629107"/>
                </a:lnTo>
                <a:lnTo>
                  <a:pt x="1100938" y="1258214"/>
                </a:lnTo>
                <a:lnTo>
                  <a:pt x="0" y="629107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825142" y="2911449"/>
            <a:ext cx="1100938" cy="1887322"/>
          </a:xfrm>
          <a:custGeom>
            <a:avLst/>
            <a:gdLst/>
            <a:ahLst/>
            <a:cxnLst/>
            <a:rect l="l" t="t" r="r" b="b"/>
            <a:pathLst>
              <a:path w="1100938" h="1887322">
                <a:moveTo>
                  <a:pt x="0" y="0"/>
                </a:moveTo>
                <a:lnTo>
                  <a:pt x="1100938" y="629107"/>
                </a:lnTo>
                <a:lnTo>
                  <a:pt x="1100938" y="1887322"/>
                </a:lnTo>
                <a:lnTo>
                  <a:pt x="0" y="1258214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26080" y="2911449"/>
            <a:ext cx="1100937" cy="1887322"/>
          </a:xfrm>
          <a:custGeom>
            <a:avLst/>
            <a:gdLst/>
            <a:ahLst/>
            <a:cxnLst/>
            <a:rect l="l" t="t" r="r" b="b"/>
            <a:pathLst>
              <a:path w="1100937" h="1887322">
                <a:moveTo>
                  <a:pt x="1100937" y="0"/>
                </a:moveTo>
                <a:lnTo>
                  <a:pt x="0" y="629107"/>
                </a:lnTo>
                <a:lnTo>
                  <a:pt x="0" y="1887322"/>
                </a:lnTo>
                <a:lnTo>
                  <a:pt x="1100937" y="1258214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783080"/>
            <a:ext cx="5943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你的经验是你的资产，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应该放在你自己的地方。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32461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个人本体和全部对话保存在你自己的盒子里，分身也从这只盒子对外服务。正因为确信内容属于自己，人才会说真话。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9496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持有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带走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617720"/>
            <a:ext cx="1051560" cy="548640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4617720"/>
            <a:ext cx="10515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延续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唯一把「认识自己」和「分享经验」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接在一起的产品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59" y="2377440"/>
            <a:ext cx="2953512" cy="3108960"/>
          </a:xfrm>
          <a:prstGeom prst="roundRect">
            <a:avLst>
              <a:gd name="adj" fmla="val 4000"/>
            </a:avLst>
          </a:prstGeom>
          <a:solidFill>
            <a:srgbClr val="2C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3271" y="237744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237744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通用 AI 助手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9512" y="237744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数字分身产品（如 Delphi）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237744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15468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315468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懂什么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7752" y="315468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懂任务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9512" y="315468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懂你公开说过的话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352" y="315468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懂你怎么做判断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93192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33271" y="3931920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为谁服务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393192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帮你干活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393192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替你对外发声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3931920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先帮你认识自己，再替你分享经验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470915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33271" y="4709159"/>
            <a:ext cx="1280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积累归谁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2" y="4709159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9512" y="4709159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4709159"/>
            <a:ext cx="267919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你自己的盒子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548639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对标教练与咨询，不对标工具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61288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硬件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硬件销售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私人记忆盒子，软硬件一体交付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60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订阅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持续订阅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模型增强、资料整理、维护支持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3" y="1783080"/>
            <a:ext cx="3346704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57031" y="19659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0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6974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咨询分成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3127248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通过分身产生的收费咨询，与主人共同受益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148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价值来自更好的判断和被放大的经验，不来自功能数量。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随着「一群人」和「一代人」展开，还会增加</a:t>
            </a: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私董会会员</a:t>
            </a: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和</a:t>
            </a: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企业服务</a:t>
            </a: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收入。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30352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价格、订阅权益和分成比例将在首批用户验证后确定；本册不使用未经验证的收入预测。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市场拓展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600200"/>
            <a:ext cx="4663440" cy="4663440"/>
          </a:xfrm>
          <a:prstGeom prst="ellipse">
            <a:avLst/>
          </a:prstGeom>
          <a:solidFill>
            <a:srgbClr val="82BBAD">
              <a:alpha val="5000"/>
            </a:srgbClr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63039" y="2834640"/>
            <a:ext cx="3291840" cy="3291840"/>
          </a:xfrm>
          <a:prstGeom prst="ellipse">
            <a:avLst/>
          </a:prstGeom>
          <a:solidFill>
            <a:srgbClr val="E3A35A">
              <a:alpha val="6000"/>
            </a:srgbClr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148839" y="4114800"/>
            <a:ext cx="1920240" cy="1920240"/>
          </a:xfrm>
          <a:prstGeom prst="ellipse">
            <a:avLst/>
          </a:prstGeom>
          <a:solidFill>
            <a:srgbClr val="E3A35A">
              <a:alpha val="18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651760" y="17373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延展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971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相邻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切入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43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切入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16128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企业经营者、高管与独立顾问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55448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最需要好的判断，也最有经验可以分享。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5040" y="221284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35040" y="2331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相邻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35000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培训者、教练与专业工作室负责人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74320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把课程、方法和经验变成可以随时提问的服务。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35040" y="340156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35040" y="3520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延展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538728"/>
            <a:ext cx="4343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知识创作者与更多专业人士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3931920"/>
            <a:ext cx="4343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每个有积累的人，都可以有一个懂自己的知君和一个替自己分享的分身。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4590288"/>
            <a:ext cx="528523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035040" y="4882896"/>
            <a:ext cx="36576" cy="74980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36207" y="4846320"/>
            <a:ext cx="508406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渠道：半人马 AI 学院、经营者社群和顾问社群。顾问邀请客户使用分身，客户中出现新的盒子主人。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未来的可能性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一个人 → 一群人 → 一代人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知君的未来沿着一条线展开，终点是一种新的经验经济。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080260" y="2560320"/>
            <a:ext cx="731520" cy="731520"/>
          </a:xfrm>
          <a:prstGeom prst="ellipse">
            <a:avLst/>
          </a:prstGeom>
          <a:noFill/>
          <a:ln w="15875">
            <a:solidFill>
              <a:srgbClr val="82BB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2235708" y="2715768"/>
            <a:ext cx="420624" cy="420624"/>
          </a:xfrm>
          <a:prstGeom prst="ellipse">
            <a:avLst/>
          </a:prstGeom>
          <a:solidFill>
            <a:srgbClr val="E3A35A">
              <a:alpha val="3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一个人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被真正理解，做更好的决定；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经验被放大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800600"/>
            <a:ext cx="5516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4800600"/>
            <a:ext cx="551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67840" y="4800600"/>
            <a:ext cx="5516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67840" y="4800600"/>
            <a:ext cx="5516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2680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392680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人生之书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3794760"/>
            <a:ext cx="310896" cy="0"/>
          </a:xfrm>
          <a:prstGeom prst="line">
            <a:avLst/>
          </a:prstGeom>
          <a:ln w="19050">
            <a:solidFill>
              <a:srgbClr val="7F77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17136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8" name="Connector 17"/>
          <p:cNvCxnSpPr/>
          <p:nvPr/>
        </p:nvCxnSpPr>
        <p:spPr>
          <a:xfrm flipH="1" flipV="1">
            <a:off x="5545836" y="26974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094476" y="26974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545836" y="29260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4476" y="2926080"/>
            <a:ext cx="548640" cy="22860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45836" y="2697480"/>
            <a:ext cx="1097280" cy="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66460" y="2798064"/>
            <a:ext cx="256032" cy="256032"/>
          </a:xfrm>
          <a:prstGeom prst="ellipse">
            <a:avLst/>
          </a:prstGeom>
          <a:solidFill>
            <a:srgbClr val="E3A35A">
              <a:alpha val="4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5454396" y="26060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551676" y="26060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5454396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551676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791456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一群人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91456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经验相互连接，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孤独的决策者有了同伴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1456" y="4800600"/>
            <a:ext cx="106984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91456" y="4800600"/>
            <a:ext cx="10698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AI 私董会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34456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34456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专家网络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763256" y="3794760"/>
            <a:ext cx="310896" cy="0"/>
          </a:xfrm>
          <a:prstGeom prst="line">
            <a:avLst/>
          </a:prstGeom>
          <a:ln w="19050">
            <a:solidFill>
              <a:srgbClr val="7F77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65592" y="2286000"/>
            <a:ext cx="31546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9331452" y="2761488"/>
            <a:ext cx="301752" cy="137160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852659" y="2990088"/>
            <a:ext cx="301752" cy="118872"/>
          </a:xfrm>
          <a:prstGeom prst="line">
            <a:avLst/>
          </a:prstGeom>
          <a:ln w="15875">
            <a:solidFill>
              <a:srgbClr val="7F77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057132" y="2542032"/>
            <a:ext cx="310896" cy="310896"/>
          </a:xfrm>
          <a:prstGeom prst="ellipse">
            <a:avLst/>
          </a:prstGeom>
          <a:solidFill>
            <a:srgbClr val="E3A35A">
              <a:alpha val="4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9624059" y="2807208"/>
            <a:ext cx="237744" cy="237744"/>
          </a:xfrm>
          <a:prstGeom prst="ellipse">
            <a:avLst/>
          </a:prstGeom>
          <a:solidFill>
            <a:srgbClr val="F4CD96">
              <a:alpha val="20000"/>
            </a:srgbClr>
          </a:solidFill>
          <a:ln w="19050">
            <a:solidFill>
              <a:srgbClr val="F4CD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181844" y="3063240"/>
            <a:ext cx="182880" cy="182880"/>
          </a:xfrm>
          <a:prstGeom prst="ellipse">
            <a:avLst/>
          </a:prstGeom>
          <a:solidFill>
            <a:srgbClr val="82BBAD">
              <a:alpha val="30000"/>
            </a:srgbClr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439912" y="352044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一代人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39912" y="4069080"/>
            <a:ext cx="2606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经验延续下去，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不随人离开而流失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9912" y="4800600"/>
            <a:ext cx="119938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439912" y="4800600"/>
            <a:ext cx="11993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家族与企业传承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12452" y="4800600"/>
            <a:ext cx="810768" cy="274320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712452" y="4800600"/>
            <a:ext cx="8107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组织记忆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561441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69848" y="5577840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终点：</a:t>
            </a: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经验经济</a:t>
            </a: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——当每个专业人士都有分身，经验第一次可以像产品一样持续交付、授权和定价。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 · 一个人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本体和分身之上，近期还会长出三样东西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1280160" y="2194560"/>
            <a:ext cx="347471" cy="603504"/>
          </a:xfrm>
          <a:custGeom>
            <a:avLst/>
            <a:gdLst/>
            <a:ahLst/>
            <a:cxnLst/>
            <a:rect l="l" t="t" r="r" b="b"/>
            <a:pathLst>
              <a:path w="347471" h="603504">
                <a:moveTo>
                  <a:pt x="347471" y="109728"/>
                </a:moveTo>
                <a:lnTo>
                  <a:pt x="0" y="0"/>
                </a:lnTo>
                <a:lnTo>
                  <a:pt x="0" y="502920"/>
                </a:lnTo>
                <a:lnTo>
                  <a:pt x="347471" y="603504"/>
                </a:lnTo>
                <a:close/>
              </a:path>
            </a:pathLst>
          </a:cu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1627631" y="2194560"/>
            <a:ext cx="347472" cy="603504"/>
          </a:xfrm>
          <a:custGeom>
            <a:avLst/>
            <a:gdLst/>
            <a:ahLst/>
            <a:cxnLst/>
            <a:rect l="l" t="t" r="r" b="b"/>
            <a:pathLst>
              <a:path w="347472" h="603504">
                <a:moveTo>
                  <a:pt x="0" y="109728"/>
                </a:moveTo>
                <a:lnTo>
                  <a:pt x="347472" y="0"/>
                </a:lnTo>
                <a:lnTo>
                  <a:pt x="347472" y="502920"/>
                </a:lnTo>
                <a:lnTo>
                  <a:pt x="0" y="603504"/>
                </a:lnTo>
                <a:close/>
              </a:path>
            </a:pathLst>
          </a:cu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人生之书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从本体整理出一个人的经营思想录、回忆录。这是本体最看得见的成果，也可以是一件高价单品。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828032" y="2386584"/>
            <a:ext cx="73152" cy="256032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956048" y="22860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84064" y="2194560"/>
            <a:ext cx="73152" cy="64008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212080" y="2322576"/>
            <a:ext cx="73152" cy="384048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340096" y="2240280"/>
            <a:ext cx="73152" cy="548640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468112" y="2368296"/>
            <a:ext cx="73152" cy="292608"/>
          </a:xfrm>
          <a:prstGeom prst="roundRect">
            <a:avLst>
              <a:gd name="adj" fmla="val 50000"/>
            </a:avLst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28032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无感记录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录音笔、可穿戴设备接入，开会和谈话自动进入积累，记录不再是负担。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64423" y="1828800"/>
            <a:ext cx="3346704" cy="3611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ular Callout 18"/>
          <p:cNvSpPr/>
          <p:nvPr/>
        </p:nvSpPr>
        <p:spPr>
          <a:xfrm>
            <a:off x="8375903" y="2194560"/>
            <a:ext cx="713232" cy="475488"/>
          </a:xfrm>
          <a:prstGeom prst="wedgeRoundRectCallout">
            <a:avLst/>
          </a:prstGeom>
          <a:noFill/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75903" y="2194560"/>
            <a:ext cx="7132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3" y="306324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知识付费 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3" y="3611880"/>
            <a:ext cx="2560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不再买一门课，而是拿自己的问题直接问专家的分身，得到的是「他会怎么判断」。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未来 · 一群人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3246120" y="1920240"/>
            <a:ext cx="0" cy="1874520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3246120" y="3215501"/>
            <a:ext cx="1782774" cy="579259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46120" y="3794760"/>
            <a:ext cx="1101815" cy="1516518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2144304" y="3794760"/>
            <a:ext cx="1101816" cy="1516518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463345" y="3215501"/>
            <a:ext cx="1782775" cy="579259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532887" y="3081528"/>
            <a:ext cx="1426464" cy="1426464"/>
          </a:xfrm>
          <a:prstGeom prst="ellipse">
            <a:avLst/>
          </a:prstGeom>
          <a:solidFill>
            <a:srgbClr val="2C251B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06039" y="338328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39" y="38404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和你的知君</a:t>
            </a:r>
          </a:p>
        </p:txBody>
      </p:sp>
      <p:sp>
        <p:nvSpPr>
          <p:cNvPr id="11" name="Oval 10"/>
          <p:cNvSpPr/>
          <p:nvPr/>
        </p:nvSpPr>
        <p:spPr>
          <a:xfrm>
            <a:off x="2715768" y="1389888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43200" y="164592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制造业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同行分身</a:t>
            </a:r>
          </a:p>
        </p:txBody>
      </p:sp>
      <p:sp>
        <p:nvSpPr>
          <p:cNvPr id="13" name="Oval 12"/>
          <p:cNvSpPr/>
          <p:nvPr/>
        </p:nvSpPr>
        <p:spPr>
          <a:xfrm>
            <a:off x="4498542" y="2685149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25974" y="2941181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零售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同行分身</a:t>
            </a:r>
          </a:p>
        </p:txBody>
      </p:sp>
      <p:sp>
        <p:nvSpPr>
          <p:cNvPr id="15" name="Oval 14"/>
          <p:cNvSpPr/>
          <p:nvPr/>
        </p:nvSpPr>
        <p:spPr>
          <a:xfrm>
            <a:off x="3817583" y="4780926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845015" y="503695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投资人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7" name="Oval 16"/>
          <p:cNvSpPr/>
          <p:nvPr/>
        </p:nvSpPr>
        <p:spPr>
          <a:xfrm>
            <a:off x="1613952" y="4780926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84" y="503695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财务顾问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9" name="Oval 18"/>
          <p:cNvSpPr/>
          <p:nvPr/>
        </p:nvSpPr>
        <p:spPr>
          <a:xfrm>
            <a:off x="932993" y="2685149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425" y="2941181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法务顾问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8686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AI 私董会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1719072"/>
            <a:ext cx="310896" cy="310896"/>
          </a:xfrm>
          <a:prstGeom prst="ellipse">
            <a:avLst/>
          </a:prstGeom>
          <a:noFill/>
          <a:ln w="158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16916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6916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先和自己的知君想清楚</a:t>
            </a:r>
          </a:p>
        </p:txBody>
      </p:sp>
      <p:sp>
        <p:nvSpPr>
          <p:cNvPr id="25" name="Oval 24"/>
          <p:cNvSpPr/>
          <p:nvPr/>
        </p:nvSpPr>
        <p:spPr>
          <a:xfrm>
            <a:off x="6172200" y="2176272"/>
            <a:ext cx="310896" cy="310896"/>
          </a:xfrm>
          <a:prstGeom prst="ellipse">
            <a:avLst/>
          </a:prstGeom>
          <a:noFill/>
          <a:ln w="158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72200" y="21488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1488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经授权，听几位同行分身的看法</a:t>
            </a:r>
          </a:p>
        </p:txBody>
      </p:sp>
      <p:sp>
        <p:nvSpPr>
          <p:cNvPr id="28" name="Oval 27"/>
          <p:cNvSpPr/>
          <p:nvPr/>
        </p:nvSpPr>
        <p:spPr>
          <a:xfrm>
            <a:off x="6172200" y="2633472"/>
            <a:ext cx="310896" cy="310896"/>
          </a:xfrm>
          <a:prstGeom prst="ellipse">
            <a:avLst/>
          </a:prstGeom>
          <a:noFill/>
          <a:ln w="158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72200" y="26060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6060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约真人深谈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为孤独而生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54787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私董会本来就是为「位置带来的孤独」存在的，知君让它随时可用。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904487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网络效应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206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圈子里的分身越多，每个人得到的越多。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456285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落点是真人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48646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AI 帮你找到对的人，而不是替代他们。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5385816"/>
            <a:ext cx="36576" cy="61264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73368" y="5349240"/>
            <a:ext cx="491947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私董会之外，授权的分身还能组成专家网络：分身先回答第一层，本人再接深度访谈。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未来 · 一代人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经验延续下去，不随人离开而流失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5120640" cy="3703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371599" y="2194560"/>
            <a:ext cx="1005840" cy="1005840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创始人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41448" y="2697480"/>
            <a:ext cx="2011680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423160" y="224028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「他会怎么想」</a:t>
            </a:r>
          </a:p>
        </p:txBody>
      </p:sp>
      <p:sp>
        <p:nvSpPr>
          <p:cNvPr id="9" name="Oval 8"/>
          <p:cNvSpPr/>
          <p:nvPr/>
        </p:nvSpPr>
        <p:spPr>
          <a:xfrm>
            <a:off x="4526280" y="2240280"/>
            <a:ext cx="914400" cy="914400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26280" y="25146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接班人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204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家族与企业传承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23360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创始人几十年的判断，经本人确认后交给接班人。留下的不只是文件，而是「他会怎么想」。第一代民营企业家正陆续交班，这是一个正在到来的需求。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120640" cy="3703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/>
          <p:nvPr/>
        </p:nvCxnSpPr>
        <p:spPr>
          <a:xfrm flipV="1">
            <a:off x="7726679" y="2304288"/>
            <a:ext cx="1005841" cy="393192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26679" y="2697480"/>
            <a:ext cx="1005841" cy="393192"/>
          </a:xfrm>
          <a:prstGeom prst="line">
            <a:avLst/>
          </a:prstGeom>
          <a:ln w="12700">
            <a:solidFill>
              <a:srgbClr val="82BB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693408" y="2167128"/>
            <a:ext cx="1060704" cy="1060704"/>
          </a:xfrm>
          <a:prstGeom prst="ellipse">
            <a:avLst/>
          </a:prstGeom>
          <a:solidFill>
            <a:srgbClr val="1D2421"/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20840" y="24688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老板的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8" name="Oval 17"/>
          <p:cNvSpPr/>
          <p:nvPr/>
        </p:nvSpPr>
        <p:spPr>
          <a:xfrm>
            <a:off x="8705088" y="2029967"/>
            <a:ext cx="512064" cy="512064"/>
          </a:xfrm>
          <a:prstGeom prst="ellipse">
            <a:avLst/>
          </a:prstGeom>
          <a:solidFill>
            <a:srgbClr val="100F0D"/>
          </a:solidFill>
          <a:ln w="12700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05088" y="2103120"/>
            <a:ext cx="5120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中层</a:t>
            </a:r>
          </a:p>
        </p:txBody>
      </p:sp>
      <p:sp>
        <p:nvSpPr>
          <p:cNvPr id="20" name="Oval 19"/>
          <p:cNvSpPr/>
          <p:nvPr/>
        </p:nvSpPr>
        <p:spPr>
          <a:xfrm>
            <a:off x="8705088" y="2852928"/>
            <a:ext cx="512064" cy="512064"/>
          </a:xfrm>
          <a:prstGeom prst="ellipse">
            <a:avLst/>
          </a:prstGeom>
          <a:solidFill>
            <a:srgbClr val="100F0D"/>
          </a:solidFill>
          <a:ln w="12700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705088" y="2926079"/>
            <a:ext cx="5120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新人</a:t>
            </a:r>
          </a:p>
        </p:txBody>
      </p:sp>
      <p:sp>
        <p:nvSpPr>
          <p:cNvPr id="22" name="Oval 21"/>
          <p:cNvSpPr/>
          <p:nvPr/>
        </p:nvSpPr>
        <p:spPr>
          <a:xfrm>
            <a:off x="9939528" y="2258568"/>
            <a:ext cx="694944" cy="694944"/>
          </a:xfrm>
          <a:prstGeom prst="ellipse">
            <a:avLst/>
          </a:prstGeom>
          <a:noFill/>
          <a:ln w="12700">
            <a:solidFill>
              <a:srgbClr val="7F77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0222992" y="2542032"/>
            <a:ext cx="128016" cy="128016"/>
          </a:xfrm>
          <a:prstGeom prst="ellipse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0" y="30449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员工离开，经验留下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5204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组织记忆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023360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老板的分身回答「老板会怎么想」，中层不用事事请示；关键员工离开，经验不随人走。与半人马的组织产品协同。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751576"/>
            <a:ext cx="36576" cy="42976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69848" y="5715000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本体永远归个人；企业使用的，是个人愿意发布给分身的那部分。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远景 · 经验经济</a:t>
            </a:r>
          </a:p>
        </p:txBody>
      </p:sp>
      <p:sp>
        <p:nvSpPr>
          <p:cNvPr id="3" name="Oval 2"/>
          <p:cNvSpPr/>
          <p:nvPr/>
        </p:nvSpPr>
        <p:spPr>
          <a:xfrm>
            <a:off x="8389068" y="1655073"/>
            <a:ext cx="146304" cy="146304"/>
          </a:xfrm>
          <a:prstGeom prst="ellipse">
            <a:avLst/>
          </a:prstGeom>
          <a:solidFill>
            <a:srgbClr val="E3A35A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365498" y="2859845"/>
            <a:ext cx="54864" cy="54864"/>
          </a:xfrm>
          <a:prstGeom prst="ellipse">
            <a:avLst/>
          </a:prstGeom>
          <a:solidFill>
            <a:srgbClr val="7F776B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90680" y="3142990"/>
            <a:ext cx="54864" cy="54864"/>
          </a:xfrm>
          <a:prstGeom prst="ellipse">
            <a:avLst/>
          </a:prstGeom>
          <a:solidFill>
            <a:srgbClr val="E3A35A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272891" y="3937568"/>
            <a:ext cx="54864" cy="54864"/>
          </a:xfrm>
          <a:prstGeom prst="ellipse">
            <a:avLst/>
          </a:prstGeom>
          <a:solidFill>
            <a:srgbClr val="7F776B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546422" y="3027043"/>
            <a:ext cx="54864" cy="54864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570536" y="3120774"/>
            <a:ext cx="109728" cy="109728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9472484" y="4566345"/>
            <a:ext cx="54864" cy="54864"/>
          </a:xfrm>
          <a:prstGeom prst="ellipse">
            <a:avLst/>
          </a:prstGeom>
          <a:solidFill>
            <a:srgbClr val="7F776B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792316" y="1366882"/>
            <a:ext cx="146304" cy="146304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702923" y="3537672"/>
            <a:ext cx="109728" cy="109728"/>
          </a:xfrm>
          <a:prstGeom prst="ellipse">
            <a:avLst/>
          </a:prstGeom>
          <a:solidFill>
            <a:srgbClr val="82BBA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047886" y="5859753"/>
            <a:ext cx="73152" cy="73152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802465" y="5094117"/>
            <a:ext cx="54864" cy="54864"/>
          </a:xfrm>
          <a:prstGeom prst="ellipse">
            <a:avLst/>
          </a:prstGeom>
          <a:solidFill>
            <a:srgbClr val="7F776B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168285" y="2721717"/>
            <a:ext cx="91440" cy="91440"/>
          </a:xfrm>
          <a:prstGeom prst="ellipse">
            <a:avLst/>
          </a:prstGeom>
          <a:solidFill>
            <a:srgbClr val="82BBA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334735" y="3648825"/>
            <a:ext cx="54864" cy="54864"/>
          </a:xfrm>
          <a:prstGeom prst="ellipse">
            <a:avLst/>
          </a:prstGeom>
          <a:solidFill>
            <a:srgbClr val="82BBAD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113845" y="1052769"/>
            <a:ext cx="146304" cy="146304"/>
          </a:xfrm>
          <a:prstGeom prst="ellipse">
            <a:avLst/>
          </a:prstGeom>
          <a:solidFill>
            <a:srgbClr val="E3A35A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519383" y="5600991"/>
            <a:ext cx="73152" cy="73152"/>
          </a:xfrm>
          <a:prstGeom prst="ellipse">
            <a:avLst/>
          </a:prstGeom>
          <a:solidFill>
            <a:srgbClr val="82BBAD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603920" y="3997191"/>
            <a:ext cx="91440" cy="91440"/>
          </a:xfrm>
          <a:prstGeom prst="ellipse">
            <a:avLst/>
          </a:prstGeom>
          <a:solidFill>
            <a:srgbClr val="E3A35A">
              <a:alpha val="8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114046" y="3398989"/>
            <a:ext cx="146304" cy="146304"/>
          </a:xfrm>
          <a:prstGeom prst="ellipse">
            <a:avLst/>
          </a:prstGeom>
          <a:solidFill>
            <a:srgbClr val="E3A35A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0046660" y="4332482"/>
            <a:ext cx="146304" cy="146304"/>
          </a:xfrm>
          <a:prstGeom prst="ellipse">
            <a:avLst/>
          </a:prstGeom>
          <a:solidFill>
            <a:srgbClr val="82BBAD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706732" y="4494322"/>
            <a:ext cx="54864" cy="54864"/>
          </a:xfrm>
          <a:prstGeom prst="ellipse">
            <a:avLst/>
          </a:prstGeom>
          <a:solidFill>
            <a:srgbClr val="82BBA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94847" y="3550421"/>
            <a:ext cx="54864" cy="54864"/>
          </a:xfrm>
          <a:prstGeom prst="ellipse">
            <a:avLst/>
          </a:prstGeom>
          <a:solidFill>
            <a:srgbClr val="82BBA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081971" y="2977838"/>
            <a:ext cx="91440" cy="91440"/>
          </a:xfrm>
          <a:prstGeom prst="ellipse">
            <a:avLst/>
          </a:prstGeom>
          <a:solidFill>
            <a:srgbClr val="E3A35A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776312" y="2385898"/>
            <a:ext cx="54864" cy="54864"/>
          </a:xfrm>
          <a:prstGeom prst="ellipse">
            <a:avLst/>
          </a:prstGeom>
          <a:solidFill>
            <a:srgbClr val="82BBAD">
              <a:alpha val="8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226327" y="3118332"/>
            <a:ext cx="73152" cy="73152"/>
          </a:xfrm>
          <a:prstGeom prst="ellipse">
            <a:avLst/>
          </a:prstGeom>
          <a:solidFill>
            <a:srgbClr val="82BBAD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675857" y="1837655"/>
            <a:ext cx="54864" cy="54864"/>
          </a:xfrm>
          <a:prstGeom prst="ellipse">
            <a:avLst/>
          </a:prstGeom>
          <a:solidFill>
            <a:srgbClr val="F4CD96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0652073" y="1861556"/>
            <a:ext cx="73152" cy="73152"/>
          </a:xfrm>
          <a:prstGeom prst="ellipse">
            <a:avLst/>
          </a:prstGeom>
          <a:solidFill>
            <a:srgbClr val="E3A35A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350687" y="4167737"/>
            <a:ext cx="73152" cy="73152"/>
          </a:xfrm>
          <a:prstGeom prst="ellipse">
            <a:avLst/>
          </a:prstGeom>
          <a:solidFill>
            <a:srgbClr val="F4CD96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230281" y="4173136"/>
            <a:ext cx="146304" cy="146304"/>
          </a:xfrm>
          <a:prstGeom prst="ellipse">
            <a:avLst/>
          </a:prstGeom>
          <a:solidFill>
            <a:srgbClr val="E3A35A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790561" y="5976636"/>
            <a:ext cx="146304" cy="146304"/>
          </a:xfrm>
          <a:prstGeom prst="ellipse">
            <a:avLst/>
          </a:prstGeom>
          <a:solidFill>
            <a:srgbClr val="7F776B">
              <a:alpha val="56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718893" y="1399826"/>
            <a:ext cx="146304" cy="146304"/>
          </a:xfrm>
          <a:prstGeom prst="ellipse">
            <a:avLst/>
          </a:prstGeom>
          <a:solidFill>
            <a:srgbClr val="82BBAD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309044" y="2013237"/>
            <a:ext cx="54864" cy="54864"/>
          </a:xfrm>
          <a:prstGeom prst="ellipse">
            <a:avLst/>
          </a:prstGeom>
          <a:solidFill>
            <a:srgbClr val="E3A35A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244208" y="888226"/>
            <a:ext cx="54864" cy="54864"/>
          </a:xfrm>
          <a:prstGeom prst="ellipse">
            <a:avLst/>
          </a:prstGeom>
          <a:solidFill>
            <a:srgbClr val="7F776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609375" y="1024544"/>
            <a:ext cx="54864" cy="54864"/>
          </a:xfrm>
          <a:prstGeom prst="ellipse">
            <a:avLst/>
          </a:prstGeom>
          <a:solidFill>
            <a:srgbClr val="7F776B">
              <a:alpha val="5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770515" y="6014247"/>
            <a:ext cx="109728" cy="109728"/>
          </a:xfrm>
          <a:prstGeom prst="ellipse">
            <a:avLst/>
          </a:prstGeom>
          <a:solidFill>
            <a:srgbClr val="82BBAD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501460" y="3501787"/>
            <a:ext cx="91440" cy="91440"/>
          </a:xfrm>
          <a:prstGeom prst="ellipse">
            <a:avLst/>
          </a:prstGeom>
          <a:solidFill>
            <a:srgbClr val="82BBAD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381262" y="1429122"/>
            <a:ext cx="73152" cy="73152"/>
          </a:xfrm>
          <a:prstGeom prst="ellipse">
            <a:avLst/>
          </a:prstGeom>
          <a:solidFill>
            <a:srgbClr val="82BBAD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050968" y="3672572"/>
            <a:ext cx="54864" cy="54864"/>
          </a:xfrm>
          <a:prstGeom prst="ellipse">
            <a:avLst/>
          </a:prstGeom>
          <a:solidFill>
            <a:srgbClr val="7F77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014805" y="5791315"/>
            <a:ext cx="109728" cy="109728"/>
          </a:xfrm>
          <a:prstGeom prst="ellipse">
            <a:avLst/>
          </a:prstGeom>
          <a:solidFill>
            <a:srgbClr val="82BBAD">
              <a:alpha val="8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793541" y="4633777"/>
            <a:ext cx="73152" cy="73152"/>
          </a:xfrm>
          <a:prstGeom prst="ellipse">
            <a:avLst/>
          </a:prstGeom>
          <a:solidFill>
            <a:srgbClr val="7F776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719183" y="5024110"/>
            <a:ext cx="109728" cy="109728"/>
          </a:xfrm>
          <a:prstGeom prst="ellipse">
            <a:avLst/>
          </a:prstGeom>
          <a:solidFill>
            <a:srgbClr val="7F776B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460387" y="2090268"/>
            <a:ext cx="54864" cy="54864"/>
          </a:xfrm>
          <a:prstGeom prst="ellipse">
            <a:avLst/>
          </a:prstGeom>
          <a:solidFill>
            <a:srgbClr val="F4CD96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0233407" y="2082786"/>
            <a:ext cx="109728" cy="109728"/>
          </a:xfrm>
          <a:prstGeom prst="ellipse">
            <a:avLst/>
          </a:prstGeom>
          <a:solidFill>
            <a:srgbClr val="82BBA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131501" y="1028543"/>
            <a:ext cx="73152" cy="73152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0034721" y="6029040"/>
            <a:ext cx="91440" cy="91440"/>
          </a:xfrm>
          <a:prstGeom prst="ellipse">
            <a:avLst/>
          </a:prstGeom>
          <a:solidFill>
            <a:srgbClr val="82BBAD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613878" y="2076353"/>
            <a:ext cx="54864" cy="54864"/>
          </a:xfrm>
          <a:prstGeom prst="ellipse">
            <a:avLst/>
          </a:prstGeom>
          <a:solidFill>
            <a:srgbClr val="82BBAD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883035" y="4226349"/>
            <a:ext cx="109728" cy="109728"/>
          </a:xfrm>
          <a:prstGeom prst="ellipse">
            <a:avLst/>
          </a:prstGeom>
          <a:solidFill>
            <a:srgbClr val="E3A35A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9879446" y="5201014"/>
            <a:ext cx="54864" cy="54864"/>
          </a:xfrm>
          <a:prstGeom prst="ellipse">
            <a:avLst/>
          </a:prstGeom>
          <a:solidFill>
            <a:srgbClr val="E3A35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0428781" y="4915657"/>
            <a:ext cx="91440" cy="91440"/>
          </a:xfrm>
          <a:prstGeom prst="ellipse">
            <a:avLst/>
          </a:prstGeom>
          <a:solidFill>
            <a:srgbClr val="F4CD96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9758515" y="1309260"/>
            <a:ext cx="146304" cy="146304"/>
          </a:xfrm>
          <a:prstGeom prst="ellipse">
            <a:avLst/>
          </a:prstGeom>
          <a:solidFill>
            <a:srgbClr val="82BBAD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10276112" y="1345103"/>
            <a:ext cx="54864" cy="54864"/>
          </a:xfrm>
          <a:prstGeom prst="ellipse">
            <a:avLst/>
          </a:prstGeom>
          <a:solidFill>
            <a:srgbClr val="F4CD9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7116075" y="4056088"/>
            <a:ext cx="91440" cy="91440"/>
          </a:xfrm>
          <a:prstGeom prst="ellipse">
            <a:avLst/>
          </a:prstGeom>
          <a:solidFill>
            <a:srgbClr val="F4CD96">
              <a:alpha val="6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619650" y="3436960"/>
            <a:ext cx="73152" cy="73152"/>
          </a:xfrm>
          <a:prstGeom prst="ellipse">
            <a:avLst/>
          </a:prstGeom>
          <a:solidFill>
            <a:srgbClr val="F4CD9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542631" y="918088"/>
            <a:ext cx="146304" cy="146304"/>
          </a:xfrm>
          <a:prstGeom prst="ellipse">
            <a:avLst/>
          </a:prstGeom>
          <a:solidFill>
            <a:srgbClr val="E3A35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11111239" y="3227352"/>
            <a:ext cx="54864" cy="54864"/>
          </a:xfrm>
          <a:prstGeom prst="ellipse">
            <a:avLst/>
          </a:prstGeom>
          <a:solidFill>
            <a:srgbClr val="F4CD96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7919932" y="3563284"/>
            <a:ext cx="109728" cy="109728"/>
          </a:xfrm>
          <a:prstGeom prst="ellipse">
            <a:avLst/>
          </a:prstGeom>
          <a:solidFill>
            <a:srgbClr val="82BBAD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806824" y="1548385"/>
            <a:ext cx="146304" cy="146304"/>
          </a:xfrm>
          <a:prstGeom prst="ellipse">
            <a:avLst/>
          </a:prstGeom>
          <a:solidFill>
            <a:srgbClr val="82BBA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893697" y="5256682"/>
            <a:ext cx="109728" cy="109728"/>
          </a:xfrm>
          <a:prstGeom prst="ellipse">
            <a:avLst/>
          </a:prstGeom>
          <a:solidFill>
            <a:srgbClr val="82BBA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10867836" y="1592430"/>
            <a:ext cx="54864" cy="54864"/>
          </a:xfrm>
          <a:prstGeom prst="ellipse">
            <a:avLst/>
          </a:prstGeom>
          <a:solidFill>
            <a:srgbClr val="7F776B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10816864" y="5048755"/>
            <a:ext cx="109728" cy="109728"/>
          </a:xfrm>
          <a:prstGeom prst="ellipse">
            <a:avLst/>
          </a:prstGeom>
          <a:solidFill>
            <a:srgbClr val="E3A35A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643517" y="1623240"/>
            <a:ext cx="109728" cy="109728"/>
          </a:xfrm>
          <a:prstGeom prst="ellipse">
            <a:avLst/>
          </a:prstGeom>
          <a:solidFill>
            <a:srgbClr val="E3A35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416790" y="3656006"/>
            <a:ext cx="109728" cy="109728"/>
          </a:xfrm>
          <a:prstGeom prst="ellipse">
            <a:avLst/>
          </a:prstGeom>
          <a:solidFill>
            <a:srgbClr val="82BBAD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68680" y="1234440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当每个专业人士都有分身，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经验第一次可以像产品一样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持续交付、授权和定价。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611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这就是经验经济。知君有机会成为它的基础设施。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8680" y="4471416"/>
            <a:ext cx="36576" cy="84124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69848" y="4434840"/>
            <a:ext cx="58338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再往前一步：经本人允许，你使用的其他 AI 也能读到你的分身，不必反复交代背景。知君成为个人上下文的入口。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发展路径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先让一个人被真正理解，再让他的经验走得更远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2331720"/>
            <a:ext cx="10454335" cy="0"/>
          </a:xfrm>
          <a:prstGeom prst="line">
            <a:avLst/>
          </a:prstGeom>
          <a:ln w="25400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86967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一个人 · 本体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真正懂你的知己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首批用户愿意长期使用；硬件与订阅开始产生收入</a:t>
            </a:r>
          </a:p>
        </p:txBody>
      </p:sp>
      <p:sp>
        <p:nvSpPr>
          <p:cNvPr id="10" name="Oval 9"/>
          <p:cNvSpPr/>
          <p:nvPr/>
        </p:nvSpPr>
        <p:spPr>
          <a:xfrm>
            <a:off x="3547872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F4CD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529584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03904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一个人 · 分身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经验被放大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3904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经验开始服务授权的人，跑通咨询分成</a:t>
            </a:r>
          </a:p>
        </p:txBody>
      </p:sp>
      <p:sp>
        <p:nvSpPr>
          <p:cNvPr id="15" name="Oval 14"/>
          <p:cNvSpPr/>
          <p:nvPr/>
        </p:nvSpPr>
        <p:spPr>
          <a:xfrm>
            <a:off x="6208776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190488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64808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一群人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AI 私董会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在半人马社群开出第一个 AI 私董会，验证网络效应</a:t>
            </a:r>
          </a:p>
        </p:txBody>
      </p:sp>
      <p:sp>
        <p:nvSpPr>
          <p:cNvPr id="20" name="Oval 19"/>
          <p:cNvSpPr/>
          <p:nvPr/>
        </p:nvSpPr>
        <p:spPr>
          <a:xfrm>
            <a:off x="8869680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851392" y="2697480"/>
            <a:ext cx="2450592" cy="25146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25712" y="2907792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一代人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2" y="320040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传承与组织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3767328"/>
            <a:ext cx="19476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25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进入家族传承与企业市场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7784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本体和分身都是核心。先本体、分身紧跟，是因为分身的价值来自本体的积累。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融资计划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本轮融资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10454335" cy="20116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7F77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325880" y="1828800"/>
            <a:ext cx="9539935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【待填：本轮金额、资金用途（研发 / 硬件 / 首批交付）、未来 12–18 个月的里程碑】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715000" y="1078992"/>
            <a:ext cx="768096" cy="438912"/>
          </a:xfrm>
          <a:custGeom>
            <a:avLst/>
            <a:gdLst/>
            <a:ahLst/>
            <a:cxnLst/>
            <a:rect l="l" t="t" r="r" b="b"/>
            <a:pathLst>
              <a:path w="768096" h="438912">
                <a:moveTo>
                  <a:pt x="384048" y="0"/>
                </a:moveTo>
                <a:lnTo>
                  <a:pt x="768096" y="219456"/>
                </a:lnTo>
                <a:lnTo>
                  <a:pt x="384048" y="438912"/>
                </a:lnTo>
                <a:lnTo>
                  <a:pt x="0" y="219456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715000" y="129844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0" y="0"/>
                </a:moveTo>
                <a:lnTo>
                  <a:pt x="384048" y="219456"/>
                </a:lnTo>
                <a:lnTo>
                  <a:pt x="384048" y="658368"/>
                </a:lnTo>
                <a:lnTo>
                  <a:pt x="0" y="438912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099048" y="129844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384048" y="0"/>
                </a:moveTo>
                <a:lnTo>
                  <a:pt x="0" y="219456"/>
                </a:lnTo>
                <a:lnTo>
                  <a:pt x="0" y="658368"/>
                </a:lnTo>
                <a:lnTo>
                  <a:pt x="384048" y="438912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423160"/>
            <a:ext cx="1045433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分身是你允许别人看到的你。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一个人 → 一群人 → 一代人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10454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让每个人的经验，成为自己持有、持续生长、可以分享的资产。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 · 半人马人工智能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